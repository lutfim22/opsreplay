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The store is open. A device goes offline.</a:t>
            </a:r>
          </a:p>
          <a:p/>
          <a:p>
            <a:r>
              <a:t>SPEAKER SCRIPT</a:t>
            </a:r>
          </a:p>
          <a:p>
            <a:r>
              <a:t>Imagine a store that is open when a connected device goes offline. The person investigating needs to know what happened beforehand: a power symptom, a connection problem, or a device issue? OpsReplay helps reconstruct that sequence.</a:t>
            </a:r>
          </a:p>
          <a:p/>
          <a:p>
            <a:r>
              <a:t>STUDY NOTES</a:t>
            </a:r>
          </a:p>
          <a:p>
            <a:r>
              <a:t>The retail setting is illustrative, with no connected customer hardware. Do not present firmware, commits or weather as a cause without an established relationship.</a:t>
            </a:r>
          </a:p>
          <a:p/>
          <a:p>
            <a:r>
              <a:t>Sources: S2: https://docs.pagerduty.com/ai-automation/aiops/recent-changes | S3: https://www.datadoghq.com/blog/bits-ai-sre/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The offline alert is only the last clue.</a:t>
            </a:r>
          </a:p>
          <a:p/>
          <a:p>
            <a:r>
              <a:t>SPEAKER SCRIPT</a:t>
            </a:r>
          </a:p>
          <a:p>
            <a:r>
              <a:t>The offline alert only shows the last known state. Here are two power readings before the device goes offline. We need the sequence, but events being close in time does not prove a cause. That is the investigation problem this prototype addresses.</a:t>
            </a:r>
          </a:p>
          <a:p/>
          <a:p>
            <a:r>
              <a:t>STUDY NOTES</a:t>
            </a:r>
          </a:p>
          <a:p>
            <a:r>
              <a:t>Power readings come from the original simulator fixture. The sequence is a fact about the simulated input; causation is unconfirmed.</a:t>
            </a:r>
          </a:p>
          <a:p/>
          <a:p>
            <a:r>
              <a:t>Sources: S2: https://docs.pagerduty.com/ai-automation/aiops/recent-changes | S3: https://www.datadoghq.com/blog/bits-ai-sre/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Useful approaches already exist.</a:t>
            </a:r>
          </a:p>
          <a:p/>
          <a:p>
            <a:r>
              <a:t>SPEAKER SCRIPT</a:t>
            </a:r>
          </a:p>
          <a:p>
            <a:r>
              <a:t>Records can be reviewed manually. PagerDuty adds recent-change context; Datadog offers AI-assisted investigation. OpsReplay explores a small workflow to replay device events and inspect the evidence behind an AI response. There is no competitive benchmark.</a:t>
            </a:r>
          </a:p>
          <a:p/>
          <a:p>
            <a:r>
              <a:t>STUDY NOTES</a:t>
            </a:r>
          </a:p>
          <a:p>
            <a:r>
              <a:t>The comparison uses vendor documentation [S2, S3], not hands-on tests, pricing analysis or evidence of superiority.</a:t>
            </a:r>
          </a:p>
          <a:p/>
          <a:p>
            <a:r>
              <a:t>Sources: S2: https://docs.pagerduty.com/ai-automation/aiops/recent-changes | S3: https://www.datadoghq.com/blog/bits-ai-sre/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OpsReplay turns events into an investigation.</a:t>
            </a:r>
          </a:p>
          <a:p/>
          <a:p>
            <a:r>
              <a:t>SPEAKER SCRIPT</a:t>
            </a:r>
          </a:p>
          <a:p>
            <a:r>
              <a:t>The verified path sends simulated IoT events into a Unified Timeline, filters them by Source and Severity, and investigates with Gemini. The response contains facts, hypotheses and Evidence chips. A GitHub adapter also exists, but software-to-device mapping is not implemented. GitHub does not explain this incident.</a:t>
            </a:r>
          </a:p>
          <a:p/>
          <a:p>
            <a:r>
              <a:t>STUDY NOTES</a:t>
            </a:r>
          </a:p>
          <a:p>
            <a:r>
              <a:t>GitHub reads public repository activity without device/deployment dependency mapping. It remains implemented in the app. This diagram shows the verified IoT subset and does not claim a new adapter is active.</a:t>
            </a:r>
          </a:p>
          <a:p/>
          <a:p>
            <a:r>
              <a:t>Sources: S2: https://docs.pagerduty.com/ai-automation/aiops/recent-changes | S3: https://www.datadoghq.com/blog/bits-ai-sre/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What the prototype implements.</a:t>
            </a:r>
          </a:p>
          <a:p/>
          <a:p>
            <a:r>
              <a:t>SPEAKER SCRIPT</a:t>
            </a:r>
          </a:p>
          <a:p>
            <a:r>
              <a:t>The prototype implements a simulator, GitHub adapter, timeline, Gemini adapter, validation and quota. Separate modules give new integrations a clear place to happen. GitHub is an additional capability, not a required explanation for every IoT scenario.</a:t>
            </a:r>
          </a:p>
          <a:p/>
          <a:p>
            <a:r>
              <a:t>STUDY NOTES</a:t>
            </a:r>
          </a:p>
          <a:p>
            <a:r>
              <a:t>The schema currently allows simulator, shelly and github providers, with powerW, voltageV, currentA and energyWh metrics. A shelly enum is not a physical adapter. A new public API requires implementation, contracts, provenance, validation, error handling and tests, not just a changed URL.</a:t>
            </a:r>
          </a:p>
          <a:p/>
          <a:p>
            <a:r>
              <a:t>Sources: S2: https://docs.pagerduty.com/ai-automation/aiops/recent-changes | S3: https://www.datadoghq.com/blog/bits-ai-sre/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Demo: replay one device going offline.</a:t>
            </a:r>
          </a:p>
          <a:p/>
          <a:p>
            <a:r>
              <a:t>SPEAKER SCRIPT</a:t>
            </a:r>
          </a:p>
          <a:p>
            <a:r>
              <a:t>The verified demo contains three simulated events: 1850 watts, 1720 watts, then offline. It uses Source IoT, Severity Critical and Demo Time Alignment OFF. There are no GitHub events in this request. This presentation uses saved evidence.</a:t>
            </a:r>
          </a:p>
          <a:p/>
          <a:p>
            <a:r>
              <a:t>STUDY NOTES</a:t>
            </a:r>
          </a:p>
          <a:p>
            <a:r>
              <a:t>Event IDs are sim-0021, sim-0022 and sim-0036, at 09:01:45, 09:01:50 and 09:03:00 UTC. Fixture date: 1 January 2025; device: sim-plug-01; 230 V on both readings. The Critical filter uses derived timeline severity; original power-event severity is info. Do not make another AI request.</a:t>
            </a:r>
          </a:p>
          <a:p/>
          <a:p>
            <a:r>
              <a:t>Sources: S2: https://docs.pagerduty.com/ai-automation/aiops/recent-changes | S3: https://www.datadoghq.com/blog/bits-ai-sre/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The saved AI result is inspectable.</a:t>
            </a:r>
          </a:p>
          <a:p/>
          <a:p>
            <a:r>
              <a:t>SPEAKER SCRIPT</a:t>
            </a:r>
          </a:p>
          <a:p>
            <a:r>
              <a:t>The original result contains facts and a possible device or connection issue, with low confidence. The root cause remains unconfirmed. Evidence IDs were checked against the input. The 1.623-second value measures the provider stage for one request, not an application benchmark.</a:t>
            </a:r>
          </a:p>
          <a:p/>
          <a:p>
            <a:r>
              <a:t>STUDY NOTES</a:t>
            </a:r>
          </a:p>
          <a:p>
            <a:r>
              <a:t>The gemini-3.5-flash-lite response was generated on 28 October 2026 at 01:11:40 UTC. Provider-stage log: HTTP 200, attempts 1, eventCount 3, durationMs 1623. Evidence-ID membership is not semantic truth validation. Only visible screenshot content was reviewed; it does not directly demonstrate Redis release.</a:t>
            </a:r>
          </a:p>
          <a:p/>
          <a:p>
            <a:r>
              <a:t>Sources: S2: https://docs.pagerduty.com/ai-automation/aiops/recent-changes | S3: https://www.datadoghq.com/blog/bits-ai-sre/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A prototype with visible boundaries.</a:t>
            </a:r>
          </a:p>
          <a:p/>
          <a:p>
            <a:r>
              <a:t>SPEAKER SCRIPT</a:t>
            </a:r>
          </a:p>
          <a:p>
            <a:r>
              <a:t>The verified path is simulated IoT and one successful AI request in protected Preview. Physical hardware and mapped external context remain future work. Broader public AI access also needs additional access and cost controls.</a:t>
            </a:r>
          </a:p>
          <a:p/>
          <a:p>
            <a:r>
              <a:t>STUDY NOTES</a:t>
            </a:r>
          </a:p>
          <a:p>
            <a:r>
              <a:t>Public Production AI remains OFF. Application accounts, persistent incident archives and automatic remediation are not implemented. No customer reliability or ROI is measured. Protected Preview uses deployment protection, not application authentication.</a:t>
            </a:r>
          </a:p>
          <a:p/>
          <a:p>
            <a:r>
              <a:t>Sources: S2: https://docs.pagerduty.com/ai-automation/aiops/recent-changes | S3: https://www.datadoghq.com/blog/bits-ai-sre/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Next: connect the right operational context.</a:t>
            </a:r>
          </a:p>
          <a:p/>
          <a:p>
            <a:r>
              <a:t>SPEAKER SCRIPT</a:t>
            </a:r>
          </a:p>
          <a:p>
            <a:r>
              <a:t>Next choose context that fits the incident. For an offline device, cloud-service status can help if the device depends on that service. Implement the adapter and dependency mapping, then evaluate replay cases. Real hardware and optional 3D can follow when useful.</a:t>
            </a:r>
          </a:p>
          <a:p/>
          <a:p>
            <a:r>
              <a:t>STUDY NOTES</a:t>
            </a:r>
          </a:p>
          <a:p>
            <a:r>
              <a:t>Particle Status API is the researched recommendation for an offline scenario, conditional on device-to-service/component mapping. The current simulator has no Particle dependency. Provider-reported status does not prove a device or local-network failure. ThingSpeak is better for actual IoT telemetry; Open-Meteo fits cooling/energy scenarios with suitable sensors and matching time/location. No new adapter is implemented in this documentation revision.</a:t>
            </a:r>
          </a:p>
          <a:p/>
          <a:p>
            <a:r>
              <a:t>Sources: S2: https://docs.pagerduty.com/ai-automation/aiops/recent-changes | S3: https://www.datadoghq.com/blog/bits-ai-sre/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167640"/>
          </a:xfrm>
          <a:prstGeom prst="rect">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7680" y="373380"/>
            <a:ext cx="69113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65738C"/>
                </a:solidFill>
                <a:latin typeface="DejaVu Sans"/>
              </a:defRPr>
            </a:pPr>
            <a:r>
              <a:t>OPSREPLAY / INCIDENT REPLAY</a:t>
            </a:r>
          </a:p>
        </p:txBody>
      </p:sp>
      <p:sp>
        <p:nvSpPr>
          <p:cNvPr id="5" name="TextBox 4"/>
          <p:cNvSpPr txBox="1"/>
          <p:nvPr/>
        </p:nvSpPr>
        <p:spPr>
          <a:xfrm>
            <a:off x="487680" y="853440"/>
            <a:ext cx="11254740" cy="541020"/>
          </a:xfrm>
          <a:prstGeom prst="rect">
            <a:avLst/>
          </a:prstGeom>
          <a:noFill/>
        </p:spPr>
        <p:txBody>
          <a:bodyPr wrap="none" lIns="0" rIns="0" tIns="0" bIns="0">
            <a:spAutoFit/>
          </a:bodyPr>
          <a:lstStyle/>
          <a:p>
            <a:pPr>
              <a:lnSpc>
                <a:spcPts val="3900"/>
              </a:lnSpc>
              <a:spcBef>
                <a:spcPts val="0"/>
              </a:spcBef>
              <a:spcAft>
                <a:spcPts val="0"/>
              </a:spcAft>
              <a:defRPr sz="3120" b="1">
                <a:solidFill>
                  <a:srgbClr val="14213B"/>
                </a:solidFill>
                <a:latin typeface="DejaVu Sans"/>
              </a:defRPr>
            </a:pPr>
            <a:r>
              <a:t>The store is open. A device goes offline.</a:t>
            </a:r>
          </a:p>
        </p:txBody>
      </p:sp>
      <p:sp>
        <p:nvSpPr>
          <p:cNvPr id="6" name="TextBox 5"/>
          <p:cNvSpPr txBox="1"/>
          <p:nvPr/>
        </p:nvSpPr>
        <p:spPr>
          <a:xfrm>
            <a:off x="502920" y="1394460"/>
            <a:ext cx="11102340" cy="274320"/>
          </a:xfrm>
          <a:prstGeom prst="rect">
            <a:avLst/>
          </a:prstGeom>
          <a:noFill/>
        </p:spPr>
        <p:txBody>
          <a:bodyPr wrap="none" lIns="0" rIns="0" tIns="0" bIns="0">
            <a:spAutoFit/>
          </a:bodyPr>
          <a:lstStyle/>
          <a:p>
            <a:pPr>
              <a:lnSpc>
                <a:spcPts val="1800"/>
              </a:lnSpc>
              <a:spcBef>
                <a:spcPts val="0"/>
              </a:spcBef>
              <a:spcAft>
                <a:spcPts val="0"/>
              </a:spcAft>
              <a:defRPr sz="1439" b="0">
                <a:solidFill>
                  <a:srgbClr val="65738C"/>
                </a:solidFill>
                <a:latin typeface="DejaVu Sans"/>
              </a:defRPr>
            </a:pPr>
            <a:r>
              <a:t>An illustrative scenario for a small retail business</a:t>
            </a:r>
          </a:p>
        </p:txBody>
      </p:sp>
      <p:cxnSp>
        <p:nvCxnSpPr>
          <p:cNvPr id="7" name="Connector 6"/>
          <p:cNvCxnSpPr/>
          <p:nvPr/>
        </p:nvCxnSpPr>
        <p:spPr>
          <a:xfrm>
            <a:off x="487680" y="6217920"/>
            <a:ext cx="11216640" cy="0"/>
          </a:xfrm>
          <a:prstGeom prst="line">
            <a:avLst/>
          </a:prstGeom>
          <a:ln w="15240">
            <a:solidFill>
              <a:srgbClr val="DCE1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87680" y="6385560"/>
            <a:ext cx="8435340" cy="226695"/>
          </a:xfrm>
          <a:prstGeom prst="rect">
            <a:avLst/>
          </a:prstGeom>
          <a:noFill/>
        </p:spPr>
        <p:txBody>
          <a:bodyPr wrap="none" lIns="0" rIns="0" tIns="0" bIns="0">
            <a:spAutoFit/>
          </a:bodyPr>
          <a:lstStyle/>
          <a:p>
            <a:pPr>
              <a:lnSpc>
                <a:spcPts val="1425"/>
              </a:lnSpc>
              <a:spcBef>
                <a:spcPts val="0"/>
              </a:spcBef>
              <a:spcAft>
                <a:spcPts val="0"/>
              </a:spcAft>
              <a:defRPr sz="1140" b="0">
                <a:solidFill>
                  <a:srgbClr val="65738C"/>
                </a:solidFill>
                <a:latin typeface="DejaVu Sans"/>
              </a:defRPr>
            </a:pPr>
            <a:r>
              <a:t>SIMULATED IoT · Replay · Evidence</a:t>
            </a:r>
          </a:p>
        </p:txBody>
      </p:sp>
      <p:sp>
        <p:nvSpPr>
          <p:cNvPr id="9" name="TextBox 8"/>
          <p:cNvSpPr txBox="1"/>
          <p:nvPr/>
        </p:nvSpPr>
        <p:spPr>
          <a:xfrm>
            <a:off x="10515600" y="6370320"/>
            <a:ext cx="1272540" cy="255270"/>
          </a:xfrm>
          <a:prstGeom prst="rect">
            <a:avLst/>
          </a:prstGeom>
          <a:noFill/>
        </p:spPr>
        <p:txBody>
          <a:bodyPr wrap="none" lIns="0" rIns="0" tIns="0" bIns="0">
            <a:spAutoFit/>
          </a:bodyPr>
          <a:lstStyle/>
          <a:p>
            <a:pPr>
              <a:lnSpc>
                <a:spcPts val="1650"/>
              </a:lnSpc>
              <a:spcBef>
                <a:spcPts val="0"/>
              </a:spcBef>
              <a:spcAft>
                <a:spcPts val="0"/>
              </a:spcAft>
              <a:defRPr sz="1320" b="1">
                <a:solidFill>
                  <a:srgbClr val="7051E8"/>
                </a:solidFill>
                <a:latin typeface="DejaVu Sans"/>
              </a:defRPr>
            </a:pPr>
            <a:r>
              <a:t>01 / 09</a:t>
            </a:r>
          </a:p>
        </p:txBody>
      </p:sp>
      <p:sp>
        <p:nvSpPr>
          <p:cNvPr id="10" name="Rounded Rectangle 9"/>
          <p:cNvSpPr/>
          <p:nvPr/>
        </p:nvSpPr>
        <p:spPr>
          <a:xfrm>
            <a:off x="487680" y="1859280"/>
            <a:ext cx="7162800" cy="4038600"/>
          </a:xfrm>
          <a:prstGeom prst="roundRect">
            <a:avLst>
              <a:gd name="adj" fmla="val 415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1028700" y="3543300"/>
            <a:ext cx="5676900" cy="2438400"/>
          </a:xfrm>
          <a:custGeom>
            <a:avLst/>
            <a:gdLst/>
            <a:ahLst/>
            <a:cxnLst/>
            <a:rect l="l" t="t" r="r" b="b"/>
            <a:pathLst>
              <a:path w="745" h="320">
                <a:moveTo>
                  <a:pt x="0" y="140"/>
                </a:moveTo>
                <a:lnTo>
                  <a:pt x="420" y="0"/>
                </a:lnTo>
                <a:lnTo>
                  <a:pt x="745" y="162"/>
                </a:lnTo>
                <a:lnTo>
                  <a:pt x="320" y="320"/>
                </a:lnTo>
                <a:close/>
              </a:path>
            </a:pathLst>
          </a:custGeom>
          <a:solidFill>
            <a:srgbClr val="DBD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1668780" y="2430780"/>
            <a:ext cx="2430780" cy="2987040"/>
          </a:xfrm>
          <a:custGeom>
            <a:avLst/>
            <a:gdLst/>
            <a:ahLst/>
            <a:cxnLst/>
            <a:rect l="l" t="t" r="r" b="b"/>
            <a:pathLst>
              <a:path w="319" h="392">
                <a:moveTo>
                  <a:pt x="0" y="95"/>
                </a:moveTo>
                <a:lnTo>
                  <a:pt x="319" y="0"/>
                </a:lnTo>
                <a:lnTo>
                  <a:pt x="319" y="288"/>
                </a:lnTo>
                <a:lnTo>
                  <a:pt x="0" y="392"/>
                </a:lnTo>
                <a:close/>
              </a:path>
            </a:pathLst>
          </a:custGeom>
          <a:solidFill>
            <a:srgbClr val="D5C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4099560" y="2430780"/>
            <a:ext cx="1965960" cy="3162300"/>
          </a:xfrm>
          <a:custGeom>
            <a:avLst/>
            <a:gdLst/>
            <a:ahLst/>
            <a:cxnLst/>
            <a:rect l="l" t="t" r="r" b="b"/>
            <a:pathLst>
              <a:path w="258" h="415">
                <a:moveTo>
                  <a:pt x="0" y="0"/>
                </a:moveTo>
                <a:lnTo>
                  <a:pt x="258" y="127"/>
                </a:lnTo>
                <a:lnTo>
                  <a:pt x="258" y="415"/>
                </a:lnTo>
                <a:lnTo>
                  <a:pt x="0" y="288"/>
                </a:lnTo>
                <a:close/>
              </a:path>
            </a:pathLst>
          </a:custGeom>
          <a:solidFill>
            <a:srgbClr val="B5A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1501140" y="2278380"/>
            <a:ext cx="4777740" cy="1905000"/>
          </a:xfrm>
          <a:custGeom>
            <a:avLst/>
            <a:gdLst/>
            <a:ahLst/>
            <a:cxnLst/>
            <a:rect l="l" t="t" r="r" b="b"/>
            <a:pathLst>
              <a:path w="627" h="250">
                <a:moveTo>
                  <a:pt x="0" y="106"/>
                </a:moveTo>
                <a:lnTo>
                  <a:pt x="336" y="0"/>
                </a:lnTo>
                <a:lnTo>
                  <a:pt x="627" y="140"/>
                </a:lnTo>
                <a:lnTo>
                  <a:pt x="291" y="250"/>
                </a:lnTo>
                <a:close/>
              </a:path>
            </a:pathLst>
          </a:custGeom>
          <a:solidFill>
            <a:srgbClr val="FDF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1501140" y="3086100"/>
            <a:ext cx="2217420" cy="1379220"/>
          </a:xfrm>
          <a:custGeom>
            <a:avLst/>
            <a:gdLst/>
            <a:ahLst/>
            <a:cxnLst/>
            <a:rect l="l" t="t" r="r" b="b"/>
            <a:pathLst>
              <a:path w="291" h="181">
                <a:moveTo>
                  <a:pt x="0" y="0"/>
                </a:moveTo>
                <a:lnTo>
                  <a:pt x="291" y="144"/>
                </a:lnTo>
                <a:lnTo>
                  <a:pt x="291" y="181"/>
                </a:lnTo>
                <a:lnTo>
                  <a:pt x="0" y="37"/>
                </a:lnTo>
                <a:close/>
              </a:path>
            </a:pathLst>
          </a:custGeom>
          <a:solidFill>
            <a:srgbClr val="8D7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3718560" y="3345180"/>
            <a:ext cx="2560320" cy="1120140"/>
          </a:xfrm>
          <a:custGeom>
            <a:avLst/>
            <a:gdLst/>
            <a:ahLst/>
            <a:cxnLst/>
            <a:rect l="l" t="t" r="r" b="b"/>
            <a:pathLst>
              <a:path w="336" h="147">
                <a:moveTo>
                  <a:pt x="0" y="110"/>
                </a:moveTo>
                <a:lnTo>
                  <a:pt x="336" y="0"/>
                </a:lnTo>
                <a:lnTo>
                  <a:pt x="336" y="36"/>
                </a:lnTo>
                <a:lnTo>
                  <a:pt x="0" y="147"/>
                </a:lnTo>
                <a:close/>
              </a:path>
            </a:pathLst>
          </a:custGeom>
          <a:solidFill>
            <a:srgbClr val="7257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1882140" y="3855720"/>
            <a:ext cx="1516380" cy="1272540"/>
          </a:xfrm>
          <a:custGeom>
            <a:avLst/>
            <a:gdLst/>
            <a:ahLst/>
            <a:cxnLst/>
            <a:rect l="l" t="t" r="r" b="b"/>
            <a:pathLst>
              <a:path w="199" h="167">
                <a:moveTo>
                  <a:pt x="0" y="0"/>
                </a:moveTo>
                <a:lnTo>
                  <a:pt x="199" y="65"/>
                </a:lnTo>
                <a:lnTo>
                  <a:pt x="199" y="167"/>
                </a:lnTo>
                <a:lnTo>
                  <a:pt x="0" y="103"/>
                </a:lnTo>
                <a:close/>
              </a:path>
            </a:pathLst>
          </a:custGeom>
          <a:solidFill>
            <a:srgbClr val="2634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4328160" y="3550920"/>
            <a:ext cx="1424940" cy="1600200"/>
          </a:xfrm>
          <a:custGeom>
            <a:avLst/>
            <a:gdLst/>
            <a:ahLst/>
            <a:cxnLst/>
            <a:rect l="l" t="t" r="r" b="b"/>
            <a:pathLst>
              <a:path w="187" h="210">
                <a:moveTo>
                  <a:pt x="0" y="0"/>
                </a:moveTo>
                <a:lnTo>
                  <a:pt x="187" y="91"/>
                </a:lnTo>
                <a:lnTo>
                  <a:pt x="187" y="210"/>
                </a:lnTo>
                <a:lnTo>
                  <a:pt x="0" y="120"/>
                </a:lnTo>
                <a:close/>
              </a:path>
            </a:pathLst>
          </a:custGeom>
          <a:solidFill>
            <a:srgbClr val="F8F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882140" y="3535680"/>
            <a:ext cx="312420" cy="358140"/>
          </a:xfrm>
          <a:custGeom>
            <a:avLst/>
            <a:gdLst/>
            <a:ahLst/>
            <a:cxnLst/>
            <a:rect l="l" t="t" r="r" b="b"/>
            <a:pathLst>
              <a:path w="41" h="47">
                <a:moveTo>
                  <a:pt x="0" y="0"/>
                </a:moveTo>
                <a:lnTo>
                  <a:pt x="41" y="12"/>
                </a:lnTo>
                <a:lnTo>
                  <a:pt x="41" y="47"/>
                </a:lnTo>
                <a:lnTo>
                  <a:pt x="0" y="34"/>
                </a:lnTo>
                <a:close/>
              </a:path>
            </a:pathLst>
          </a:custGeom>
          <a:solidFill>
            <a:srgbClr val="F3E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2194560" y="3627120"/>
            <a:ext cx="320040" cy="358140"/>
          </a:xfrm>
          <a:custGeom>
            <a:avLst/>
            <a:gdLst/>
            <a:ahLst/>
            <a:cxnLst/>
            <a:rect l="l" t="t" r="r" b="b"/>
            <a:pathLst>
              <a:path w="42" h="47">
                <a:moveTo>
                  <a:pt x="0" y="0"/>
                </a:moveTo>
                <a:lnTo>
                  <a:pt x="42" y="12"/>
                </a:lnTo>
                <a:lnTo>
                  <a:pt x="42" y="47"/>
                </a:lnTo>
                <a:lnTo>
                  <a:pt x="0" y="35"/>
                </a:lnTo>
                <a:close/>
              </a:path>
            </a:pathLst>
          </a:custGeom>
          <a:solidFill>
            <a:srgbClr val="B8A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2514600" y="3726180"/>
            <a:ext cx="312420" cy="358140"/>
          </a:xfrm>
          <a:custGeom>
            <a:avLst/>
            <a:gdLst/>
            <a:ahLst/>
            <a:cxnLst/>
            <a:rect l="l" t="t" r="r" b="b"/>
            <a:pathLst>
              <a:path w="41" h="47">
                <a:moveTo>
                  <a:pt x="0" y="0"/>
                </a:moveTo>
                <a:lnTo>
                  <a:pt x="41" y="12"/>
                </a:lnTo>
                <a:lnTo>
                  <a:pt x="41" y="47"/>
                </a:lnTo>
                <a:lnTo>
                  <a:pt x="0" y="34"/>
                </a:lnTo>
                <a:close/>
              </a:path>
            </a:pathLst>
          </a:custGeom>
          <a:solidFill>
            <a:srgbClr val="F3E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2827020" y="3817620"/>
            <a:ext cx="320040" cy="358140"/>
          </a:xfrm>
          <a:custGeom>
            <a:avLst/>
            <a:gdLst/>
            <a:ahLst/>
            <a:cxnLst/>
            <a:rect l="l" t="t" r="r" b="b"/>
            <a:pathLst>
              <a:path w="42" h="47">
                <a:moveTo>
                  <a:pt x="0" y="0"/>
                </a:moveTo>
                <a:lnTo>
                  <a:pt x="42" y="12"/>
                </a:lnTo>
                <a:lnTo>
                  <a:pt x="42" y="47"/>
                </a:lnTo>
                <a:lnTo>
                  <a:pt x="0" y="35"/>
                </a:lnTo>
                <a:close/>
              </a:path>
            </a:pathLst>
          </a:custGeom>
          <a:solidFill>
            <a:srgbClr val="B8A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4343400" y="3360420"/>
            <a:ext cx="1607820" cy="883920"/>
          </a:xfrm>
          <a:custGeom>
            <a:avLst/>
            <a:gdLst/>
            <a:ahLst/>
            <a:cxnLst/>
            <a:rect l="l" t="t" r="r" b="b"/>
            <a:pathLst>
              <a:path w="211" h="116">
                <a:moveTo>
                  <a:pt x="0" y="26"/>
                </a:moveTo>
                <a:lnTo>
                  <a:pt x="185" y="116"/>
                </a:lnTo>
                <a:lnTo>
                  <a:pt x="211" y="91"/>
                </a:lnTo>
                <a:lnTo>
                  <a:pt x="25" y="0"/>
                </a:lnTo>
                <a:close/>
              </a:path>
            </a:pathLst>
          </a:custGeom>
          <a:solidFill>
            <a:srgbClr val="F1C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561941" y="3900220"/>
            <a:ext cx="648614" cy="443788"/>
          </a:xfrm>
          <a:prstGeom prst="roundRect">
            <a:avLst>
              <a:gd name="adj" fmla="val 10302"/>
            </a:avLst>
          </a:prstGeom>
          <a:solidFill>
            <a:srgbClr val="1421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056936" y="3959961"/>
            <a:ext cx="102412" cy="102412"/>
          </a:xfrm>
          <a:prstGeom prst="ellipse">
            <a:avLst/>
          </a:prstGeom>
          <a:solidFill>
            <a:srgbClr val="E3A5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4877714" y="4344009"/>
            <a:ext cx="0" cy="247498"/>
          </a:xfrm>
          <a:prstGeom prst="line">
            <a:avLst/>
          </a:prstGeom>
          <a:ln w="42672">
            <a:solidFill>
              <a:srgbClr val="14213B"/>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971592" y="4693920"/>
            <a:ext cx="375513" cy="546201"/>
          </a:xfrm>
          <a:prstGeom prst="roundRect">
            <a:avLst>
              <a:gd name="adj" fmla="val 14204"/>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16677" y="4804867"/>
            <a:ext cx="85344" cy="85344"/>
          </a:xfrm>
          <a:prstGeom prst="ellipse">
            <a:avLst/>
          </a:prstGeom>
          <a:solidFill>
            <a:srgbClr val="B643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135880" y="2118360"/>
            <a:ext cx="1943100" cy="335280"/>
          </a:xfrm>
          <a:prstGeom prst="roundRect">
            <a:avLst>
              <a:gd name="adj" fmla="val 25000"/>
            </a:avLst>
          </a:prstGeom>
          <a:solidFill>
            <a:srgbClr val="FFF0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73040" y="2179320"/>
            <a:ext cx="17678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AE6515"/>
                </a:solidFill>
                <a:latin typeface="DejaVu Sans"/>
              </a:defRPr>
            </a:pPr>
            <a:r>
              <a:t>DEVICE OFFLINE</a:t>
            </a:r>
          </a:p>
        </p:txBody>
      </p:sp>
      <p:cxnSp>
        <p:nvCxnSpPr>
          <p:cNvPr id="31" name="Connector 30"/>
          <p:cNvCxnSpPr/>
          <p:nvPr/>
        </p:nvCxnSpPr>
        <p:spPr>
          <a:xfrm flipH="1">
            <a:off x="5257800" y="2453640"/>
            <a:ext cx="137160" cy="1356360"/>
          </a:xfrm>
          <a:prstGeom prst="line">
            <a:avLst/>
          </a:prstGeom>
          <a:ln w="22859">
            <a:solidFill>
              <a:srgbClr val="AE6515"/>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848600" y="1859280"/>
            <a:ext cx="3855720" cy="4038600"/>
          </a:xfrm>
          <a:prstGeom prst="roundRect">
            <a:avLst>
              <a:gd name="adj" fmla="val 4347"/>
            </a:avLst>
          </a:prstGeom>
          <a:solidFill>
            <a:srgbClr val="1421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53399" y="2133600"/>
            <a:ext cx="3223260" cy="426720"/>
          </a:xfrm>
          <a:prstGeom prst="rect">
            <a:avLst/>
          </a:prstGeom>
          <a:noFill/>
        </p:spPr>
        <p:txBody>
          <a:bodyPr wrap="none" lIns="0" rIns="0" tIns="0" bIns="0">
            <a:spAutoFit/>
          </a:bodyPr>
          <a:lstStyle/>
          <a:p>
            <a:pPr>
              <a:lnSpc>
                <a:spcPts val="3000"/>
              </a:lnSpc>
              <a:spcBef>
                <a:spcPts val="0"/>
              </a:spcBef>
              <a:spcAft>
                <a:spcPts val="0"/>
              </a:spcAft>
              <a:defRPr sz="2400" b="1">
                <a:solidFill>
                  <a:srgbClr val="FFFFFF"/>
                </a:solidFill>
                <a:latin typeface="DejaVu Sans"/>
              </a:defRPr>
            </a:pPr>
            <a:r>
              <a:t>Where do I start?</a:t>
            </a:r>
          </a:p>
        </p:txBody>
      </p:sp>
      <p:sp>
        <p:nvSpPr>
          <p:cNvPr id="34" name="Oval 33"/>
          <p:cNvSpPr/>
          <p:nvPr/>
        </p:nvSpPr>
        <p:spPr>
          <a:xfrm>
            <a:off x="8221980" y="3268980"/>
            <a:ext cx="304800" cy="304800"/>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63940" y="3284220"/>
            <a:ext cx="2682240" cy="369570"/>
          </a:xfrm>
          <a:prstGeom prst="rect">
            <a:avLst/>
          </a:prstGeom>
          <a:noFill/>
        </p:spPr>
        <p:txBody>
          <a:bodyPr wrap="none" lIns="0" rIns="0" tIns="0" bIns="0">
            <a:spAutoFit/>
          </a:bodyPr>
          <a:lstStyle/>
          <a:p>
            <a:pPr>
              <a:lnSpc>
                <a:spcPts val="2550"/>
              </a:lnSpc>
              <a:spcBef>
                <a:spcPts val="0"/>
              </a:spcBef>
              <a:spcAft>
                <a:spcPts val="0"/>
              </a:spcAft>
              <a:defRPr sz="2039" b="1">
                <a:solidFill>
                  <a:srgbClr val="FFFFFF"/>
                </a:solidFill>
                <a:latin typeface="DejaVu Sans"/>
              </a:defRPr>
            </a:pPr>
            <a:r>
              <a:t>Power?</a:t>
            </a:r>
          </a:p>
        </p:txBody>
      </p:sp>
      <p:sp>
        <p:nvSpPr>
          <p:cNvPr id="36" name="Oval 35"/>
          <p:cNvSpPr/>
          <p:nvPr/>
        </p:nvSpPr>
        <p:spPr>
          <a:xfrm>
            <a:off x="8221980" y="4030980"/>
            <a:ext cx="304800" cy="304800"/>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63940" y="4046220"/>
            <a:ext cx="2682240" cy="369570"/>
          </a:xfrm>
          <a:prstGeom prst="rect">
            <a:avLst/>
          </a:prstGeom>
          <a:noFill/>
        </p:spPr>
        <p:txBody>
          <a:bodyPr wrap="none" lIns="0" rIns="0" tIns="0" bIns="0">
            <a:spAutoFit/>
          </a:bodyPr>
          <a:lstStyle/>
          <a:p>
            <a:pPr>
              <a:lnSpc>
                <a:spcPts val="2550"/>
              </a:lnSpc>
              <a:spcBef>
                <a:spcPts val="0"/>
              </a:spcBef>
              <a:spcAft>
                <a:spcPts val="0"/>
              </a:spcAft>
              <a:defRPr sz="2039" b="1">
                <a:solidFill>
                  <a:srgbClr val="FFFFFF"/>
                </a:solidFill>
                <a:latin typeface="DejaVu Sans"/>
              </a:defRPr>
            </a:pPr>
            <a:r>
              <a:t>Connection?</a:t>
            </a:r>
          </a:p>
        </p:txBody>
      </p:sp>
      <p:sp>
        <p:nvSpPr>
          <p:cNvPr id="38" name="Oval 37"/>
          <p:cNvSpPr/>
          <p:nvPr/>
        </p:nvSpPr>
        <p:spPr>
          <a:xfrm>
            <a:off x="8221980" y="4792980"/>
            <a:ext cx="304800" cy="304800"/>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63940" y="4808220"/>
            <a:ext cx="2682240" cy="369570"/>
          </a:xfrm>
          <a:prstGeom prst="rect">
            <a:avLst/>
          </a:prstGeom>
          <a:noFill/>
        </p:spPr>
        <p:txBody>
          <a:bodyPr wrap="none" lIns="0" rIns="0" tIns="0" bIns="0">
            <a:spAutoFit/>
          </a:bodyPr>
          <a:lstStyle/>
          <a:p>
            <a:pPr>
              <a:lnSpc>
                <a:spcPts val="2550"/>
              </a:lnSpc>
              <a:spcBef>
                <a:spcPts val="0"/>
              </a:spcBef>
              <a:spcAft>
                <a:spcPts val="0"/>
              </a:spcAft>
              <a:defRPr sz="2039" b="1">
                <a:solidFill>
                  <a:srgbClr val="FFFFFF"/>
                </a:solidFill>
                <a:latin typeface="DejaVu Sans"/>
              </a:defRPr>
            </a:pPr>
            <a:r>
              <a:t>Device?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167640"/>
          </a:xfrm>
          <a:prstGeom prst="rect">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7680" y="373380"/>
            <a:ext cx="69113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65738C"/>
                </a:solidFill>
                <a:latin typeface="DejaVu Sans"/>
              </a:defRPr>
            </a:pPr>
            <a:r>
              <a:t>OPSREPLAY / INCIDENT REPLAY</a:t>
            </a:r>
          </a:p>
        </p:txBody>
      </p:sp>
      <p:sp>
        <p:nvSpPr>
          <p:cNvPr id="5" name="TextBox 4"/>
          <p:cNvSpPr txBox="1"/>
          <p:nvPr/>
        </p:nvSpPr>
        <p:spPr>
          <a:xfrm>
            <a:off x="487680" y="853440"/>
            <a:ext cx="11254740" cy="541020"/>
          </a:xfrm>
          <a:prstGeom prst="rect">
            <a:avLst/>
          </a:prstGeom>
          <a:noFill/>
        </p:spPr>
        <p:txBody>
          <a:bodyPr wrap="none" lIns="0" rIns="0" tIns="0" bIns="0">
            <a:spAutoFit/>
          </a:bodyPr>
          <a:lstStyle/>
          <a:p>
            <a:pPr>
              <a:lnSpc>
                <a:spcPts val="3900"/>
              </a:lnSpc>
              <a:spcBef>
                <a:spcPts val="0"/>
              </a:spcBef>
              <a:spcAft>
                <a:spcPts val="0"/>
              </a:spcAft>
              <a:defRPr sz="3120" b="1">
                <a:solidFill>
                  <a:srgbClr val="14213B"/>
                </a:solidFill>
                <a:latin typeface="DejaVu Sans"/>
              </a:defRPr>
            </a:pPr>
            <a:r>
              <a:t>The offline alert is only the last clue.</a:t>
            </a:r>
          </a:p>
        </p:txBody>
      </p:sp>
      <p:sp>
        <p:nvSpPr>
          <p:cNvPr id="6" name="TextBox 5"/>
          <p:cNvSpPr txBox="1"/>
          <p:nvPr/>
        </p:nvSpPr>
        <p:spPr>
          <a:xfrm>
            <a:off x="502920" y="1394460"/>
            <a:ext cx="11102340" cy="274320"/>
          </a:xfrm>
          <a:prstGeom prst="rect">
            <a:avLst/>
          </a:prstGeom>
          <a:noFill/>
        </p:spPr>
        <p:txBody>
          <a:bodyPr wrap="none" lIns="0" rIns="0" tIns="0" bIns="0">
            <a:spAutoFit/>
          </a:bodyPr>
          <a:lstStyle/>
          <a:p>
            <a:pPr>
              <a:lnSpc>
                <a:spcPts val="1800"/>
              </a:lnSpc>
              <a:spcBef>
                <a:spcPts val="0"/>
              </a:spcBef>
              <a:spcAft>
                <a:spcPts val="0"/>
              </a:spcAft>
              <a:defRPr sz="1439" b="0">
                <a:solidFill>
                  <a:srgbClr val="65738C"/>
                </a:solidFill>
                <a:latin typeface="DejaVu Sans"/>
              </a:defRPr>
            </a:pPr>
            <a:r>
              <a:t>Reconstruct the sequence before deciding what to check.</a:t>
            </a:r>
          </a:p>
        </p:txBody>
      </p:sp>
      <p:cxnSp>
        <p:nvCxnSpPr>
          <p:cNvPr id="7" name="Connector 6"/>
          <p:cNvCxnSpPr/>
          <p:nvPr/>
        </p:nvCxnSpPr>
        <p:spPr>
          <a:xfrm>
            <a:off x="487680" y="6217920"/>
            <a:ext cx="11216640" cy="0"/>
          </a:xfrm>
          <a:prstGeom prst="line">
            <a:avLst/>
          </a:prstGeom>
          <a:ln w="15240">
            <a:solidFill>
              <a:srgbClr val="DCE1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87680" y="6385560"/>
            <a:ext cx="8435340" cy="226695"/>
          </a:xfrm>
          <a:prstGeom prst="rect">
            <a:avLst/>
          </a:prstGeom>
          <a:noFill/>
        </p:spPr>
        <p:txBody>
          <a:bodyPr wrap="none" lIns="0" rIns="0" tIns="0" bIns="0">
            <a:spAutoFit/>
          </a:bodyPr>
          <a:lstStyle/>
          <a:p>
            <a:pPr>
              <a:lnSpc>
                <a:spcPts val="1425"/>
              </a:lnSpc>
              <a:spcBef>
                <a:spcPts val="0"/>
              </a:spcBef>
              <a:spcAft>
                <a:spcPts val="0"/>
              </a:spcAft>
              <a:defRPr sz="1140" b="0">
                <a:solidFill>
                  <a:srgbClr val="65738C"/>
                </a:solidFill>
                <a:latin typeface="DejaVu Sans"/>
              </a:defRPr>
            </a:pPr>
            <a:r>
              <a:t>SIMULATED IoT · Replay · Evidence</a:t>
            </a:r>
          </a:p>
        </p:txBody>
      </p:sp>
      <p:sp>
        <p:nvSpPr>
          <p:cNvPr id="9" name="TextBox 8"/>
          <p:cNvSpPr txBox="1"/>
          <p:nvPr/>
        </p:nvSpPr>
        <p:spPr>
          <a:xfrm>
            <a:off x="10515600" y="6370320"/>
            <a:ext cx="1272540" cy="255270"/>
          </a:xfrm>
          <a:prstGeom prst="rect">
            <a:avLst/>
          </a:prstGeom>
          <a:noFill/>
        </p:spPr>
        <p:txBody>
          <a:bodyPr wrap="none" lIns="0" rIns="0" tIns="0" bIns="0">
            <a:spAutoFit/>
          </a:bodyPr>
          <a:lstStyle/>
          <a:p>
            <a:pPr>
              <a:lnSpc>
                <a:spcPts val="1650"/>
              </a:lnSpc>
              <a:spcBef>
                <a:spcPts val="0"/>
              </a:spcBef>
              <a:spcAft>
                <a:spcPts val="0"/>
              </a:spcAft>
              <a:defRPr sz="1320" b="1">
                <a:solidFill>
                  <a:srgbClr val="7051E8"/>
                </a:solidFill>
                <a:latin typeface="DejaVu Sans"/>
              </a:defRPr>
            </a:pPr>
            <a:r>
              <a:t>02 / 09</a:t>
            </a:r>
          </a:p>
        </p:txBody>
      </p:sp>
      <p:sp>
        <p:nvSpPr>
          <p:cNvPr id="10" name="Rounded Rectangle 9"/>
          <p:cNvSpPr/>
          <p:nvPr/>
        </p:nvSpPr>
        <p:spPr>
          <a:xfrm>
            <a:off x="487680" y="1905000"/>
            <a:ext cx="4762500" cy="3162300"/>
          </a:xfrm>
          <a:prstGeom prst="roundRect">
            <a:avLst>
              <a:gd name="adj" fmla="val 5301"/>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33600"/>
            <a:ext cx="0" cy="59436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784860" y="2171700"/>
            <a:ext cx="106680" cy="106680"/>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75360" y="2225040"/>
            <a:ext cx="3505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784860" y="2369820"/>
            <a:ext cx="106680" cy="106680"/>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75360" y="2423160"/>
            <a:ext cx="3505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84860" y="2583180"/>
            <a:ext cx="106680" cy="106680"/>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75360" y="2636520"/>
            <a:ext cx="3505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592580" y="2255520"/>
            <a:ext cx="3406140" cy="369570"/>
          </a:xfrm>
          <a:prstGeom prst="rect">
            <a:avLst/>
          </a:prstGeom>
          <a:noFill/>
        </p:spPr>
        <p:txBody>
          <a:bodyPr wrap="none" lIns="0" rIns="0" tIns="0" bIns="0">
            <a:spAutoFit/>
          </a:bodyPr>
          <a:lstStyle/>
          <a:p>
            <a:pPr>
              <a:lnSpc>
                <a:spcPts val="2550"/>
              </a:lnSpc>
              <a:spcBef>
                <a:spcPts val="0"/>
              </a:spcBef>
              <a:spcAft>
                <a:spcPts val="0"/>
              </a:spcAft>
              <a:defRPr sz="2039" b="1">
                <a:solidFill>
                  <a:srgbClr val="14213B"/>
                </a:solidFill>
                <a:latin typeface="DejaVu Sans"/>
              </a:defRPr>
            </a:pPr>
            <a:r>
              <a:t>Before the alert</a:t>
            </a:r>
          </a:p>
        </p:txBody>
      </p:sp>
      <p:sp>
        <p:nvSpPr>
          <p:cNvPr id="19" name="Rounded Rectangle 18"/>
          <p:cNvSpPr/>
          <p:nvPr/>
        </p:nvSpPr>
        <p:spPr>
          <a:xfrm>
            <a:off x="716280" y="3017520"/>
            <a:ext cx="4305300" cy="449580"/>
          </a:xfrm>
          <a:prstGeom prst="roundRect">
            <a:avLst>
              <a:gd name="adj" fmla="val 20338"/>
            </a:avLst>
          </a:prstGeom>
          <a:solidFill>
            <a:srgbClr val="DD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108960"/>
            <a:ext cx="4015740" cy="312420"/>
          </a:xfrm>
          <a:prstGeom prst="rect">
            <a:avLst/>
          </a:prstGeom>
          <a:noFill/>
        </p:spPr>
        <p:txBody>
          <a:bodyPr wrap="none" lIns="0" rIns="0" tIns="0" bIns="0">
            <a:spAutoFit/>
          </a:bodyPr>
          <a:lstStyle/>
          <a:p>
            <a:pPr>
              <a:lnSpc>
                <a:spcPts val="2100"/>
              </a:lnSpc>
              <a:spcBef>
                <a:spcPts val="0"/>
              </a:spcBef>
              <a:spcAft>
                <a:spcPts val="0"/>
              </a:spcAft>
              <a:defRPr sz="1680" b="0">
                <a:solidFill>
                  <a:srgbClr val="21314A"/>
                </a:solidFill>
                <a:latin typeface="DejaVu Sans"/>
              </a:defRPr>
            </a:pPr>
            <a:r>
              <a:t>09:01:45 1850 W</a:t>
            </a:r>
          </a:p>
        </p:txBody>
      </p:sp>
      <p:sp>
        <p:nvSpPr>
          <p:cNvPr id="21" name="Rounded Rectangle 20"/>
          <p:cNvSpPr/>
          <p:nvPr/>
        </p:nvSpPr>
        <p:spPr>
          <a:xfrm>
            <a:off x="716280" y="3589020"/>
            <a:ext cx="4305300" cy="449580"/>
          </a:xfrm>
          <a:prstGeom prst="roundRect">
            <a:avLst>
              <a:gd name="adj" fmla="val 20338"/>
            </a:avLst>
          </a:prstGeom>
          <a:solidFill>
            <a:srgbClr val="DD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3680460"/>
            <a:ext cx="4015740" cy="312420"/>
          </a:xfrm>
          <a:prstGeom prst="rect">
            <a:avLst/>
          </a:prstGeom>
          <a:noFill/>
        </p:spPr>
        <p:txBody>
          <a:bodyPr wrap="none" lIns="0" rIns="0" tIns="0" bIns="0">
            <a:spAutoFit/>
          </a:bodyPr>
          <a:lstStyle/>
          <a:p>
            <a:pPr>
              <a:lnSpc>
                <a:spcPts val="2100"/>
              </a:lnSpc>
              <a:spcBef>
                <a:spcPts val="0"/>
              </a:spcBef>
              <a:spcAft>
                <a:spcPts val="0"/>
              </a:spcAft>
              <a:defRPr sz="1680" b="0">
                <a:solidFill>
                  <a:srgbClr val="21314A"/>
                </a:solidFill>
                <a:latin typeface="DejaVu Sans"/>
              </a:defRPr>
            </a:pPr>
            <a:r>
              <a:t>09:01:50 1720 W</a:t>
            </a:r>
          </a:p>
        </p:txBody>
      </p:sp>
      <p:sp>
        <p:nvSpPr>
          <p:cNvPr id="23" name="Rounded Rectangle 22"/>
          <p:cNvSpPr/>
          <p:nvPr/>
        </p:nvSpPr>
        <p:spPr>
          <a:xfrm>
            <a:off x="716280" y="4160520"/>
            <a:ext cx="4305300" cy="449580"/>
          </a:xfrm>
          <a:prstGeom prst="roundRect">
            <a:avLst>
              <a:gd name="adj" fmla="val 20338"/>
            </a:avLst>
          </a:prstGeom>
          <a:solidFill>
            <a:srgbClr val="DD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251960"/>
            <a:ext cx="4015740" cy="312420"/>
          </a:xfrm>
          <a:prstGeom prst="rect">
            <a:avLst/>
          </a:prstGeom>
          <a:noFill/>
        </p:spPr>
        <p:txBody>
          <a:bodyPr wrap="none" lIns="0" rIns="0" tIns="0" bIns="0">
            <a:spAutoFit/>
          </a:bodyPr>
          <a:lstStyle/>
          <a:p>
            <a:pPr>
              <a:lnSpc>
                <a:spcPts val="2100"/>
              </a:lnSpc>
              <a:spcBef>
                <a:spcPts val="0"/>
              </a:spcBef>
              <a:spcAft>
                <a:spcPts val="0"/>
              </a:spcAft>
              <a:defRPr sz="1680" b="0">
                <a:solidFill>
                  <a:srgbClr val="21314A"/>
                </a:solidFill>
                <a:latin typeface="DejaVu Sans"/>
              </a:defRPr>
            </a:pPr>
            <a:r>
              <a:t>Device: sim-plug-01</a:t>
            </a:r>
          </a:p>
        </p:txBody>
      </p:sp>
      <p:sp>
        <p:nvSpPr>
          <p:cNvPr id="25" name="Rounded Rectangle 24"/>
          <p:cNvSpPr/>
          <p:nvPr/>
        </p:nvSpPr>
        <p:spPr>
          <a:xfrm>
            <a:off x="6941820" y="1905000"/>
            <a:ext cx="4762500" cy="3162300"/>
          </a:xfrm>
          <a:prstGeom prst="roundRect">
            <a:avLst>
              <a:gd name="adj" fmla="val 5301"/>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185660" y="2133600"/>
            <a:ext cx="640080" cy="426720"/>
          </a:xfrm>
          <a:prstGeom prst="roundRect">
            <a:avLst>
              <a:gd name="adj" fmla="val 14285"/>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7505700" y="2560320"/>
            <a:ext cx="0" cy="12192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22820" y="2682240"/>
            <a:ext cx="36576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330440" y="2331720"/>
            <a:ext cx="11430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444740" y="2232660"/>
            <a:ext cx="68580" cy="9906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3320" y="2232660"/>
            <a:ext cx="83820" cy="20574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597140" y="2324100"/>
            <a:ext cx="99059" cy="11430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046720" y="2255520"/>
            <a:ext cx="3406140" cy="369570"/>
          </a:xfrm>
          <a:prstGeom prst="rect">
            <a:avLst/>
          </a:prstGeom>
          <a:noFill/>
        </p:spPr>
        <p:txBody>
          <a:bodyPr wrap="none" lIns="0" rIns="0" tIns="0" bIns="0">
            <a:spAutoFit/>
          </a:bodyPr>
          <a:lstStyle/>
          <a:p>
            <a:pPr>
              <a:lnSpc>
                <a:spcPts val="2550"/>
              </a:lnSpc>
              <a:spcBef>
                <a:spcPts val="0"/>
              </a:spcBef>
              <a:spcAft>
                <a:spcPts val="0"/>
              </a:spcAft>
              <a:defRPr sz="2039" b="1">
                <a:solidFill>
                  <a:srgbClr val="14213B"/>
                </a:solidFill>
                <a:latin typeface="DejaVu Sans"/>
              </a:defRPr>
            </a:pPr>
            <a:r>
              <a:t>The latest alert</a:t>
            </a:r>
          </a:p>
        </p:txBody>
      </p:sp>
      <p:sp>
        <p:nvSpPr>
          <p:cNvPr id="34" name="Rounded Rectangle 33"/>
          <p:cNvSpPr/>
          <p:nvPr/>
        </p:nvSpPr>
        <p:spPr>
          <a:xfrm>
            <a:off x="7170420" y="3017520"/>
            <a:ext cx="4305300" cy="449580"/>
          </a:xfrm>
          <a:prstGeom prst="roundRect">
            <a:avLst>
              <a:gd name="adj" fmla="val 20338"/>
            </a:avLst>
          </a:prstGeom>
          <a:solidFill>
            <a:srgbClr val="FFF0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22820" y="3108960"/>
            <a:ext cx="4015740" cy="312420"/>
          </a:xfrm>
          <a:prstGeom prst="rect">
            <a:avLst/>
          </a:prstGeom>
          <a:noFill/>
        </p:spPr>
        <p:txBody>
          <a:bodyPr wrap="none" lIns="0" rIns="0" tIns="0" bIns="0">
            <a:spAutoFit/>
          </a:bodyPr>
          <a:lstStyle/>
          <a:p>
            <a:pPr>
              <a:lnSpc>
                <a:spcPts val="2100"/>
              </a:lnSpc>
              <a:spcBef>
                <a:spcPts val="0"/>
              </a:spcBef>
              <a:spcAft>
                <a:spcPts val="0"/>
              </a:spcAft>
              <a:defRPr sz="1680" b="0">
                <a:solidFill>
                  <a:srgbClr val="21314A"/>
                </a:solidFill>
                <a:latin typeface="DejaVu Sans"/>
              </a:defRPr>
            </a:pPr>
            <a:r>
              <a:t>09:03:00 offline</a:t>
            </a:r>
          </a:p>
        </p:txBody>
      </p:sp>
      <p:sp>
        <p:nvSpPr>
          <p:cNvPr id="36" name="Rounded Rectangle 35"/>
          <p:cNvSpPr/>
          <p:nvPr/>
        </p:nvSpPr>
        <p:spPr>
          <a:xfrm>
            <a:off x="7170420" y="3589020"/>
            <a:ext cx="4305300" cy="449580"/>
          </a:xfrm>
          <a:prstGeom prst="roundRect">
            <a:avLst>
              <a:gd name="adj" fmla="val 20338"/>
            </a:avLst>
          </a:prstGeom>
          <a:solidFill>
            <a:srgbClr val="FFF0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22820" y="3680460"/>
            <a:ext cx="4015740" cy="312420"/>
          </a:xfrm>
          <a:prstGeom prst="rect">
            <a:avLst/>
          </a:prstGeom>
          <a:noFill/>
        </p:spPr>
        <p:txBody>
          <a:bodyPr wrap="none" lIns="0" rIns="0" tIns="0" bIns="0">
            <a:spAutoFit/>
          </a:bodyPr>
          <a:lstStyle/>
          <a:p>
            <a:pPr>
              <a:lnSpc>
                <a:spcPts val="2100"/>
              </a:lnSpc>
              <a:spcBef>
                <a:spcPts val="0"/>
              </a:spcBef>
              <a:spcAft>
                <a:spcPts val="0"/>
              </a:spcAft>
              <a:defRPr sz="1680" b="0">
                <a:solidFill>
                  <a:srgbClr val="21314A"/>
                </a:solidFill>
                <a:latin typeface="DejaVu Sans"/>
              </a:defRPr>
            </a:pPr>
            <a:r>
              <a:t>Cause: unconfirmed</a:t>
            </a:r>
          </a:p>
        </p:txBody>
      </p:sp>
      <p:sp>
        <p:nvSpPr>
          <p:cNvPr id="38" name="Rounded Rectangle 37"/>
          <p:cNvSpPr/>
          <p:nvPr/>
        </p:nvSpPr>
        <p:spPr>
          <a:xfrm>
            <a:off x="7170420" y="4160520"/>
            <a:ext cx="4305300" cy="449580"/>
          </a:xfrm>
          <a:prstGeom prst="roundRect">
            <a:avLst>
              <a:gd name="adj" fmla="val 20338"/>
            </a:avLst>
          </a:prstGeom>
          <a:solidFill>
            <a:srgbClr val="FFF0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22820" y="4251960"/>
            <a:ext cx="4015740" cy="312420"/>
          </a:xfrm>
          <a:prstGeom prst="rect">
            <a:avLst/>
          </a:prstGeom>
          <a:noFill/>
        </p:spPr>
        <p:txBody>
          <a:bodyPr wrap="none" lIns="0" rIns="0" tIns="0" bIns="0">
            <a:spAutoFit/>
          </a:bodyPr>
          <a:lstStyle/>
          <a:p>
            <a:pPr>
              <a:lnSpc>
                <a:spcPts val="2100"/>
              </a:lnSpc>
              <a:spcBef>
                <a:spcPts val="0"/>
              </a:spcBef>
              <a:spcAft>
                <a:spcPts val="0"/>
              </a:spcAft>
              <a:defRPr sz="1680" b="0">
                <a:solidFill>
                  <a:srgbClr val="21314A"/>
                </a:solidFill>
                <a:latin typeface="DejaVu Sans"/>
              </a:defRPr>
            </a:pPr>
            <a:r>
              <a:t>What evidence is missing?</a:t>
            </a:r>
          </a:p>
        </p:txBody>
      </p:sp>
      <p:sp>
        <p:nvSpPr>
          <p:cNvPr id="40" name="Oval 39"/>
          <p:cNvSpPr/>
          <p:nvPr/>
        </p:nvSpPr>
        <p:spPr>
          <a:xfrm>
            <a:off x="5532120" y="2865120"/>
            <a:ext cx="1127760" cy="1127760"/>
          </a:xfrm>
          <a:prstGeom prst="ellipse">
            <a:avLst/>
          </a:prstGeom>
          <a:solidFill>
            <a:srgbClr val="1421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97880" y="3025140"/>
            <a:ext cx="739140" cy="788670"/>
          </a:xfrm>
          <a:prstGeom prst="rect">
            <a:avLst/>
          </a:prstGeom>
          <a:noFill/>
        </p:spPr>
        <p:txBody>
          <a:bodyPr wrap="none" lIns="0" rIns="0" tIns="0" bIns="0">
            <a:spAutoFit/>
          </a:bodyPr>
          <a:lstStyle/>
          <a:p>
            <a:pPr>
              <a:lnSpc>
                <a:spcPts val="5850"/>
              </a:lnSpc>
              <a:spcBef>
                <a:spcPts val="0"/>
              </a:spcBef>
              <a:spcAft>
                <a:spcPts val="0"/>
              </a:spcAft>
              <a:defRPr sz="4680" b="1">
                <a:solidFill>
                  <a:srgbClr val="FFFFFF"/>
                </a:solidFill>
                <a:latin typeface="DejaVu Sans"/>
              </a:defRPr>
            </a:pPr>
            <a:r>
              <a:t>?</a:t>
            </a:r>
          </a:p>
        </p:txBody>
      </p:sp>
      <p:cxnSp>
        <p:nvCxnSpPr>
          <p:cNvPr id="42" name="Connector 41"/>
          <p:cNvCxnSpPr/>
          <p:nvPr/>
        </p:nvCxnSpPr>
        <p:spPr>
          <a:xfrm>
            <a:off x="5394960" y="3429000"/>
            <a:ext cx="121920" cy="0"/>
          </a:xfrm>
          <a:prstGeom prst="line">
            <a:avLst/>
          </a:prstGeom>
          <a:ln w="3810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675120" y="3429000"/>
            <a:ext cx="121920" cy="0"/>
          </a:xfrm>
          <a:prstGeom prst="line">
            <a:avLst/>
          </a:prstGeom>
          <a:ln w="38100">
            <a:solidFill>
              <a:srgbClr val="7051E8"/>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487680" y="5257800"/>
            <a:ext cx="11216640" cy="647700"/>
          </a:xfrm>
          <a:prstGeom prst="roundRect">
            <a:avLst>
              <a:gd name="adj" fmla="val 25000"/>
            </a:avLst>
          </a:prstGeom>
          <a:solidFill>
            <a:srgbClr val="1421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1040" y="5440680"/>
            <a:ext cx="10835640" cy="321945"/>
          </a:xfrm>
          <a:prstGeom prst="rect">
            <a:avLst/>
          </a:prstGeom>
          <a:noFill/>
        </p:spPr>
        <p:txBody>
          <a:bodyPr wrap="none" lIns="0" rIns="0" tIns="0" bIns="0">
            <a:spAutoFit/>
          </a:bodyPr>
          <a:lstStyle/>
          <a:p>
            <a:pPr>
              <a:lnSpc>
                <a:spcPts val="2175"/>
              </a:lnSpc>
              <a:spcBef>
                <a:spcPts val="0"/>
              </a:spcBef>
              <a:spcAft>
                <a:spcPts val="0"/>
              </a:spcAft>
              <a:defRPr sz="1739" b="1">
                <a:solidFill>
                  <a:srgbClr val="FFFFFF"/>
                </a:solidFill>
                <a:latin typeface="DejaVu Sans"/>
              </a:defRPr>
            </a:pPr>
            <a:r>
              <a:t>An event sequence helps investigation. Timing alone does not prove the cause.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167640"/>
          </a:xfrm>
          <a:prstGeom prst="rect">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7680" y="373380"/>
            <a:ext cx="69113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65738C"/>
                </a:solidFill>
                <a:latin typeface="DejaVu Sans"/>
              </a:defRPr>
            </a:pPr>
            <a:r>
              <a:t>OPSREPLAY / INCIDENT REPLAY</a:t>
            </a:r>
          </a:p>
        </p:txBody>
      </p:sp>
      <p:sp>
        <p:nvSpPr>
          <p:cNvPr id="5" name="TextBox 4"/>
          <p:cNvSpPr txBox="1"/>
          <p:nvPr/>
        </p:nvSpPr>
        <p:spPr>
          <a:xfrm>
            <a:off x="487680" y="853440"/>
            <a:ext cx="11254740" cy="541020"/>
          </a:xfrm>
          <a:prstGeom prst="rect">
            <a:avLst/>
          </a:prstGeom>
          <a:noFill/>
        </p:spPr>
        <p:txBody>
          <a:bodyPr wrap="none" lIns="0" rIns="0" tIns="0" bIns="0">
            <a:spAutoFit/>
          </a:bodyPr>
          <a:lstStyle/>
          <a:p>
            <a:pPr>
              <a:lnSpc>
                <a:spcPts val="3900"/>
              </a:lnSpc>
              <a:spcBef>
                <a:spcPts val="0"/>
              </a:spcBef>
              <a:spcAft>
                <a:spcPts val="0"/>
              </a:spcAft>
              <a:defRPr sz="3120" b="1">
                <a:solidFill>
                  <a:srgbClr val="14213B"/>
                </a:solidFill>
                <a:latin typeface="DejaVu Sans"/>
              </a:defRPr>
            </a:pPr>
            <a:r>
              <a:t>Useful approaches already exist.</a:t>
            </a:r>
          </a:p>
        </p:txBody>
      </p:sp>
      <p:sp>
        <p:nvSpPr>
          <p:cNvPr id="6" name="TextBox 5"/>
          <p:cNvSpPr txBox="1"/>
          <p:nvPr/>
        </p:nvSpPr>
        <p:spPr>
          <a:xfrm>
            <a:off x="502920" y="1394460"/>
            <a:ext cx="11102340" cy="274320"/>
          </a:xfrm>
          <a:prstGeom prst="rect">
            <a:avLst/>
          </a:prstGeom>
          <a:noFill/>
        </p:spPr>
        <p:txBody>
          <a:bodyPr wrap="none" lIns="0" rIns="0" tIns="0" bIns="0">
            <a:spAutoFit/>
          </a:bodyPr>
          <a:lstStyle/>
          <a:p>
            <a:pPr>
              <a:lnSpc>
                <a:spcPts val="1800"/>
              </a:lnSpc>
              <a:spcBef>
                <a:spcPts val="0"/>
              </a:spcBef>
              <a:spcAft>
                <a:spcPts val="0"/>
              </a:spcAft>
              <a:defRPr sz="1439" b="0">
                <a:solidFill>
                  <a:srgbClr val="65738C"/>
                </a:solidFill>
                <a:latin typeface="DejaVu Sans"/>
              </a:defRPr>
            </a:pPr>
            <a:r>
              <a:t>A documentation-based comparison — not a performance benchmark.</a:t>
            </a:r>
          </a:p>
        </p:txBody>
      </p:sp>
      <p:cxnSp>
        <p:nvCxnSpPr>
          <p:cNvPr id="7" name="Connector 6"/>
          <p:cNvCxnSpPr/>
          <p:nvPr/>
        </p:nvCxnSpPr>
        <p:spPr>
          <a:xfrm>
            <a:off x="487680" y="6217920"/>
            <a:ext cx="11216640" cy="0"/>
          </a:xfrm>
          <a:prstGeom prst="line">
            <a:avLst/>
          </a:prstGeom>
          <a:ln w="15240">
            <a:solidFill>
              <a:srgbClr val="DCE1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87680" y="6385560"/>
            <a:ext cx="8435340" cy="226695"/>
          </a:xfrm>
          <a:prstGeom prst="rect">
            <a:avLst/>
          </a:prstGeom>
          <a:noFill/>
        </p:spPr>
        <p:txBody>
          <a:bodyPr wrap="none" lIns="0" rIns="0" tIns="0" bIns="0">
            <a:spAutoFit/>
          </a:bodyPr>
          <a:lstStyle/>
          <a:p>
            <a:pPr>
              <a:lnSpc>
                <a:spcPts val="1425"/>
              </a:lnSpc>
              <a:spcBef>
                <a:spcPts val="0"/>
              </a:spcBef>
              <a:spcAft>
                <a:spcPts val="0"/>
              </a:spcAft>
              <a:defRPr sz="1140" b="0">
                <a:solidFill>
                  <a:srgbClr val="65738C"/>
                </a:solidFill>
                <a:latin typeface="DejaVu Sans"/>
              </a:defRPr>
            </a:pPr>
            <a:r>
              <a:t>SIMULATED IoT · Replay · Evidence</a:t>
            </a:r>
          </a:p>
        </p:txBody>
      </p:sp>
      <p:sp>
        <p:nvSpPr>
          <p:cNvPr id="9" name="TextBox 8"/>
          <p:cNvSpPr txBox="1"/>
          <p:nvPr/>
        </p:nvSpPr>
        <p:spPr>
          <a:xfrm>
            <a:off x="10515600" y="6370320"/>
            <a:ext cx="1272540" cy="255270"/>
          </a:xfrm>
          <a:prstGeom prst="rect">
            <a:avLst/>
          </a:prstGeom>
          <a:noFill/>
        </p:spPr>
        <p:txBody>
          <a:bodyPr wrap="none" lIns="0" rIns="0" tIns="0" bIns="0">
            <a:spAutoFit/>
          </a:bodyPr>
          <a:lstStyle/>
          <a:p>
            <a:pPr>
              <a:lnSpc>
                <a:spcPts val="1650"/>
              </a:lnSpc>
              <a:spcBef>
                <a:spcPts val="0"/>
              </a:spcBef>
              <a:spcAft>
                <a:spcPts val="0"/>
              </a:spcAft>
              <a:defRPr sz="1320" b="1">
                <a:solidFill>
                  <a:srgbClr val="7051E8"/>
                </a:solidFill>
                <a:latin typeface="DejaVu Sans"/>
              </a:defRPr>
            </a:pPr>
            <a:r>
              <a:t>03 / 09</a:t>
            </a:r>
          </a:p>
        </p:txBody>
      </p:sp>
      <p:sp>
        <p:nvSpPr>
          <p:cNvPr id="10" name="Rounded Rectangle 9"/>
          <p:cNvSpPr/>
          <p:nvPr/>
        </p:nvSpPr>
        <p:spPr>
          <a:xfrm>
            <a:off x="487680" y="1905000"/>
            <a:ext cx="3566160" cy="3246120"/>
          </a:xfrm>
          <a:prstGeom prst="roundRect">
            <a:avLst>
              <a:gd name="adj" fmla="val 5164"/>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1040" y="2110740"/>
            <a:ext cx="1356360" cy="335280"/>
          </a:xfrm>
          <a:prstGeom prst="roundRect">
            <a:avLst>
              <a:gd name="adj" fmla="val 25000"/>
            </a:avLst>
          </a:prstGeom>
          <a:solidFill>
            <a:srgbClr val="E9E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200" y="2171700"/>
            <a:ext cx="118110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7051E8"/>
                </a:solidFill>
                <a:latin typeface="DejaVu Sans"/>
              </a:defRPr>
            </a:pPr>
            <a:r>
              <a:t>01</a:t>
            </a:r>
          </a:p>
        </p:txBody>
      </p:sp>
      <p:sp>
        <p:nvSpPr>
          <p:cNvPr id="13" name="Oval 12"/>
          <p:cNvSpPr/>
          <p:nvPr/>
        </p:nvSpPr>
        <p:spPr>
          <a:xfrm>
            <a:off x="766571" y="2754249"/>
            <a:ext cx="455675" cy="455675"/>
          </a:xfrm>
          <a:prstGeom prst="ellipse">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160907" y="3157347"/>
            <a:ext cx="236600" cy="236601"/>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16280" y="3581400"/>
            <a:ext cx="3177540" cy="398145"/>
          </a:xfrm>
          <a:prstGeom prst="rect">
            <a:avLst/>
          </a:prstGeom>
          <a:noFill/>
        </p:spPr>
        <p:txBody>
          <a:bodyPr wrap="none" lIns="0" rIns="0" tIns="0" bIns="0">
            <a:spAutoFit/>
          </a:bodyPr>
          <a:lstStyle/>
          <a:p>
            <a:pPr>
              <a:lnSpc>
                <a:spcPts val="2775"/>
              </a:lnSpc>
              <a:spcBef>
                <a:spcPts val="0"/>
              </a:spcBef>
              <a:spcAft>
                <a:spcPts val="0"/>
              </a:spcAft>
              <a:defRPr sz="2220" b="1">
                <a:solidFill>
                  <a:srgbClr val="14213B"/>
                </a:solidFill>
                <a:latin typeface="DejaVu Sans"/>
              </a:defRPr>
            </a:pPr>
            <a:r>
              <a:t>Manual review</a:t>
            </a:r>
          </a:p>
        </p:txBody>
      </p:sp>
      <p:sp>
        <p:nvSpPr>
          <p:cNvPr id="16" name="TextBox 15"/>
          <p:cNvSpPr txBox="1"/>
          <p:nvPr/>
        </p:nvSpPr>
        <p:spPr>
          <a:xfrm>
            <a:off x="716280" y="4076699"/>
            <a:ext cx="3177540" cy="321945"/>
          </a:xfrm>
          <a:prstGeom prst="rect">
            <a:avLst/>
          </a:prstGeom>
          <a:noFill/>
        </p:spPr>
        <p:txBody>
          <a:bodyPr wrap="none" lIns="0" rIns="0" tIns="0" bIns="0">
            <a:spAutoFit/>
          </a:bodyPr>
          <a:lstStyle/>
          <a:p>
            <a:pPr>
              <a:lnSpc>
                <a:spcPts val="2175"/>
              </a:lnSpc>
              <a:spcBef>
                <a:spcPts val="0"/>
              </a:spcBef>
              <a:spcAft>
                <a:spcPts val="0"/>
              </a:spcAft>
              <a:defRPr sz="1739" b="0">
                <a:solidFill>
                  <a:srgbClr val="21314A"/>
                </a:solidFill>
                <a:latin typeface="DejaVu Sans"/>
              </a:defRPr>
            </a:pPr>
            <a:r>
              <a:t>Open each source</a:t>
            </a:r>
          </a:p>
        </p:txBody>
      </p:sp>
      <p:sp>
        <p:nvSpPr>
          <p:cNvPr id="17" name="TextBox 16"/>
          <p:cNvSpPr txBox="1"/>
          <p:nvPr/>
        </p:nvSpPr>
        <p:spPr>
          <a:xfrm>
            <a:off x="716280" y="4495800"/>
            <a:ext cx="3177540" cy="283845"/>
          </a:xfrm>
          <a:prstGeom prst="rect">
            <a:avLst/>
          </a:prstGeom>
          <a:noFill/>
        </p:spPr>
        <p:txBody>
          <a:bodyPr wrap="none" lIns="0" rIns="0" tIns="0" bIns="0">
            <a:spAutoFit/>
          </a:bodyPr>
          <a:lstStyle/>
          <a:p>
            <a:pPr>
              <a:lnSpc>
                <a:spcPts val="1875"/>
              </a:lnSpc>
              <a:spcBef>
                <a:spcPts val="0"/>
              </a:spcBef>
              <a:spcAft>
                <a:spcPts val="0"/>
              </a:spcAft>
              <a:defRPr sz="1500" b="0">
                <a:solidFill>
                  <a:srgbClr val="65738C"/>
                </a:solidFill>
                <a:latin typeface="DejaVu Sans"/>
              </a:defRPr>
            </a:pPr>
            <a:r>
              <a:t>Build the sequence</a:t>
            </a:r>
          </a:p>
        </p:txBody>
      </p:sp>
      <p:sp>
        <p:nvSpPr>
          <p:cNvPr id="18" name="Rounded Rectangle 17"/>
          <p:cNvSpPr/>
          <p:nvPr/>
        </p:nvSpPr>
        <p:spPr>
          <a:xfrm>
            <a:off x="4312920" y="1905000"/>
            <a:ext cx="3566160" cy="3246120"/>
          </a:xfrm>
          <a:prstGeom prst="roundRect">
            <a:avLst>
              <a:gd name="adj" fmla="val 5164"/>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26280" y="2110740"/>
            <a:ext cx="1356360" cy="335280"/>
          </a:xfrm>
          <a:prstGeom prst="roundRect">
            <a:avLst>
              <a:gd name="adj" fmla="val 25000"/>
            </a:avLst>
          </a:prstGeom>
          <a:solidFill>
            <a:srgbClr val="E9E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63440" y="2171700"/>
            <a:ext cx="118110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7051E8"/>
                </a:solidFill>
                <a:latin typeface="DejaVu Sans"/>
              </a:defRPr>
            </a:pPr>
            <a:r>
              <a:t>02 / S2</a:t>
            </a:r>
          </a:p>
        </p:txBody>
      </p:sp>
      <p:cxnSp>
        <p:nvCxnSpPr>
          <p:cNvPr id="21" name="Connector 20"/>
          <p:cNvCxnSpPr/>
          <p:nvPr/>
        </p:nvCxnSpPr>
        <p:spPr>
          <a:xfrm>
            <a:off x="4679442" y="2727960"/>
            <a:ext cx="0" cy="683514"/>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618101" y="2771775"/>
            <a:ext cx="122681" cy="122681"/>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4837176" y="2833116"/>
            <a:ext cx="403098" cy="0"/>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4618101" y="2999613"/>
            <a:ext cx="122681" cy="122681"/>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837176" y="3060953"/>
            <a:ext cx="403098" cy="0"/>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618101" y="3244976"/>
            <a:ext cx="122681" cy="122681"/>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4837176" y="3306318"/>
            <a:ext cx="403098" cy="0"/>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541520" y="3581400"/>
            <a:ext cx="3177540" cy="398145"/>
          </a:xfrm>
          <a:prstGeom prst="rect">
            <a:avLst/>
          </a:prstGeom>
          <a:noFill/>
        </p:spPr>
        <p:txBody>
          <a:bodyPr wrap="none" lIns="0" rIns="0" tIns="0" bIns="0">
            <a:spAutoFit/>
          </a:bodyPr>
          <a:lstStyle/>
          <a:p>
            <a:pPr>
              <a:lnSpc>
                <a:spcPts val="2775"/>
              </a:lnSpc>
              <a:spcBef>
                <a:spcPts val="0"/>
              </a:spcBef>
              <a:spcAft>
                <a:spcPts val="0"/>
              </a:spcAft>
              <a:defRPr sz="2220" b="1">
                <a:solidFill>
                  <a:srgbClr val="14213B"/>
                </a:solidFill>
                <a:latin typeface="DejaVu Sans"/>
              </a:defRPr>
            </a:pPr>
            <a:r>
              <a:t>PagerDuty</a:t>
            </a:r>
          </a:p>
        </p:txBody>
      </p:sp>
      <p:sp>
        <p:nvSpPr>
          <p:cNvPr id="29" name="TextBox 28"/>
          <p:cNvSpPr txBox="1"/>
          <p:nvPr/>
        </p:nvSpPr>
        <p:spPr>
          <a:xfrm>
            <a:off x="4541520" y="4076699"/>
            <a:ext cx="3177540" cy="321945"/>
          </a:xfrm>
          <a:prstGeom prst="rect">
            <a:avLst/>
          </a:prstGeom>
          <a:noFill/>
        </p:spPr>
        <p:txBody>
          <a:bodyPr wrap="none" lIns="0" rIns="0" tIns="0" bIns="0">
            <a:spAutoFit/>
          </a:bodyPr>
          <a:lstStyle/>
          <a:p>
            <a:pPr>
              <a:lnSpc>
                <a:spcPts val="2175"/>
              </a:lnSpc>
              <a:spcBef>
                <a:spcPts val="0"/>
              </a:spcBef>
              <a:spcAft>
                <a:spcPts val="0"/>
              </a:spcAft>
              <a:defRPr sz="1739" b="0">
                <a:solidFill>
                  <a:srgbClr val="21314A"/>
                </a:solidFill>
                <a:latin typeface="DejaVu Sans"/>
              </a:defRPr>
            </a:pPr>
            <a:r>
              <a:t>Recent Changes</a:t>
            </a:r>
          </a:p>
        </p:txBody>
      </p:sp>
      <p:sp>
        <p:nvSpPr>
          <p:cNvPr id="30" name="TextBox 29"/>
          <p:cNvSpPr txBox="1"/>
          <p:nvPr/>
        </p:nvSpPr>
        <p:spPr>
          <a:xfrm>
            <a:off x="4541520" y="4495800"/>
            <a:ext cx="3177540" cy="283845"/>
          </a:xfrm>
          <a:prstGeom prst="rect">
            <a:avLst/>
          </a:prstGeom>
          <a:noFill/>
        </p:spPr>
        <p:txBody>
          <a:bodyPr wrap="none" lIns="0" rIns="0" tIns="0" bIns="0">
            <a:spAutoFit/>
          </a:bodyPr>
          <a:lstStyle/>
          <a:p>
            <a:pPr>
              <a:lnSpc>
                <a:spcPts val="1875"/>
              </a:lnSpc>
              <a:spcBef>
                <a:spcPts val="0"/>
              </a:spcBef>
              <a:spcAft>
                <a:spcPts val="0"/>
              </a:spcAft>
              <a:defRPr sz="1500" b="0">
                <a:solidFill>
                  <a:srgbClr val="65738C"/>
                </a:solidFill>
                <a:latin typeface="DejaVu Sans"/>
              </a:defRPr>
            </a:pPr>
            <a:r>
              <a:t>Changes in incident context</a:t>
            </a:r>
          </a:p>
        </p:txBody>
      </p:sp>
      <p:sp>
        <p:nvSpPr>
          <p:cNvPr id="31" name="Rounded Rectangle 30"/>
          <p:cNvSpPr/>
          <p:nvPr/>
        </p:nvSpPr>
        <p:spPr>
          <a:xfrm>
            <a:off x="8138160" y="1905000"/>
            <a:ext cx="3566160" cy="3246120"/>
          </a:xfrm>
          <a:prstGeom prst="roundRect">
            <a:avLst>
              <a:gd name="adj" fmla="val 5164"/>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351520" y="2110740"/>
            <a:ext cx="1356360" cy="335280"/>
          </a:xfrm>
          <a:prstGeom prst="roundRect">
            <a:avLst>
              <a:gd name="adj" fmla="val 25000"/>
            </a:avLst>
          </a:prstGeom>
          <a:solidFill>
            <a:srgbClr val="E9E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88680" y="2171700"/>
            <a:ext cx="118110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7051E8"/>
                </a:solidFill>
                <a:latin typeface="DejaVu Sans"/>
              </a:defRPr>
            </a:pPr>
            <a:r>
              <a:t>03 / S3</a:t>
            </a:r>
          </a:p>
        </p:txBody>
      </p:sp>
      <p:sp>
        <p:nvSpPr>
          <p:cNvPr id="34" name="Rounded Rectangle 33"/>
          <p:cNvSpPr/>
          <p:nvPr/>
        </p:nvSpPr>
        <p:spPr>
          <a:xfrm>
            <a:off x="8452104" y="2763012"/>
            <a:ext cx="560832" cy="560832"/>
          </a:xfrm>
          <a:prstGeom prst="roundRect">
            <a:avLst>
              <a:gd name="adj" fmla="val 19021"/>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8557260" y="2675382"/>
            <a:ext cx="0" cy="78867"/>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557260" y="3323844"/>
            <a:ext cx="0" cy="87630"/>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355710" y="2903220"/>
            <a:ext cx="96394" cy="0"/>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012935" y="2903220"/>
            <a:ext cx="96394" cy="0"/>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732520" y="2675382"/>
            <a:ext cx="0" cy="78867"/>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32520" y="3323844"/>
            <a:ext cx="0" cy="87630"/>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355710" y="3078480"/>
            <a:ext cx="96394" cy="0"/>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012935" y="3078480"/>
            <a:ext cx="96394" cy="0"/>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907780" y="2675382"/>
            <a:ext cx="0" cy="78867"/>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07780" y="3323844"/>
            <a:ext cx="0" cy="87630"/>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355710" y="3253740"/>
            <a:ext cx="96394" cy="0"/>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012935" y="3253740"/>
            <a:ext cx="96394" cy="0"/>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618601" y="2920746"/>
            <a:ext cx="113919" cy="192786"/>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732520" y="2920746"/>
            <a:ext cx="113919" cy="192786"/>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653653" y="3052191"/>
            <a:ext cx="157733" cy="0"/>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366760" y="3581400"/>
            <a:ext cx="3177540" cy="398145"/>
          </a:xfrm>
          <a:prstGeom prst="rect">
            <a:avLst/>
          </a:prstGeom>
          <a:noFill/>
        </p:spPr>
        <p:txBody>
          <a:bodyPr wrap="none" lIns="0" rIns="0" tIns="0" bIns="0">
            <a:spAutoFit/>
          </a:bodyPr>
          <a:lstStyle/>
          <a:p>
            <a:pPr>
              <a:lnSpc>
                <a:spcPts val="2775"/>
              </a:lnSpc>
              <a:spcBef>
                <a:spcPts val="0"/>
              </a:spcBef>
              <a:spcAft>
                <a:spcPts val="0"/>
              </a:spcAft>
              <a:defRPr sz="2220" b="1">
                <a:solidFill>
                  <a:srgbClr val="14213B"/>
                </a:solidFill>
                <a:latin typeface="DejaVu Sans"/>
              </a:defRPr>
            </a:pPr>
            <a:r>
              <a:t>Datadog</a:t>
            </a:r>
          </a:p>
        </p:txBody>
      </p:sp>
      <p:sp>
        <p:nvSpPr>
          <p:cNvPr id="51" name="TextBox 50"/>
          <p:cNvSpPr txBox="1"/>
          <p:nvPr/>
        </p:nvSpPr>
        <p:spPr>
          <a:xfrm>
            <a:off x="8366760" y="4076699"/>
            <a:ext cx="3177540" cy="321945"/>
          </a:xfrm>
          <a:prstGeom prst="rect">
            <a:avLst/>
          </a:prstGeom>
          <a:noFill/>
        </p:spPr>
        <p:txBody>
          <a:bodyPr wrap="none" lIns="0" rIns="0" tIns="0" bIns="0">
            <a:spAutoFit/>
          </a:bodyPr>
          <a:lstStyle/>
          <a:p>
            <a:pPr>
              <a:lnSpc>
                <a:spcPts val="2175"/>
              </a:lnSpc>
              <a:spcBef>
                <a:spcPts val="0"/>
              </a:spcBef>
              <a:spcAft>
                <a:spcPts val="0"/>
              </a:spcAft>
              <a:defRPr sz="1739" b="0">
                <a:solidFill>
                  <a:srgbClr val="21314A"/>
                </a:solidFill>
                <a:latin typeface="DejaVu Sans"/>
              </a:defRPr>
            </a:pPr>
            <a:r>
              <a:t>Bits Investigation</a:t>
            </a:r>
          </a:p>
        </p:txBody>
      </p:sp>
      <p:sp>
        <p:nvSpPr>
          <p:cNvPr id="52" name="TextBox 51"/>
          <p:cNvSpPr txBox="1"/>
          <p:nvPr/>
        </p:nvSpPr>
        <p:spPr>
          <a:xfrm>
            <a:off x="8366760" y="4495800"/>
            <a:ext cx="3177540" cy="283845"/>
          </a:xfrm>
          <a:prstGeom prst="rect">
            <a:avLst/>
          </a:prstGeom>
          <a:noFill/>
        </p:spPr>
        <p:txBody>
          <a:bodyPr wrap="none" lIns="0" rIns="0" tIns="0" bIns="0">
            <a:spAutoFit/>
          </a:bodyPr>
          <a:lstStyle/>
          <a:p>
            <a:pPr>
              <a:lnSpc>
                <a:spcPts val="1875"/>
              </a:lnSpc>
              <a:spcBef>
                <a:spcPts val="0"/>
              </a:spcBef>
              <a:spcAft>
                <a:spcPts val="0"/>
              </a:spcAft>
              <a:defRPr sz="1500" b="0">
                <a:solidFill>
                  <a:srgbClr val="65738C"/>
                </a:solidFill>
                <a:latin typeface="DejaVu Sans"/>
              </a:defRPr>
            </a:pPr>
            <a:r>
              <a:t>AI + operational context</a:t>
            </a:r>
          </a:p>
        </p:txBody>
      </p:sp>
      <p:sp>
        <p:nvSpPr>
          <p:cNvPr id="53" name="Rounded Rectangle 52"/>
          <p:cNvSpPr/>
          <p:nvPr/>
        </p:nvSpPr>
        <p:spPr>
          <a:xfrm>
            <a:off x="487680" y="5364480"/>
            <a:ext cx="11216640" cy="541020"/>
          </a:xfrm>
          <a:prstGeom prst="roundRect">
            <a:avLst>
              <a:gd name="adj" fmla="val 25000"/>
            </a:avLst>
          </a:prstGeom>
          <a:solidFill>
            <a:srgbClr val="1421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3420" y="5501640"/>
            <a:ext cx="10721340" cy="312420"/>
          </a:xfrm>
          <a:prstGeom prst="rect">
            <a:avLst/>
          </a:prstGeom>
          <a:noFill/>
        </p:spPr>
        <p:txBody>
          <a:bodyPr wrap="none" lIns="0" rIns="0" tIns="0" bIns="0">
            <a:spAutoFit/>
          </a:bodyPr>
          <a:lstStyle/>
          <a:p>
            <a:pPr>
              <a:lnSpc>
                <a:spcPts val="2100"/>
              </a:lnSpc>
              <a:spcBef>
                <a:spcPts val="0"/>
              </a:spcBef>
              <a:spcAft>
                <a:spcPts val="0"/>
              </a:spcAft>
              <a:defRPr sz="1680" b="1">
                <a:solidFill>
                  <a:srgbClr val="FFFFFF"/>
                </a:solidFill>
                <a:latin typeface="DejaVu Sans"/>
              </a:defRPr>
            </a:pPr>
            <a:r>
              <a:t>OpsReplay: replay device events and inspect the evidence behind an AI response.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167640"/>
          </a:xfrm>
          <a:prstGeom prst="rect">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7680" y="373380"/>
            <a:ext cx="69113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65738C"/>
                </a:solidFill>
                <a:latin typeface="DejaVu Sans"/>
              </a:defRPr>
            </a:pPr>
            <a:r>
              <a:t>OPSREPLAY / INCIDENT REPLAY</a:t>
            </a:r>
          </a:p>
        </p:txBody>
      </p:sp>
      <p:sp>
        <p:nvSpPr>
          <p:cNvPr id="5" name="TextBox 4"/>
          <p:cNvSpPr txBox="1"/>
          <p:nvPr/>
        </p:nvSpPr>
        <p:spPr>
          <a:xfrm>
            <a:off x="487680" y="853440"/>
            <a:ext cx="11254740" cy="541020"/>
          </a:xfrm>
          <a:prstGeom prst="rect">
            <a:avLst/>
          </a:prstGeom>
          <a:noFill/>
        </p:spPr>
        <p:txBody>
          <a:bodyPr wrap="none" lIns="0" rIns="0" tIns="0" bIns="0">
            <a:spAutoFit/>
          </a:bodyPr>
          <a:lstStyle/>
          <a:p>
            <a:pPr>
              <a:lnSpc>
                <a:spcPts val="3900"/>
              </a:lnSpc>
              <a:spcBef>
                <a:spcPts val="0"/>
              </a:spcBef>
              <a:spcAft>
                <a:spcPts val="0"/>
              </a:spcAft>
              <a:defRPr sz="3120" b="1">
                <a:solidFill>
                  <a:srgbClr val="14213B"/>
                </a:solidFill>
                <a:latin typeface="DejaVu Sans"/>
              </a:defRPr>
            </a:pPr>
            <a:r>
              <a:t>OpsReplay turns events into an investigation.</a:t>
            </a:r>
          </a:p>
        </p:txBody>
      </p:sp>
      <p:sp>
        <p:nvSpPr>
          <p:cNvPr id="6" name="TextBox 5"/>
          <p:cNvSpPr txBox="1"/>
          <p:nvPr/>
        </p:nvSpPr>
        <p:spPr>
          <a:xfrm>
            <a:off x="502920" y="1394460"/>
            <a:ext cx="11102340" cy="274320"/>
          </a:xfrm>
          <a:prstGeom prst="rect">
            <a:avLst/>
          </a:prstGeom>
          <a:noFill/>
        </p:spPr>
        <p:txBody>
          <a:bodyPr wrap="none" lIns="0" rIns="0" tIns="0" bIns="0">
            <a:spAutoFit/>
          </a:bodyPr>
          <a:lstStyle/>
          <a:p>
            <a:pPr>
              <a:lnSpc>
                <a:spcPts val="1800"/>
              </a:lnSpc>
              <a:spcBef>
                <a:spcPts val="0"/>
              </a:spcBef>
              <a:spcAft>
                <a:spcPts val="0"/>
              </a:spcAft>
              <a:defRPr sz="1439" b="0">
                <a:solidFill>
                  <a:srgbClr val="65738C"/>
                </a:solidFill>
                <a:latin typeface="DejaVu Sans"/>
              </a:defRPr>
            </a:pPr>
            <a:r>
              <a:t>The verified demo follows one device through its event history.</a:t>
            </a:r>
          </a:p>
        </p:txBody>
      </p:sp>
      <p:cxnSp>
        <p:nvCxnSpPr>
          <p:cNvPr id="7" name="Connector 6"/>
          <p:cNvCxnSpPr/>
          <p:nvPr/>
        </p:nvCxnSpPr>
        <p:spPr>
          <a:xfrm>
            <a:off x="487680" y="6217920"/>
            <a:ext cx="11216640" cy="0"/>
          </a:xfrm>
          <a:prstGeom prst="line">
            <a:avLst/>
          </a:prstGeom>
          <a:ln w="15240">
            <a:solidFill>
              <a:srgbClr val="DCE1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87680" y="6385560"/>
            <a:ext cx="8435340" cy="226695"/>
          </a:xfrm>
          <a:prstGeom prst="rect">
            <a:avLst/>
          </a:prstGeom>
          <a:noFill/>
        </p:spPr>
        <p:txBody>
          <a:bodyPr wrap="none" lIns="0" rIns="0" tIns="0" bIns="0">
            <a:spAutoFit/>
          </a:bodyPr>
          <a:lstStyle/>
          <a:p>
            <a:pPr>
              <a:lnSpc>
                <a:spcPts val="1425"/>
              </a:lnSpc>
              <a:spcBef>
                <a:spcPts val="0"/>
              </a:spcBef>
              <a:spcAft>
                <a:spcPts val="0"/>
              </a:spcAft>
              <a:defRPr sz="1140" b="0">
                <a:solidFill>
                  <a:srgbClr val="65738C"/>
                </a:solidFill>
                <a:latin typeface="DejaVu Sans"/>
              </a:defRPr>
            </a:pPr>
            <a:r>
              <a:t>SIMULATED IoT · Replay · Evidence</a:t>
            </a:r>
          </a:p>
        </p:txBody>
      </p:sp>
      <p:sp>
        <p:nvSpPr>
          <p:cNvPr id="9" name="TextBox 8"/>
          <p:cNvSpPr txBox="1"/>
          <p:nvPr/>
        </p:nvSpPr>
        <p:spPr>
          <a:xfrm>
            <a:off x="10515600" y="6370320"/>
            <a:ext cx="1272540" cy="255270"/>
          </a:xfrm>
          <a:prstGeom prst="rect">
            <a:avLst/>
          </a:prstGeom>
          <a:noFill/>
        </p:spPr>
        <p:txBody>
          <a:bodyPr wrap="none" lIns="0" rIns="0" tIns="0" bIns="0">
            <a:spAutoFit/>
          </a:bodyPr>
          <a:lstStyle/>
          <a:p>
            <a:pPr>
              <a:lnSpc>
                <a:spcPts val="1650"/>
              </a:lnSpc>
              <a:spcBef>
                <a:spcPts val="0"/>
              </a:spcBef>
              <a:spcAft>
                <a:spcPts val="0"/>
              </a:spcAft>
              <a:defRPr sz="1320" b="1">
                <a:solidFill>
                  <a:srgbClr val="7051E8"/>
                </a:solidFill>
                <a:latin typeface="DejaVu Sans"/>
              </a:defRPr>
            </a:pPr>
            <a:r>
              <a:t>04 / 09</a:t>
            </a:r>
          </a:p>
        </p:txBody>
      </p:sp>
      <p:sp>
        <p:nvSpPr>
          <p:cNvPr id="10" name="Rounded Rectangle 9"/>
          <p:cNvSpPr/>
          <p:nvPr/>
        </p:nvSpPr>
        <p:spPr>
          <a:xfrm>
            <a:off x="487680" y="2156460"/>
            <a:ext cx="2667000" cy="2667000"/>
          </a:xfrm>
          <a:prstGeom prst="roundRect">
            <a:avLst>
              <a:gd name="adj" fmla="val 6285"/>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16280" y="2423160"/>
            <a:ext cx="640080" cy="426720"/>
          </a:xfrm>
          <a:prstGeom prst="roundRect">
            <a:avLst>
              <a:gd name="adj" fmla="val 14285"/>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1036320" y="2849880"/>
            <a:ext cx="0" cy="12192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440" y="2971800"/>
            <a:ext cx="36576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61060" y="2621280"/>
            <a:ext cx="11430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75360" y="2522220"/>
            <a:ext cx="68580" cy="9906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43940" y="2522220"/>
            <a:ext cx="83820" cy="20574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127760" y="2613660"/>
            <a:ext cx="99060" cy="11430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16280" y="3268980"/>
            <a:ext cx="2339340" cy="379095"/>
          </a:xfrm>
          <a:prstGeom prst="rect">
            <a:avLst/>
          </a:prstGeom>
          <a:noFill/>
        </p:spPr>
        <p:txBody>
          <a:bodyPr wrap="none" lIns="0" rIns="0" tIns="0" bIns="0">
            <a:spAutoFit/>
          </a:bodyPr>
          <a:lstStyle/>
          <a:p>
            <a:pPr>
              <a:lnSpc>
                <a:spcPts val="2625"/>
              </a:lnSpc>
              <a:spcBef>
                <a:spcPts val="0"/>
              </a:spcBef>
              <a:spcAft>
                <a:spcPts val="0"/>
              </a:spcAft>
              <a:defRPr sz="2100" b="1">
                <a:solidFill>
                  <a:srgbClr val="14213B"/>
                </a:solidFill>
                <a:latin typeface="DejaVu Sans"/>
              </a:defRPr>
            </a:pPr>
            <a:r>
              <a:t>Device events</a:t>
            </a:r>
          </a:p>
        </p:txBody>
      </p:sp>
      <p:sp>
        <p:nvSpPr>
          <p:cNvPr id="19" name="Rounded Rectangle 18"/>
          <p:cNvSpPr/>
          <p:nvPr/>
        </p:nvSpPr>
        <p:spPr>
          <a:xfrm>
            <a:off x="716280" y="4076699"/>
            <a:ext cx="2209800" cy="335280"/>
          </a:xfrm>
          <a:prstGeom prst="roundRect">
            <a:avLst>
              <a:gd name="adj" fmla="val 25000"/>
            </a:avLst>
          </a:prstGeom>
          <a:solidFill>
            <a:srgbClr val="DD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3440" y="4137660"/>
            <a:ext cx="20345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168575"/>
                </a:solidFill>
                <a:latin typeface="DejaVu Sans"/>
              </a:defRPr>
            </a:pPr>
            <a:r>
              <a:t>SIMULATED</a:t>
            </a:r>
          </a:p>
        </p:txBody>
      </p:sp>
      <p:sp>
        <p:nvSpPr>
          <p:cNvPr id="21" name="Rounded Rectangle 20"/>
          <p:cNvSpPr/>
          <p:nvPr/>
        </p:nvSpPr>
        <p:spPr>
          <a:xfrm>
            <a:off x="4472940" y="2156460"/>
            <a:ext cx="3200400" cy="2667000"/>
          </a:xfrm>
          <a:prstGeom prst="roundRect">
            <a:avLst>
              <a:gd name="adj" fmla="val 6285"/>
            </a:avLst>
          </a:prstGeom>
          <a:solidFill>
            <a:srgbClr val="1421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4808220" y="2423160"/>
            <a:ext cx="0" cy="59436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754880" y="2461260"/>
            <a:ext cx="106680" cy="106680"/>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945380" y="2514600"/>
            <a:ext cx="3505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54880" y="2659380"/>
            <a:ext cx="106680" cy="106680"/>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4945380" y="2712720"/>
            <a:ext cx="3505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754880" y="2872740"/>
            <a:ext cx="106680" cy="106680"/>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4945380" y="2926080"/>
            <a:ext cx="3505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01540" y="3268980"/>
            <a:ext cx="2872740" cy="379095"/>
          </a:xfrm>
          <a:prstGeom prst="rect">
            <a:avLst/>
          </a:prstGeom>
          <a:noFill/>
        </p:spPr>
        <p:txBody>
          <a:bodyPr wrap="none" lIns="0" rIns="0" tIns="0" bIns="0">
            <a:spAutoFit/>
          </a:bodyPr>
          <a:lstStyle/>
          <a:p>
            <a:pPr>
              <a:lnSpc>
                <a:spcPts val="2625"/>
              </a:lnSpc>
              <a:spcBef>
                <a:spcPts val="0"/>
              </a:spcBef>
              <a:spcAft>
                <a:spcPts val="0"/>
              </a:spcAft>
              <a:defRPr sz="2100" b="1">
                <a:solidFill>
                  <a:srgbClr val="FFFFFF"/>
                </a:solidFill>
                <a:latin typeface="DejaVu Sans"/>
              </a:defRPr>
            </a:pPr>
            <a:r>
              <a:t>Unified Timeline</a:t>
            </a:r>
          </a:p>
        </p:txBody>
      </p:sp>
      <p:sp>
        <p:nvSpPr>
          <p:cNvPr id="30" name="Rounded Rectangle 29"/>
          <p:cNvSpPr/>
          <p:nvPr/>
        </p:nvSpPr>
        <p:spPr>
          <a:xfrm>
            <a:off x="4701540" y="4076699"/>
            <a:ext cx="2743200" cy="335280"/>
          </a:xfrm>
          <a:prstGeom prst="roundRect">
            <a:avLst>
              <a:gd name="adj" fmla="val 25000"/>
            </a:avLst>
          </a:prstGeom>
          <a:solidFill>
            <a:srgbClr val="E9E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38700" y="4137660"/>
            <a:ext cx="25679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7051E8"/>
                </a:solidFill>
                <a:latin typeface="DejaVu Sans"/>
              </a:defRPr>
            </a:pPr>
            <a:r>
              <a:t>Source / Severity</a:t>
            </a:r>
          </a:p>
        </p:txBody>
      </p:sp>
      <p:sp>
        <p:nvSpPr>
          <p:cNvPr id="32" name="Rounded Rectangle 31"/>
          <p:cNvSpPr/>
          <p:nvPr/>
        </p:nvSpPr>
        <p:spPr>
          <a:xfrm>
            <a:off x="8976360" y="2156460"/>
            <a:ext cx="2727960" cy="2667000"/>
          </a:xfrm>
          <a:prstGeom prst="roundRect">
            <a:avLst>
              <a:gd name="adj" fmla="val 6285"/>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265920" y="2453640"/>
            <a:ext cx="487680" cy="487680"/>
          </a:xfrm>
          <a:prstGeom prst="roundRect">
            <a:avLst>
              <a:gd name="adj" fmla="val 21875"/>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357360" y="2377440"/>
            <a:ext cx="0" cy="6858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57360" y="2941320"/>
            <a:ext cx="0" cy="7620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182100" y="2575560"/>
            <a:ext cx="838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753600" y="2575560"/>
            <a:ext cx="838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509760" y="2377440"/>
            <a:ext cx="0" cy="6858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09760" y="2941320"/>
            <a:ext cx="0" cy="7620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182100" y="2727960"/>
            <a:ext cx="838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753600" y="2727960"/>
            <a:ext cx="838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662160" y="2377440"/>
            <a:ext cx="0" cy="6858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662160" y="2941320"/>
            <a:ext cx="0" cy="7620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182100" y="2880360"/>
            <a:ext cx="838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753600" y="2880360"/>
            <a:ext cx="838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9410700" y="2590800"/>
            <a:ext cx="99060" cy="16764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9509760" y="2590800"/>
            <a:ext cx="99060" cy="16764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441180" y="2705100"/>
            <a:ext cx="13716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204960" y="3268980"/>
            <a:ext cx="2400300" cy="379095"/>
          </a:xfrm>
          <a:prstGeom prst="rect">
            <a:avLst/>
          </a:prstGeom>
          <a:noFill/>
        </p:spPr>
        <p:txBody>
          <a:bodyPr wrap="none" lIns="0" rIns="0" tIns="0" bIns="0">
            <a:spAutoFit/>
          </a:bodyPr>
          <a:lstStyle/>
          <a:p>
            <a:pPr>
              <a:lnSpc>
                <a:spcPts val="2625"/>
              </a:lnSpc>
              <a:spcBef>
                <a:spcPts val="0"/>
              </a:spcBef>
              <a:spcAft>
                <a:spcPts val="0"/>
              </a:spcAft>
              <a:defRPr sz="2100" b="1">
                <a:solidFill>
                  <a:srgbClr val="14213B"/>
                </a:solidFill>
                <a:latin typeface="DejaVu Sans"/>
              </a:defRPr>
            </a:pPr>
            <a:r>
              <a:t>Gemini</a:t>
            </a:r>
          </a:p>
        </p:txBody>
      </p:sp>
      <p:sp>
        <p:nvSpPr>
          <p:cNvPr id="50" name="TextBox 49"/>
          <p:cNvSpPr txBox="1"/>
          <p:nvPr/>
        </p:nvSpPr>
        <p:spPr>
          <a:xfrm>
            <a:off x="9204960" y="3756660"/>
            <a:ext cx="2400300" cy="283845"/>
          </a:xfrm>
          <a:prstGeom prst="rect">
            <a:avLst/>
          </a:prstGeom>
          <a:noFill/>
        </p:spPr>
        <p:txBody>
          <a:bodyPr wrap="none" lIns="0" rIns="0" tIns="0" bIns="0">
            <a:spAutoFit/>
          </a:bodyPr>
          <a:lstStyle/>
          <a:p>
            <a:pPr>
              <a:lnSpc>
                <a:spcPts val="1875"/>
              </a:lnSpc>
              <a:spcBef>
                <a:spcPts val="0"/>
              </a:spcBef>
              <a:spcAft>
                <a:spcPts val="0"/>
              </a:spcAft>
              <a:defRPr sz="1500" b="0">
                <a:solidFill>
                  <a:srgbClr val="21314A"/>
                </a:solidFill>
                <a:latin typeface="DejaVu Sans"/>
              </a:defRPr>
            </a:pPr>
            <a:r>
              <a:t>Facts + hypotheses</a:t>
            </a:r>
          </a:p>
        </p:txBody>
      </p:sp>
      <p:sp>
        <p:nvSpPr>
          <p:cNvPr id="51" name="Rounded Rectangle 50"/>
          <p:cNvSpPr/>
          <p:nvPr/>
        </p:nvSpPr>
        <p:spPr>
          <a:xfrm>
            <a:off x="9204960" y="4221480"/>
            <a:ext cx="2270760" cy="335280"/>
          </a:xfrm>
          <a:prstGeom prst="roundRect">
            <a:avLst>
              <a:gd name="adj" fmla="val 25000"/>
            </a:avLst>
          </a:prstGeom>
          <a:solidFill>
            <a:srgbClr val="DD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342120" y="4282440"/>
            <a:ext cx="2095499"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168575"/>
                </a:solidFill>
                <a:latin typeface="DejaVu Sans"/>
              </a:defRPr>
            </a:pPr>
            <a:r>
              <a:t>Evidence chips</a:t>
            </a:r>
          </a:p>
        </p:txBody>
      </p:sp>
      <p:cxnSp>
        <p:nvCxnSpPr>
          <p:cNvPr id="53" name="Connector 52"/>
          <p:cNvCxnSpPr/>
          <p:nvPr/>
        </p:nvCxnSpPr>
        <p:spPr>
          <a:xfrm>
            <a:off x="3154680" y="3489960"/>
            <a:ext cx="1249680" cy="0"/>
          </a:xfrm>
          <a:prstGeom prst="line">
            <a:avLst/>
          </a:prstGeom>
          <a:ln w="45719">
            <a:solidFill>
              <a:srgbClr val="7051E8"/>
            </a:solidFill>
          </a:ln>
        </p:spPr>
        <p:style>
          <a:lnRef idx="2">
            <a:schemeClr val="accent1"/>
          </a:lnRef>
          <a:fillRef idx="0">
            <a:schemeClr val="accent1"/>
          </a:fillRef>
          <a:effectRef idx="1">
            <a:schemeClr val="accent1"/>
          </a:effectRef>
          <a:fontRef idx="minor">
            <a:schemeClr val="tx1"/>
          </a:fontRef>
        </p:style>
      </p:cxnSp>
      <p:sp>
        <p:nvSpPr>
          <p:cNvPr id="54" name="Freeform 53"/>
          <p:cNvSpPr/>
          <p:nvPr/>
        </p:nvSpPr>
        <p:spPr>
          <a:xfrm>
            <a:off x="4297680" y="3429000"/>
            <a:ext cx="106680" cy="121920"/>
          </a:xfrm>
          <a:custGeom>
            <a:avLst/>
            <a:gdLst/>
            <a:ahLst/>
            <a:cxnLst/>
            <a:rect l="l" t="t" r="r" b="b"/>
            <a:pathLst>
              <a:path w="14" h="16">
                <a:moveTo>
                  <a:pt x="14" y="8"/>
                </a:moveTo>
                <a:lnTo>
                  <a:pt x="0" y="16"/>
                </a:lnTo>
                <a:lnTo>
                  <a:pt x="0" y="0"/>
                </a:lnTo>
                <a:close/>
              </a:path>
            </a:pathLst>
          </a:cu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7673340" y="3489960"/>
            <a:ext cx="1226820" cy="0"/>
          </a:xfrm>
          <a:prstGeom prst="line">
            <a:avLst/>
          </a:prstGeom>
          <a:ln w="45719">
            <a:solidFill>
              <a:srgbClr val="7051E8"/>
            </a:solidFill>
          </a:ln>
        </p:spPr>
        <p:style>
          <a:lnRef idx="2">
            <a:schemeClr val="accent1"/>
          </a:lnRef>
          <a:fillRef idx="0">
            <a:schemeClr val="accent1"/>
          </a:fillRef>
          <a:effectRef idx="1">
            <a:schemeClr val="accent1"/>
          </a:effectRef>
          <a:fontRef idx="minor">
            <a:schemeClr val="tx1"/>
          </a:fontRef>
        </p:style>
      </p:cxnSp>
      <p:sp>
        <p:nvSpPr>
          <p:cNvPr id="56" name="Freeform 55"/>
          <p:cNvSpPr/>
          <p:nvPr/>
        </p:nvSpPr>
        <p:spPr>
          <a:xfrm>
            <a:off x="8793480" y="3429000"/>
            <a:ext cx="106680" cy="121920"/>
          </a:xfrm>
          <a:custGeom>
            <a:avLst/>
            <a:gdLst/>
            <a:ahLst/>
            <a:cxnLst/>
            <a:rect l="l" t="t" r="r" b="b"/>
            <a:pathLst>
              <a:path w="14" h="16">
                <a:moveTo>
                  <a:pt x="14" y="8"/>
                </a:moveTo>
                <a:lnTo>
                  <a:pt x="0" y="16"/>
                </a:lnTo>
                <a:lnTo>
                  <a:pt x="0" y="0"/>
                </a:lnTo>
                <a:close/>
              </a:path>
            </a:pathLst>
          </a:cu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487680" y="5204460"/>
            <a:ext cx="11216640" cy="723900"/>
          </a:xfrm>
          <a:prstGeom prst="roundRect">
            <a:avLst>
              <a:gd name="adj" fmla="val 23157"/>
            </a:avLst>
          </a:prstGeom>
          <a:solidFill>
            <a:srgbClr val="E9E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1040" y="5356860"/>
            <a:ext cx="10797540" cy="302895"/>
          </a:xfrm>
          <a:prstGeom prst="rect">
            <a:avLst/>
          </a:prstGeom>
          <a:noFill/>
        </p:spPr>
        <p:txBody>
          <a:bodyPr wrap="none" lIns="0" rIns="0" tIns="0" bIns="0">
            <a:spAutoFit/>
          </a:bodyPr>
          <a:lstStyle/>
          <a:p>
            <a:pPr>
              <a:lnSpc>
                <a:spcPts val="2025"/>
              </a:lnSpc>
              <a:spcBef>
                <a:spcPts val="0"/>
              </a:spcBef>
              <a:spcAft>
                <a:spcPts val="0"/>
              </a:spcAft>
              <a:defRPr sz="1620" b="1">
                <a:solidFill>
                  <a:srgbClr val="7051E8"/>
                </a:solidFill>
                <a:latin typeface="DejaVu Sans"/>
              </a:defRPr>
            </a:pPr>
            <a:r>
              <a:t>GitHub adapter is available separately.</a:t>
            </a:r>
          </a:p>
        </p:txBody>
      </p:sp>
      <p:sp>
        <p:nvSpPr>
          <p:cNvPr id="59" name="TextBox 58"/>
          <p:cNvSpPr txBox="1"/>
          <p:nvPr/>
        </p:nvSpPr>
        <p:spPr>
          <a:xfrm>
            <a:off x="701040" y="5669280"/>
            <a:ext cx="10797540" cy="274320"/>
          </a:xfrm>
          <a:prstGeom prst="rect">
            <a:avLst/>
          </a:prstGeom>
          <a:noFill/>
        </p:spPr>
        <p:txBody>
          <a:bodyPr wrap="none" lIns="0" rIns="0" tIns="0" bIns="0">
            <a:spAutoFit/>
          </a:bodyPr>
          <a:lstStyle/>
          <a:p>
            <a:pPr>
              <a:lnSpc>
                <a:spcPts val="1800"/>
              </a:lnSpc>
              <a:spcBef>
                <a:spcPts val="0"/>
              </a:spcBef>
              <a:spcAft>
                <a:spcPts val="0"/>
              </a:spcAft>
              <a:defRPr sz="1439" b="0">
                <a:solidFill>
                  <a:srgbClr val="65738C"/>
                </a:solidFill>
                <a:latin typeface="DejaVu Sans"/>
              </a:defRPr>
            </a:pPr>
            <a:r>
              <a:t>Software-to-device mapping is not implemented.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167640"/>
          </a:xfrm>
          <a:prstGeom prst="rect">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7680" y="373380"/>
            <a:ext cx="69113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65738C"/>
                </a:solidFill>
                <a:latin typeface="DejaVu Sans"/>
              </a:defRPr>
            </a:pPr>
            <a:r>
              <a:t>OPSREPLAY / INCIDENT REPLAY</a:t>
            </a:r>
          </a:p>
        </p:txBody>
      </p:sp>
      <p:sp>
        <p:nvSpPr>
          <p:cNvPr id="5" name="TextBox 4"/>
          <p:cNvSpPr txBox="1"/>
          <p:nvPr/>
        </p:nvSpPr>
        <p:spPr>
          <a:xfrm>
            <a:off x="487680" y="853440"/>
            <a:ext cx="11254740" cy="541020"/>
          </a:xfrm>
          <a:prstGeom prst="rect">
            <a:avLst/>
          </a:prstGeom>
          <a:noFill/>
        </p:spPr>
        <p:txBody>
          <a:bodyPr wrap="none" lIns="0" rIns="0" tIns="0" bIns="0">
            <a:spAutoFit/>
          </a:bodyPr>
          <a:lstStyle/>
          <a:p>
            <a:pPr>
              <a:lnSpc>
                <a:spcPts val="3900"/>
              </a:lnSpc>
              <a:spcBef>
                <a:spcPts val="0"/>
              </a:spcBef>
              <a:spcAft>
                <a:spcPts val="0"/>
              </a:spcAft>
              <a:defRPr sz="3120" b="1">
                <a:solidFill>
                  <a:srgbClr val="14213B"/>
                </a:solidFill>
                <a:latin typeface="DejaVu Sans"/>
              </a:defRPr>
            </a:pPr>
            <a:r>
              <a:t>What the prototype implements.</a:t>
            </a:r>
          </a:p>
        </p:txBody>
      </p:sp>
      <p:sp>
        <p:nvSpPr>
          <p:cNvPr id="6" name="TextBox 5"/>
          <p:cNvSpPr txBox="1"/>
          <p:nvPr/>
        </p:nvSpPr>
        <p:spPr>
          <a:xfrm>
            <a:off x="502920" y="1394460"/>
            <a:ext cx="11102340" cy="274320"/>
          </a:xfrm>
          <a:prstGeom prst="rect">
            <a:avLst/>
          </a:prstGeom>
          <a:noFill/>
        </p:spPr>
        <p:txBody>
          <a:bodyPr wrap="none" lIns="0" rIns="0" tIns="0" bIns="0">
            <a:spAutoFit/>
          </a:bodyPr>
          <a:lstStyle/>
          <a:p>
            <a:pPr>
              <a:lnSpc>
                <a:spcPts val="1800"/>
              </a:lnSpc>
              <a:spcBef>
                <a:spcPts val="0"/>
              </a:spcBef>
              <a:spcAft>
                <a:spcPts val="0"/>
              </a:spcAft>
              <a:defRPr sz="1439" b="0">
                <a:solidFill>
                  <a:srgbClr val="65738C"/>
                </a:solidFill>
                <a:latin typeface="DejaVu Sans"/>
              </a:defRPr>
            </a:pPr>
            <a:r>
              <a:t>A working path, with clear module boundaries.</a:t>
            </a:r>
          </a:p>
        </p:txBody>
      </p:sp>
      <p:cxnSp>
        <p:nvCxnSpPr>
          <p:cNvPr id="7" name="Connector 6"/>
          <p:cNvCxnSpPr/>
          <p:nvPr/>
        </p:nvCxnSpPr>
        <p:spPr>
          <a:xfrm>
            <a:off x="487680" y="6217920"/>
            <a:ext cx="11216640" cy="0"/>
          </a:xfrm>
          <a:prstGeom prst="line">
            <a:avLst/>
          </a:prstGeom>
          <a:ln w="15240">
            <a:solidFill>
              <a:srgbClr val="DCE1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87680" y="6385560"/>
            <a:ext cx="8435340" cy="226695"/>
          </a:xfrm>
          <a:prstGeom prst="rect">
            <a:avLst/>
          </a:prstGeom>
          <a:noFill/>
        </p:spPr>
        <p:txBody>
          <a:bodyPr wrap="none" lIns="0" rIns="0" tIns="0" bIns="0">
            <a:spAutoFit/>
          </a:bodyPr>
          <a:lstStyle/>
          <a:p>
            <a:pPr>
              <a:lnSpc>
                <a:spcPts val="1425"/>
              </a:lnSpc>
              <a:spcBef>
                <a:spcPts val="0"/>
              </a:spcBef>
              <a:spcAft>
                <a:spcPts val="0"/>
              </a:spcAft>
              <a:defRPr sz="1140" b="0">
                <a:solidFill>
                  <a:srgbClr val="65738C"/>
                </a:solidFill>
                <a:latin typeface="DejaVu Sans"/>
              </a:defRPr>
            </a:pPr>
            <a:r>
              <a:t>SIMULATED IoT · Replay · Evidence</a:t>
            </a:r>
          </a:p>
        </p:txBody>
      </p:sp>
      <p:sp>
        <p:nvSpPr>
          <p:cNvPr id="9" name="TextBox 8"/>
          <p:cNvSpPr txBox="1"/>
          <p:nvPr/>
        </p:nvSpPr>
        <p:spPr>
          <a:xfrm>
            <a:off x="10515600" y="6370320"/>
            <a:ext cx="1272540" cy="255270"/>
          </a:xfrm>
          <a:prstGeom prst="rect">
            <a:avLst/>
          </a:prstGeom>
          <a:noFill/>
        </p:spPr>
        <p:txBody>
          <a:bodyPr wrap="none" lIns="0" rIns="0" tIns="0" bIns="0">
            <a:spAutoFit/>
          </a:bodyPr>
          <a:lstStyle/>
          <a:p>
            <a:pPr>
              <a:lnSpc>
                <a:spcPts val="1650"/>
              </a:lnSpc>
              <a:spcBef>
                <a:spcPts val="0"/>
              </a:spcBef>
              <a:spcAft>
                <a:spcPts val="0"/>
              </a:spcAft>
              <a:defRPr sz="1320" b="1">
                <a:solidFill>
                  <a:srgbClr val="7051E8"/>
                </a:solidFill>
                <a:latin typeface="DejaVu Sans"/>
              </a:defRPr>
            </a:pPr>
            <a:r>
              <a:t>05 / 09</a:t>
            </a:r>
          </a:p>
        </p:txBody>
      </p:sp>
      <p:sp>
        <p:nvSpPr>
          <p:cNvPr id="10" name="Rounded Rectangle 9"/>
          <p:cNvSpPr/>
          <p:nvPr/>
        </p:nvSpPr>
        <p:spPr>
          <a:xfrm>
            <a:off x="487680" y="1905000"/>
            <a:ext cx="3566160" cy="1874519"/>
          </a:xfrm>
          <a:prstGeom prst="roundRect">
            <a:avLst>
              <a:gd name="adj" fmla="val 894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16280" y="2103120"/>
            <a:ext cx="640080" cy="426720"/>
          </a:xfrm>
          <a:prstGeom prst="roundRect">
            <a:avLst>
              <a:gd name="adj" fmla="val 14285"/>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1036320" y="2529840"/>
            <a:ext cx="0" cy="12192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440" y="2651760"/>
            <a:ext cx="36576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61060" y="2301240"/>
            <a:ext cx="11430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75360" y="2202180"/>
            <a:ext cx="68580" cy="9906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43940" y="2202180"/>
            <a:ext cx="83820" cy="20574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127760" y="2293620"/>
            <a:ext cx="99060" cy="11430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577340" y="2194560"/>
            <a:ext cx="2339340" cy="350520"/>
          </a:xfrm>
          <a:prstGeom prst="rect">
            <a:avLst/>
          </a:prstGeom>
          <a:noFill/>
        </p:spPr>
        <p:txBody>
          <a:bodyPr wrap="none" lIns="0" rIns="0" tIns="0" bIns="0">
            <a:spAutoFit/>
          </a:bodyPr>
          <a:lstStyle/>
          <a:p>
            <a:pPr>
              <a:lnSpc>
                <a:spcPts val="2400"/>
              </a:lnSpc>
              <a:spcBef>
                <a:spcPts val="0"/>
              </a:spcBef>
              <a:spcAft>
                <a:spcPts val="0"/>
              </a:spcAft>
              <a:defRPr sz="1920" b="1">
                <a:solidFill>
                  <a:srgbClr val="14213B"/>
                </a:solidFill>
                <a:latin typeface="DejaVu Sans"/>
              </a:defRPr>
            </a:pPr>
            <a:r>
              <a:t>Simulator</a:t>
            </a:r>
          </a:p>
        </p:txBody>
      </p:sp>
      <p:sp>
        <p:nvSpPr>
          <p:cNvPr id="19" name="TextBox 18"/>
          <p:cNvSpPr txBox="1"/>
          <p:nvPr/>
        </p:nvSpPr>
        <p:spPr>
          <a:xfrm>
            <a:off x="716280" y="3063240"/>
            <a:ext cx="3162300" cy="302895"/>
          </a:xfrm>
          <a:prstGeom prst="rect">
            <a:avLst/>
          </a:prstGeom>
          <a:noFill/>
        </p:spPr>
        <p:txBody>
          <a:bodyPr wrap="none" lIns="0" rIns="0" tIns="0" bIns="0">
            <a:spAutoFit/>
          </a:bodyPr>
          <a:lstStyle/>
          <a:p>
            <a:pPr>
              <a:lnSpc>
                <a:spcPts val="2025"/>
              </a:lnSpc>
              <a:spcBef>
                <a:spcPts val="0"/>
              </a:spcBef>
              <a:spcAft>
                <a:spcPts val="0"/>
              </a:spcAft>
              <a:defRPr sz="1620" b="0">
                <a:solidFill>
                  <a:srgbClr val="65738C"/>
                </a:solidFill>
                <a:latin typeface="DejaVu Sans"/>
              </a:defRPr>
            </a:pPr>
            <a:r>
              <a:t>Fixed event fixtures</a:t>
            </a:r>
          </a:p>
        </p:txBody>
      </p:sp>
      <p:cxnSp>
        <p:nvCxnSpPr>
          <p:cNvPr id="20" name="Connector 19"/>
          <p:cNvCxnSpPr/>
          <p:nvPr/>
        </p:nvCxnSpPr>
        <p:spPr>
          <a:xfrm>
            <a:off x="716280" y="3566160"/>
            <a:ext cx="3108960" cy="0"/>
          </a:xfrm>
          <a:prstGeom prst="line">
            <a:avLst/>
          </a:prstGeom>
          <a:ln w="45719">
            <a:solidFill>
              <a:srgbClr val="168575"/>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12920" y="1905000"/>
            <a:ext cx="3566160" cy="1874519"/>
          </a:xfrm>
          <a:prstGeom prst="roundRect">
            <a:avLst>
              <a:gd name="adj" fmla="val 894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610100" y="2148840"/>
            <a:ext cx="472440" cy="472440"/>
          </a:xfrm>
          <a:prstGeom prst="ellipse">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4671060" y="2103120"/>
            <a:ext cx="22860" cy="12954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671060" y="2103120"/>
            <a:ext cx="129540" cy="6858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4907280" y="2103120"/>
            <a:ext cx="129540" cy="6858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5013960" y="2103120"/>
            <a:ext cx="22860" cy="12954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846320" y="2606040"/>
            <a:ext cx="0" cy="10668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02580" y="2194560"/>
            <a:ext cx="2339340" cy="350520"/>
          </a:xfrm>
          <a:prstGeom prst="rect">
            <a:avLst/>
          </a:prstGeom>
          <a:noFill/>
        </p:spPr>
        <p:txBody>
          <a:bodyPr wrap="none" lIns="0" rIns="0" tIns="0" bIns="0">
            <a:spAutoFit/>
          </a:bodyPr>
          <a:lstStyle/>
          <a:p>
            <a:pPr>
              <a:lnSpc>
                <a:spcPts val="2400"/>
              </a:lnSpc>
              <a:spcBef>
                <a:spcPts val="0"/>
              </a:spcBef>
              <a:spcAft>
                <a:spcPts val="0"/>
              </a:spcAft>
              <a:defRPr sz="1920" b="1">
                <a:solidFill>
                  <a:srgbClr val="14213B"/>
                </a:solidFill>
                <a:latin typeface="DejaVu Sans"/>
              </a:defRPr>
            </a:pPr>
            <a:r>
              <a:t>GitHub adapter</a:t>
            </a:r>
          </a:p>
        </p:txBody>
      </p:sp>
      <p:sp>
        <p:nvSpPr>
          <p:cNvPr id="29" name="TextBox 28"/>
          <p:cNvSpPr txBox="1"/>
          <p:nvPr/>
        </p:nvSpPr>
        <p:spPr>
          <a:xfrm>
            <a:off x="4541520" y="3063240"/>
            <a:ext cx="3162300" cy="302895"/>
          </a:xfrm>
          <a:prstGeom prst="rect">
            <a:avLst/>
          </a:prstGeom>
          <a:noFill/>
        </p:spPr>
        <p:txBody>
          <a:bodyPr wrap="none" lIns="0" rIns="0" tIns="0" bIns="0">
            <a:spAutoFit/>
          </a:bodyPr>
          <a:lstStyle/>
          <a:p>
            <a:pPr>
              <a:lnSpc>
                <a:spcPts val="2025"/>
              </a:lnSpc>
              <a:spcBef>
                <a:spcPts val="0"/>
              </a:spcBef>
              <a:spcAft>
                <a:spcPts val="0"/>
              </a:spcAft>
              <a:defRPr sz="1620" b="0">
                <a:solidFill>
                  <a:srgbClr val="65738C"/>
                </a:solidFill>
                <a:latin typeface="DejaVu Sans"/>
              </a:defRPr>
            </a:pPr>
            <a:r>
              <a:t>Optional software context</a:t>
            </a:r>
          </a:p>
        </p:txBody>
      </p:sp>
      <p:cxnSp>
        <p:nvCxnSpPr>
          <p:cNvPr id="30" name="Connector 29"/>
          <p:cNvCxnSpPr/>
          <p:nvPr/>
        </p:nvCxnSpPr>
        <p:spPr>
          <a:xfrm>
            <a:off x="4541520" y="3566160"/>
            <a:ext cx="3108960" cy="0"/>
          </a:xfrm>
          <a:prstGeom prst="line">
            <a:avLst/>
          </a:prstGeom>
          <a:ln w="45719">
            <a:solidFill>
              <a:srgbClr val="16857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38160" y="1905000"/>
            <a:ext cx="3566160" cy="1874519"/>
          </a:xfrm>
          <a:prstGeom prst="roundRect">
            <a:avLst>
              <a:gd name="adj" fmla="val 894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8473440" y="2103120"/>
            <a:ext cx="0" cy="59436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8420100" y="2141220"/>
            <a:ext cx="106680" cy="106680"/>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8610600" y="2194560"/>
            <a:ext cx="3505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420100" y="2339340"/>
            <a:ext cx="106680" cy="106680"/>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8610600" y="2392680"/>
            <a:ext cx="3505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8420100" y="2552700"/>
            <a:ext cx="106680" cy="106680"/>
          </a:xfrm>
          <a:prstGeom prst="ellipse">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610600" y="2606040"/>
            <a:ext cx="3505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227820" y="2194560"/>
            <a:ext cx="2339340" cy="350520"/>
          </a:xfrm>
          <a:prstGeom prst="rect">
            <a:avLst/>
          </a:prstGeom>
          <a:noFill/>
        </p:spPr>
        <p:txBody>
          <a:bodyPr wrap="none" lIns="0" rIns="0" tIns="0" bIns="0">
            <a:spAutoFit/>
          </a:bodyPr>
          <a:lstStyle/>
          <a:p>
            <a:pPr>
              <a:lnSpc>
                <a:spcPts val="2400"/>
              </a:lnSpc>
              <a:spcBef>
                <a:spcPts val="0"/>
              </a:spcBef>
              <a:spcAft>
                <a:spcPts val="0"/>
              </a:spcAft>
              <a:defRPr sz="1920" b="1">
                <a:solidFill>
                  <a:srgbClr val="14213B"/>
                </a:solidFill>
                <a:latin typeface="DejaVu Sans"/>
              </a:defRPr>
            </a:pPr>
            <a:r>
              <a:t>Timeline</a:t>
            </a:r>
          </a:p>
        </p:txBody>
      </p:sp>
      <p:sp>
        <p:nvSpPr>
          <p:cNvPr id="40" name="TextBox 39"/>
          <p:cNvSpPr txBox="1"/>
          <p:nvPr/>
        </p:nvSpPr>
        <p:spPr>
          <a:xfrm>
            <a:off x="8366760" y="3063240"/>
            <a:ext cx="3162300" cy="302895"/>
          </a:xfrm>
          <a:prstGeom prst="rect">
            <a:avLst/>
          </a:prstGeom>
          <a:noFill/>
        </p:spPr>
        <p:txBody>
          <a:bodyPr wrap="none" lIns="0" rIns="0" tIns="0" bIns="0">
            <a:spAutoFit/>
          </a:bodyPr>
          <a:lstStyle/>
          <a:p>
            <a:pPr>
              <a:lnSpc>
                <a:spcPts val="2025"/>
              </a:lnSpc>
              <a:spcBef>
                <a:spcPts val="0"/>
              </a:spcBef>
              <a:spcAft>
                <a:spcPts val="0"/>
              </a:spcAft>
              <a:defRPr sz="1620" b="0">
                <a:solidFill>
                  <a:srgbClr val="65738C"/>
                </a:solidFill>
                <a:latin typeface="DejaVu Sans"/>
              </a:defRPr>
            </a:pPr>
            <a:r>
              <a:t>Source / Severity</a:t>
            </a:r>
          </a:p>
        </p:txBody>
      </p:sp>
      <p:cxnSp>
        <p:nvCxnSpPr>
          <p:cNvPr id="41" name="Connector 40"/>
          <p:cNvCxnSpPr/>
          <p:nvPr/>
        </p:nvCxnSpPr>
        <p:spPr>
          <a:xfrm>
            <a:off x="8366760" y="3566160"/>
            <a:ext cx="3108960" cy="0"/>
          </a:xfrm>
          <a:prstGeom prst="line">
            <a:avLst/>
          </a:prstGeom>
          <a:ln w="45719">
            <a:solidFill>
              <a:srgbClr val="168575"/>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87680" y="3977639"/>
            <a:ext cx="3566160" cy="1874519"/>
          </a:xfrm>
          <a:prstGeom prst="roundRect">
            <a:avLst>
              <a:gd name="adj" fmla="val 894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777240" y="4206240"/>
            <a:ext cx="487680" cy="487680"/>
          </a:xfrm>
          <a:prstGeom prst="roundRect">
            <a:avLst>
              <a:gd name="adj" fmla="val 21875"/>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868680" y="4130040"/>
            <a:ext cx="0" cy="6858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68680" y="4693920"/>
            <a:ext cx="0" cy="7620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93420" y="4328160"/>
            <a:ext cx="838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264920" y="4328160"/>
            <a:ext cx="838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21080" y="4130040"/>
            <a:ext cx="0" cy="6858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021080" y="4693920"/>
            <a:ext cx="0" cy="7620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93420" y="4480560"/>
            <a:ext cx="838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264920" y="4480560"/>
            <a:ext cx="838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173480" y="4130040"/>
            <a:ext cx="0" cy="6858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73480" y="4693920"/>
            <a:ext cx="0" cy="7620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93420" y="4632960"/>
            <a:ext cx="838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264920" y="4632960"/>
            <a:ext cx="8382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922020" y="4343400"/>
            <a:ext cx="99060" cy="16764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021080" y="4343400"/>
            <a:ext cx="99060" cy="16764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2500" y="4457700"/>
            <a:ext cx="137160" cy="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577340" y="4267200"/>
            <a:ext cx="2339340" cy="350520"/>
          </a:xfrm>
          <a:prstGeom prst="rect">
            <a:avLst/>
          </a:prstGeom>
          <a:noFill/>
        </p:spPr>
        <p:txBody>
          <a:bodyPr wrap="none" lIns="0" rIns="0" tIns="0" bIns="0">
            <a:spAutoFit/>
          </a:bodyPr>
          <a:lstStyle/>
          <a:p>
            <a:pPr>
              <a:lnSpc>
                <a:spcPts val="2400"/>
              </a:lnSpc>
              <a:spcBef>
                <a:spcPts val="0"/>
              </a:spcBef>
              <a:spcAft>
                <a:spcPts val="0"/>
              </a:spcAft>
              <a:defRPr sz="1920" b="1">
                <a:solidFill>
                  <a:srgbClr val="14213B"/>
                </a:solidFill>
                <a:latin typeface="DejaVu Sans"/>
              </a:defRPr>
            </a:pPr>
            <a:r>
              <a:t>Gemini adapter</a:t>
            </a:r>
          </a:p>
        </p:txBody>
      </p:sp>
      <p:sp>
        <p:nvSpPr>
          <p:cNvPr id="60" name="TextBox 59"/>
          <p:cNvSpPr txBox="1"/>
          <p:nvPr/>
        </p:nvSpPr>
        <p:spPr>
          <a:xfrm>
            <a:off x="716280" y="5135880"/>
            <a:ext cx="3162300" cy="302895"/>
          </a:xfrm>
          <a:prstGeom prst="rect">
            <a:avLst/>
          </a:prstGeom>
          <a:noFill/>
        </p:spPr>
        <p:txBody>
          <a:bodyPr wrap="none" lIns="0" rIns="0" tIns="0" bIns="0">
            <a:spAutoFit/>
          </a:bodyPr>
          <a:lstStyle/>
          <a:p>
            <a:pPr>
              <a:lnSpc>
                <a:spcPts val="2025"/>
              </a:lnSpc>
              <a:spcBef>
                <a:spcPts val="0"/>
              </a:spcBef>
              <a:spcAft>
                <a:spcPts val="0"/>
              </a:spcAft>
              <a:defRPr sz="1620" b="0">
                <a:solidFill>
                  <a:srgbClr val="65738C"/>
                </a:solidFill>
                <a:latin typeface="DejaVu Sans"/>
              </a:defRPr>
            </a:pPr>
            <a:r>
              <a:t>Structured response</a:t>
            </a:r>
          </a:p>
        </p:txBody>
      </p:sp>
      <p:cxnSp>
        <p:nvCxnSpPr>
          <p:cNvPr id="61" name="Connector 60"/>
          <p:cNvCxnSpPr/>
          <p:nvPr/>
        </p:nvCxnSpPr>
        <p:spPr>
          <a:xfrm>
            <a:off x="716280" y="5638800"/>
            <a:ext cx="3108960" cy="0"/>
          </a:xfrm>
          <a:prstGeom prst="line">
            <a:avLst/>
          </a:prstGeom>
          <a:ln w="45719">
            <a:solidFill>
              <a:srgbClr val="168575"/>
            </a:solidFill>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4312920" y="3977639"/>
            <a:ext cx="3566160" cy="1874519"/>
          </a:xfrm>
          <a:prstGeom prst="roundRect">
            <a:avLst>
              <a:gd name="adj" fmla="val 894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Freeform 62"/>
          <p:cNvSpPr/>
          <p:nvPr/>
        </p:nvSpPr>
        <p:spPr>
          <a:xfrm>
            <a:off x="4572000" y="4152900"/>
            <a:ext cx="548640" cy="601980"/>
          </a:xfrm>
          <a:custGeom>
            <a:avLst/>
            <a:gdLst/>
            <a:ahLst/>
            <a:cxnLst/>
            <a:rect l="l" t="t" r="r" b="b"/>
            <a:pathLst>
              <a:path w="72" h="79">
                <a:moveTo>
                  <a:pt x="0" y="8"/>
                </a:moveTo>
                <a:lnTo>
                  <a:pt x="36" y="0"/>
                </a:lnTo>
                <a:lnTo>
                  <a:pt x="72" y="8"/>
                </a:lnTo>
                <a:lnTo>
                  <a:pt x="64" y="56"/>
                </a:lnTo>
                <a:lnTo>
                  <a:pt x="36" y="79"/>
                </a:lnTo>
                <a:lnTo>
                  <a:pt x="8" y="56"/>
                </a:lnTo>
                <a:close/>
              </a:path>
            </a:pathLst>
          </a:cu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4716780" y="4419600"/>
            <a:ext cx="99060" cy="9906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815840" y="4320540"/>
            <a:ext cx="167640" cy="19812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02580" y="4267200"/>
            <a:ext cx="2339340" cy="350520"/>
          </a:xfrm>
          <a:prstGeom prst="rect">
            <a:avLst/>
          </a:prstGeom>
          <a:noFill/>
        </p:spPr>
        <p:txBody>
          <a:bodyPr wrap="none" lIns="0" rIns="0" tIns="0" bIns="0">
            <a:spAutoFit/>
          </a:bodyPr>
          <a:lstStyle/>
          <a:p>
            <a:pPr>
              <a:lnSpc>
                <a:spcPts val="2400"/>
              </a:lnSpc>
              <a:spcBef>
                <a:spcPts val="0"/>
              </a:spcBef>
              <a:spcAft>
                <a:spcPts val="0"/>
              </a:spcAft>
              <a:defRPr sz="1920" b="1">
                <a:solidFill>
                  <a:srgbClr val="14213B"/>
                </a:solidFill>
                <a:latin typeface="DejaVu Sans"/>
              </a:defRPr>
            </a:pPr>
            <a:r>
              <a:t>Validation</a:t>
            </a:r>
          </a:p>
        </p:txBody>
      </p:sp>
      <p:sp>
        <p:nvSpPr>
          <p:cNvPr id="67" name="TextBox 66"/>
          <p:cNvSpPr txBox="1"/>
          <p:nvPr/>
        </p:nvSpPr>
        <p:spPr>
          <a:xfrm>
            <a:off x="4541520" y="5135880"/>
            <a:ext cx="3162300" cy="302895"/>
          </a:xfrm>
          <a:prstGeom prst="rect">
            <a:avLst/>
          </a:prstGeom>
          <a:noFill/>
        </p:spPr>
        <p:txBody>
          <a:bodyPr wrap="none" lIns="0" rIns="0" tIns="0" bIns="0">
            <a:spAutoFit/>
          </a:bodyPr>
          <a:lstStyle/>
          <a:p>
            <a:pPr>
              <a:lnSpc>
                <a:spcPts val="2025"/>
              </a:lnSpc>
              <a:spcBef>
                <a:spcPts val="0"/>
              </a:spcBef>
              <a:spcAft>
                <a:spcPts val="0"/>
              </a:spcAft>
              <a:defRPr sz="1620" b="0">
                <a:solidFill>
                  <a:srgbClr val="65738C"/>
                </a:solidFill>
                <a:latin typeface="DejaVu Sans"/>
              </a:defRPr>
            </a:pPr>
            <a:r>
              <a:t>Schema + evidence IDs</a:t>
            </a:r>
          </a:p>
        </p:txBody>
      </p:sp>
      <p:cxnSp>
        <p:nvCxnSpPr>
          <p:cNvPr id="68" name="Connector 67"/>
          <p:cNvCxnSpPr/>
          <p:nvPr/>
        </p:nvCxnSpPr>
        <p:spPr>
          <a:xfrm>
            <a:off x="4541520" y="5638800"/>
            <a:ext cx="3108960" cy="0"/>
          </a:xfrm>
          <a:prstGeom prst="line">
            <a:avLst/>
          </a:prstGeom>
          <a:ln w="45719">
            <a:solidFill>
              <a:srgbClr val="168575"/>
            </a:solidFill>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8138160" y="3977639"/>
            <a:ext cx="3566160" cy="1874519"/>
          </a:xfrm>
          <a:prstGeom prst="roundRect">
            <a:avLst>
              <a:gd name="adj" fmla="val 894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8420100" y="4198620"/>
            <a:ext cx="502920" cy="502920"/>
          </a:xfrm>
          <a:prstGeom prst="ellipse">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Connector 70"/>
          <p:cNvCxnSpPr/>
          <p:nvPr/>
        </p:nvCxnSpPr>
        <p:spPr>
          <a:xfrm flipV="1">
            <a:off x="8671560" y="4267200"/>
            <a:ext cx="0" cy="18288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671560" y="4450080"/>
            <a:ext cx="144780" cy="60960"/>
          </a:xfrm>
          <a:prstGeom prst="line">
            <a:avLst/>
          </a:prstGeom>
          <a:ln w="30480">
            <a:solidFill>
              <a:srgbClr val="7051E8"/>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9227820" y="4267200"/>
            <a:ext cx="2339340" cy="350520"/>
          </a:xfrm>
          <a:prstGeom prst="rect">
            <a:avLst/>
          </a:prstGeom>
          <a:noFill/>
        </p:spPr>
        <p:txBody>
          <a:bodyPr wrap="none" lIns="0" rIns="0" tIns="0" bIns="0">
            <a:spAutoFit/>
          </a:bodyPr>
          <a:lstStyle/>
          <a:p>
            <a:pPr>
              <a:lnSpc>
                <a:spcPts val="2400"/>
              </a:lnSpc>
              <a:spcBef>
                <a:spcPts val="0"/>
              </a:spcBef>
              <a:spcAft>
                <a:spcPts val="0"/>
              </a:spcAft>
              <a:defRPr sz="1920" b="1">
                <a:solidFill>
                  <a:srgbClr val="14213B"/>
                </a:solidFill>
                <a:latin typeface="DejaVu Sans"/>
              </a:defRPr>
            </a:pPr>
            <a:r>
              <a:t>Quota</a:t>
            </a:r>
          </a:p>
        </p:txBody>
      </p:sp>
      <p:sp>
        <p:nvSpPr>
          <p:cNvPr id="74" name="TextBox 73"/>
          <p:cNvSpPr txBox="1"/>
          <p:nvPr/>
        </p:nvSpPr>
        <p:spPr>
          <a:xfrm>
            <a:off x="8366760" y="5135880"/>
            <a:ext cx="3162300" cy="302895"/>
          </a:xfrm>
          <a:prstGeom prst="rect">
            <a:avLst/>
          </a:prstGeom>
          <a:noFill/>
        </p:spPr>
        <p:txBody>
          <a:bodyPr wrap="none" lIns="0" rIns="0" tIns="0" bIns="0">
            <a:spAutoFit/>
          </a:bodyPr>
          <a:lstStyle/>
          <a:p>
            <a:pPr>
              <a:lnSpc>
                <a:spcPts val="2025"/>
              </a:lnSpc>
              <a:spcBef>
                <a:spcPts val="0"/>
              </a:spcBef>
              <a:spcAft>
                <a:spcPts val="0"/>
              </a:spcAft>
              <a:defRPr sz="1620" b="0">
                <a:solidFill>
                  <a:srgbClr val="65738C"/>
                </a:solidFill>
                <a:latin typeface="DejaVu Sans"/>
              </a:defRPr>
            </a:pPr>
            <a:r>
              <a:t>Feature gate + Redis</a:t>
            </a:r>
          </a:p>
        </p:txBody>
      </p:sp>
      <p:cxnSp>
        <p:nvCxnSpPr>
          <p:cNvPr id="75" name="Connector 74"/>
          <p:cNvCxnSpPr/>
          <p:nvPr/>
        </p:nvCxnSpPr>
        <p:spPr>
          <a:xfrm>
            <a:off x="8366760" y="5638800"/>
            <a:ext cx="3108960" cy="0"/>
          </a:xfrm>
          <a:prstGeom prst="line">
            <a:avLst/>
          </a:prstGeom>
          <a:ln w="45719">
            <a:solidFill>
              <a:srgbClr val="16857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167640"/>
          </a:xfrm>
          <a:prstGeom prst="rect">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7680" y="373380"/>
            <a:ext cx="69113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65738C"/>
                </a:solidFill>
                <a:latin typeface="DejaVu Sans"/>
              </a:defRPr>
            </a:pPr>
            <a:r>
              <a:t>OPSREPLAY / INCIDENT REPLAY</a:t>
            </a:r>
          </a:p>
        </p:txBody>
      </p:sp>
      <p:sp>
        <p:nvSpPr>
          <p:cNvPr id="5" name="TextBox 4"/>
          <p:cNvSpPr txBox="1"/>
          <p:nvPr/>
        </p:nvSpPr>
        <p:spPr>
          <a:xfrm>
            <a:off x="487680" y="853440"/>
            <a:ext cx="11254740" cy="541020"/>
          </a:xfrm>
          <a:prstGeom prst="rect">
            <a:avLst/>
          </a:prstGeom>
          <a:noFill/>
        </p:spPr>
        <p:txBody>
          <a:bodyPr wrap="none" lIns="0" rIns="0" tIns="0" bIns="0">
            <a:spAutoFit/>
          </a:bodyPr>
          <a:lstStyle/>
          <a:p>
            <a:pPr>
              <a:lnSpc>
                <a:spcPts val="3900"/>
              </a:lnSpc>
              <a:spcBef>
                <a:spcPts val="0"/>
              </a:spcBef>
              <a:spcAft>
                <a:spcPts val="0"/>
              </a:spcAft>
              <a:defRPr sz="3120" b="1">
                <a:solidFill>
                  <a:srgbClr val="14213B"/>
                </a:solidFill>
                <a:latin typeface="DejaVu Sans"/>
              </a:defRPr>
            </a:pPr>
            <a:r>
              <a:t>Demo: replay one device going offline.</a:t>
            </a:r>
          </a:p>
        </p:txBody>
      </p:sp>
      <p:sp>
        <p:nvSpPr>
          <p:cNvPr id="6" name="TextBox 5"/>
          <p:cNvSpPr txBox="1"/>
          <p:nvPr/>
        </p:nvSpPr>
        <p:spPr>
          <a:xfrm>
            <a:off x="502920" y="1394460"/>
            <a:ext cx="11102340" cy="274320"/>
          </a:xfrm>
          <a:prstGeom prst="rect">
            <a:avLst/>
          </a:prstGeom>
          <a:noFill/>
        </p:spPr>
        <p:txBody>
          <a:bodyPr wrap="none" lIns="0" rIns="0" tIns="0" bIns="0">
            <a:spAutoFit/>
          </a:bodyPr>
          <a:lstStyle/>
          <a:p>
            <a:pPr>
              <a:lnSpc>
                <a:spcPts val="1800"/>
              </a:lnSpc>
              <a:spcBef>
                <a:spcPts val="0"/>
              </a:spcBef>
              <a:spcAft>
                <a:spcPts val="0"/>
              </a:spcAft>
              <a:defRPr sz="1439" b="0">
                <a:solidFill>
                  <a:srgbClr val="65738C"/>
                </a:solidFill>
                <a:latin typeface="DejaVu Sans"/>
              </a:defRPr>
            </a:pPr>
            <a:r>
              <a:t>Recorded successful request · Source: IoT · Severity: Critical</a:t>
            </a:r>
          </a:p>
        </p:txBody>
      </p:sp>
      <p:cxnSp>
        <p:nvCxnSpPr>
          <p:cNvPr id="7" name="Connector 6"/>
          <p:cNvCxnSpPr/>
          <p:nvPr/>
        </p:nvCxnSpPr>
        <p:spPr>
          <a:xfrm>
            <a:off x="487680" y="6217920"/>
            <a:ext cx="11216640" cy="0"/>
          </a:xfrm>
          <a:prstGeom prst="line">
            <a:avLst/>
          </a:prstGeom>
          <a:ln w="15240">
            <a:solidFill>
              <a:srgbClr val="DCE1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87680" y="6385560"/>
            <a:ext cx="8435340" cy="226695"/>
          </a:xfrm>
          <a:prstGeom prst="rect">
            <a:avLst/>
          </a:prstGeom>
          <a:noFill/>
        </p:spPr>
        <p:txBody>
          <a:bodyPr wrap="none" lIns="0" rIns="0" tIns="0" bIns="0">
            <a:spAutoFit/>
          </a:bodyPr>
          <a:lstStyle/>
          <a:p>
            <a:pPr>
              <a:lnSpc>
                <a:spcPts val="1425"/>
              </a:lnSpc>
              <a:spcBef>
                <a:spcPts val="0"/>
              </a:spcBef>
              <a:spcAft>
                <a:spcPts val="0"/>
              </a:spcAft>
              <a:defRPr sz="1140" b="0">
                <a:solidFill>
                  <a:srgbClr val="65738C"/>
                </a:solidFill>
                <a:latin typeface="DejaVu Sans"/>
              </a:defRPr>
            </a:pPr>
            <a:r>
              <a:t>SIMULATED IoT · Replay · Evidence</a:t>
            </a:r>
          </a:p>
        </p:txBody>
      </p:sp>
      <p:sp>
        <p:nvSpPr>
          <p:cNvPr id="9" name="TextBox 8"/>
          <p:cNvSpPr txBox="1"/>
          <p:nvPr/>
        </p:nvSpPr>
        <p:spPr>
          <a:xfrm>
            <a:off x="10515600" y="6370320"/>
            <a:ext cx="1272540" cy="255270"/>
          </a:xfrm>
          <a:prstGeom prst="rect">
            <a:avLst/>
          </a:prstGeom>
          <a:noFill/>
        </p:spPr>
        <p:txBody>
          <a:bodyPr wrap="none" lIns="0" rIns="0" tIns="0" bIns="0">
            <a:spAutoFit/>
          </a:bodyPr>
          <a:lstStyle/>
          <a:p>
            <a:pPr>
              <a:lnSpc>
                <a:spcPts val="1650"/>
              </a:lnSpc>
              <a:spcBef>
                <a:spcPts val="0"/>
              </a:spcBef>
              <a:spcAft>
                <a:spcPts val="0"/>
              </a:spcAft>
              <a:defRPr sz="1320" b="1">
                <a:solidFill>
                  <a:srgbClr val="7051E8"/>
                </a:solidFill>
                <a:latin typeface="DejaVu Sans"/>
              </a:defRPr>
            </a:pPr>
            <a:r>
              <a:t>06 / 09</a:t>
            </a:r>
          </a:p>
        </p:txBody>
      </p:sp>
      <p:sp>
        <p:nvSpPr>
          <p:cNvPr id="10" name="Rounded Rectangle 9"/>
          <p:cNvSpPr/>
          <p:nvPr/>
        </p:nvSpPr>
        <p:spPr>
          <a:xfrm>
            <a:off x="487680" y="1905000"/>
            <a:ext cx="11216640" cy="3375660"/>
          </a:xfrm>
          <a:prstGeom prst="roundRect">
            <a:avLst>
              <a:gd name="adj" fmla="val 4966"/>
            </a:avLst>
          </a:prstGeom>
          <a:solidFill>
            <a:srgbClr val="1421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62000" y="2118360"/>
            <a:ext cx="1920240" cy="335280"/>
          </a:xfrm>
          <a:prstGeom prst="roundRect">
            <a:avLst>
              <a:gd name="adj" fmla="val 25000"/>
            </a:avLst>
          </a:prstGeom>
          <a:solidFill>
            <a:srgbClr val="E9E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9160" y="2179320"/>
            <a:ext cx="174498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7051E8"/>
                </a:solidFill>
                <a:latin typeface="DejaVu Sans"/>
              </a:defRPr>
            </a:pPr>
            <a:r>
              <a:t>SIMULATED</a:t>
            </a:r>
          </a:p>
        </p:txBody>
      </p:sp>
      <p:sp>
        <p:nvSpPr>
          <p:cNvPr id="13" name="TextBox 12"/>
          <p:cNvSpPr txBox="1"/>
          <p:nvPr/>
        </p:nvSpPr>
        <p:spPr>
          <a:xfrm>
            <a:off x="7315200" y="2194560"/>
            <a:ext cx="4168140" cy="321945"/>
          </a:xfrm>
          <a:prstGeom prst="rect">
            <a:avLst/>
          </a:prstGeom>
          <a:noFill/>
        </p:spPr>
        <p:txBody>
          <a:bodyPr wrap="none" lIns="0" rIns="0" tIns="0" bIns="0">
            <a:spAutoFit/>
          </a:bodyPr>
          <a:lstStyle/>
          <a:p>
            <a:pPr>
              <a:lnSpc>
                <a:spcPts val="2175"/>
              </a:lnSpc>
              <a:spcBef>
                <a:spcPts val="0"/>
              </a:spcBef>
              <a:spcAft>
                <a:spcPts val="0"/>
              </a:spcAft>
              <a:defRPr sz="1739" b="1">
                <a:solidFill>
                  <a:srgbClr val="FFFFFF"/>
                </a:solidFill>
                <a:latin typeface="DejaVu Sans"/>
              </a:defRPr>
            </a:pPr>
            <a:r>
              <a:t>sim-plug-01 / 230 V</a:t>
            </a:r>
          </a:p>
        </p:txBody>
      </p:sp>
      <p:cxnSp>
        <p:nvCxnSpPr>
          <p:cNvPr id="14" name="Connector 13"/>
          <p:cNvCxnSpPr/>
          <p:nvPr/>
        </p:nvCxnSpPr>
        <p:spPr>
          <a:xfrm>
            <a:off x="1752600" y="3992879"/>
            <a:ext cx="8572500" cy="0"/>
          </a:xfrm>
          <a:prstGeom prst="line">
            <a:avLst/>
          </a:prstGeom>
          <a:ln w="60960">
            <a:solidFill>
              <a:srgbClr val="6F7B97"/>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874519" y="3848099"/>
            <a:ext cx="289560" cy="289560"/>
          </a:xfrm>
          <a:prstGeom prst="ellipse">
            <a:avLst/>
          </a:prstGeom>
          <a:solidFill>
            <a:srgbClr val="168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200" y="3048000"/>
            <a:ext cx="2644140" cy="560070"/>
          </a:xfrm>
          <a:prstGeom prst="rect">
            <a:avLst/>
          </a:prstGeom>
          <a:noFill/>
        </p:spPr>
        <p:txBody>
          <a:bodyPr wrap="none" lIns="0" rIns="0" tIns="0" bIns="0">
            <a:spAutoFit/>
          </a:bodyPr>
          <a:lstStyle/>
          <a:p>
            <a:pPr>
              <a:lnSpc>
                <a:spcPts val="4050"/>
              </a:lnSpc>
              <a:spcBef>
                <a:spcPts val="0"/>
              </a:spcBef>
              <a:spcAft>
                <a:spcPts val="0"/>
              </a:spcAft>
              <a:defRPr sz="3240" b="1">
                <a:solidFill>
                  <a:srgbClr val="FFFFFF"/>
                </a:solidFill>
                <a:latin typeface="DejaVu Sans"/>
              </a:defRPr>
            </a:pPr>
            <a:r>
              <a:t>1850 W</a:t>
            </a:r>
          </a:p>
        </p:txBody>
      </p:sp>
      <p:sp>
        <p:nvSpPr>
          <p:cNvPr id="17" name="TextBox 16"/>
          <p:cNvSpPr txBox="1"/>
          <p:nvPr/>
        </p:nvSpPr>
        <p:spPr>
          <a:xfrm>
            <a:off x="777240" y="4396740"/>
            <a:ext cx="2758440" cy="293370"/>
          </a:xfrm>
          <a:prstGeom prst="rect">
            <a:avLst/>
          </a:prstGeom>
          <a:noFill/>
        </p:spPr>
        <p:txBody>
          <a:bodyPr wrap="none" lIns="0" rIns="0" tIns="0" bIns="0">
            <a:spAutoFit/>
          </a:bodyPr>
          <a:lstStyle/>
          <a:p>
            <a:pPr>
              <a:lnSpc>
                <a:spcPts val="1950"/>
              </a:lnSpc>
              <a:spcBef>
                <a:spcPts val="0"/>
              </a:spcBef>
              <a:spcAft>
                <a:spcPts val="0"/>
              </a:spcAft>
              <a:defRPr sz="1560" b="0">
                <a:solidFill>
                  <a:srgbClr val="D7DDED"/>
                </a:solidFill>
                <a:latin typeface="DejaVu Sans"/>
              </a:defRPr>
            </a:pPr>
            <a:r>
              <a:t>09:01:45 UTC</a:t>
            </a:r>
          </a:p>
        </p:txBody>
      </p:sp>
      <p:sp>
        <p:nvSpPr>
          <p:cNvPr id="18" name="Oval 17"/>
          <p:cNvSpPr/>
          <p:nvPr/>
        </p:nvSpPr>
        <p:spPr>
          <a:xfrm>
            <a:off x="5951220" y="3848099"/>
            <a:ext cx="289560" cy="289560"/>
          </a:xfrm>
          <a:prstGeom prst="ellipse">
            <a:avLst/>
          </a:prstGeom>
          <a:solidFill>
            <a:srgbClr val="168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14900" y="3048000"/>
            <a:ext cx="2644140" cy="560070"/>
          </a:xfrm>
          <a:prstGeom prst="rect">
            <a:avLst/>
          </a:prstGeom>
          <a:noFill/>
        </p:spPr>
        <p:txBody>
          <a:bodyPr wrap="none" lIns="0" rIns="0" tIns="0" bIns="0">
            <a:spAutoFit/>
          </a:bodyPr>
          <a:lstStyle/>
          <a:p>
            <a:pPr>
              <a:lnSpc>
                <a:spcPts val="4050"/>
              </a:lnSpc>
              <a:spcBef>
                <a:spcPts val="0"/>
              </a:spcBef>
              <a:spcAft>
                <a:spcPts val="0"/>
              </a:spcAft>
              <a:defRPr sz="3240" b="1">
                <a:solidFill>
                  <a:srgbClr val="FFFFFF"/>
                </a:solidFill>
                <a:latin typeface="DejaVu Sans"/>
              </a:defRPr>
            </a:pPr>
            <a:r>
              <a:t>1720 W</a:t>
            </a:r>
          </a:p>
        </p:txBody>
      </p:sp>
      <p:sp>
        <p:nvSpPr>
          <p:cNvPr id="20" name="TextBox 19"/>
          <p:cNvSpPr txBox="1"/>
          <p:nvPr/>
        </p:nvSpPr>
        <p:spPr>
          <a:xfrm>
            <a:off x="4853940" y="4396740"/>
            <a:ext cx="2758440" cy="293370"/>
          </a:xfrm>
          <a:prstGeom prst="rect">
            <a:avLst/>
          </a:prstGeom>
          <a:noFill/>
        </p:spPr>
        <p:txBody>
          <a:bodyPr wrap="none" lIns="0" rIns="0" tIns="0" bIns="0">
            <a:spAutoFit/>
          </a:bodyPr>
          <a:lstStyle/>
          <a:p>
            <a:pPr>
              <a:lnSpc>
                <a:spcPts val="1950"/>
              </a:lnSpc>
              <a:spcBef>
                <a:spcPts val="0"/>
              </a:spcBef>
              <a:spcAft>
                <a:spcPts val="0"/>
              </a:spcAft>
              <a:defRPr sz="1560" b="0">
                <a:solidFill>
                  <a:srgbClr val="D7DDED"/>
                </a:solidFill>
                <a:latin typeface="DejaVu Sans"/>
              </a:defRPr>
            </a:pPr>
            <a:r>
              <a:t>09:01:50 UTC</a:t>
            </a:r>
          </a:p>
        </p:txBody>
      </p:sp>
      <p:sp>
        <p:nvSpPr>
          <p:cNvPr id="21" name="Oval 20"/>
          <p:cNvSpPr/>
          <p:nvPr/>
        </p:nvSpPr>
        <p:spPr>
          <a:xfrm>
            <a:off x="10027920" y="3848099"/>
            <a:ext cx="289560" cy="289560"/>
          </a:xfrm>
          <a:prstGeom prst="ellipse">
            <a:avLst/>
          </a:prstGeom>
          <a:solidFill>
            <a:srgbClr val="AE6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91600" y="3048000"/>
            <a:ext cx="2644140" cy="560070"/>
          </a:xfrm>
          <a:prstGeom prst="rect">
            <a:avLst/>
          </a:prstGeom>
          <a:noFill/>
        </p:spPr>
        <p:txBody>
          <a:bodyPr wrap="none" lIns="0" rIns="0" tIns="0" bIns="0">
            <a:spAutoFit/>
          </a:bodyPr>
          <a:lstStyle/>
          <a:p>
            <a:pPr>
              <a:lnSpc>
                <a:spcPts val="4050"/>
              </a:lnSpc>
              <a:spcBef>
                <a:spcPts val="0"/>
              </a:spcBef>
              <a:spcAft>
                <a:spcPts val="0"/>
              </a:spcAft>
              <a:defRPr sz="3240" b="1">
                <a:solidFill>
                  <a:srgbClr val="FFFFFF"/>
                </a:solidFill>
                <a:latin typeface="DejaVu Sans"/>
              </a:defRPr>
            </a:pPr>
            <a:r>
              <a:t>offline</a:t>
            </a:r>
          </a:p>
        </p:txBody>
      </p:sp>
      <p:sp>
        <p:nvSpPr>
          <p:cNvPr id="23" name="TextBox 22"/>
          <p:cNvSpPr txBox="1"/>
          <p:nvPr/>
        </p:nvSpPr>
        <p:spPr>
          <a:xfrm>
            <a:off x="8930640" y="4396740"/>
            <a:ext cx="2758440" cy="293370"/>
          </a:xfrm>
          <a:prstGeom prst="rect">
            <a:avLst/>
          </a:prstGeom>
          <a:noFill/>
        </p:spPr>
        <p:txBody>
          <a:bodyPr wrap="none" lIns="0" rIns="0" tIns="0" bIns="0">
            <a:spAutoFit/>
          </a:bodyPr>
          <a:lstStyle/>
          <a:p>
            <a:pPr>
              <a:lnSpc>
                <a:spcPts val="1950"/>
              </a:lnSpc>
              <a:spcBef>
                <a:spcPts val="0"/>
              </a:spcBef>
              <a:spcAft>
                <a:spcPts val="0"/>
              </a:spcAft>
              <a:defRPr sz="1560" b="0">
                <a:solidFill>
                  <a:srgbClr val="D7DDED"/>
                </a:solidFill>
                <a:latin typeface="DejaVu Sans"/>
              </a:defRPr>
            </a:pPr>
            <a:r>
              <a:t>09:03:00 UTC</a:t>
            </a:r>
          </a:p>
        </p:txBody>
      </p:sp>
      <p:sp>
        <p:nvSpPr>
          <p:cNvPr id="24" name="Rounded Rectangle 23"/>
          <p:cNvSpPr/>
          <p:nvPr/>
        </p:nvSpPr>
        <p:spPr>
          <a:xfrm>
            <a:off x="487680" y="5516880"/>
            <a:ext cx="3162300" cy="335280"/>
          </a:xfrm>
          <a:prstGeom prst="roundRect">
            <a:avLst>
              <a:gd name="adj" fmla="val 25000"/>
            </a:avLst>
          </a:prstGeom>
          <a:solidFill>
            <a:srgbClr val="DD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 y="5577840"/>
            <a:ext cx="29870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168575"/>
                </a:solidFill>
                <a:latin typeface="DejaVu Sans"/>
              </a:defRPr>
            </a:pPr>
            <a:r>
              <a:t>3 SIMULATED EVENTS</a:t>
            </a:r>
          </a:p>
        </p:txBody>
      </p:sp>
      <p:sp>
        <p:nvSpPr>
          <p:cNvPr id="26" name="Rounded Rectangle 25"/>
          <p:cNvSpPr/>
          <p:nvPr/>
        </p:nvSpPr>
        <p:spPr>
          <a:xfrm>
            <a:off x="3870960" y="5516880"/>
            <a:ext cx="2743200" cy="335280"/>
          </a:xfrm>
          <a:prstGeom prst="roundRect">
            <a:avLst>
              <a:gd name="adj" fmla="val 25000"/>
            </a:avLst>
          </a:prstGeom>
          <a:solidFill>
            <a:srgbClr val="E9E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08120" y="5577840"/>
            <a:ext cx="25679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7051E8"/>
                </a:solidFill>
                <a:latin typeface="DejaVu Sans"/>
              </a:defRPr>
            </a:pPr>
            <a:r>
              <a:t>0 GITHUB EVENTS</a:t>
            </a:r>
          </a:p>
        </p:txBody>
      </p:sp>
      <p:sp>
        <p:nvSpPr>
          <p:cNvPr id="28" name="Rounded Rectangle 27"/>
          <p:cNvSpPr/>
          <p:nvPr/>
        </p:nvSpPr>
        <p:spPr>
          <a:xfrm>
            <a:off x="6835140" y="5516880"/>
            <a:ext cx="4869180" cy="335280"/>
          </a:xfrm>
          <a:prstGeom prst="roundRect">
            <a:avLst>
              <a:gd name="adj" fmla="val 25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72300" y="5577840"/>
            <a:ext cx="469392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65738C"/>
                </a:solidFill>
                <a:latin typeface="DejaVu Sans"/>
              </a:defRPr>
            </a:pPr>
            <a:r>
              <a:t>Demo Time Alignment: OFF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167640"/>
          </a:xfrm>
          <a:prstGeom prst="rect">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7680" y="373380"/>
            <a:ext cx="69113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65738C"/>
                </a:solidFill>
                <a:latin typeface="DejaVu Sans"/>
              </a:defRPr>
            </a:pPr>
            <a:r>
              <a:t>OPSREPLAY / INCIDENT REPLAY</a:t>
            </a:r>
          </a:p>
        </p:txBody>
      </p:sp>
      <p:sp>
        <p:nvSpPr>
          <p:cNvPr id="5" name="TextBox 4"/>
          <p:cNvSpPr txBox="1"/>
          <p:nvPr/>
        </p:nvSpPr>
        <p:spPr>
          <a:xfrm>
            <a:off x="487680" y="853440"/>
            <a:ext cx="11254740" cy="541020"/>
          </a:xfrm>
          <a:prstGeom prst="rect">
            <a:avLst/>
          </a:prstGeom>
          <a:noFill/>
        </p:spPr>
        <p:txBody>
          <a:bodyPr wrap="none" lIns="0" rIns="0" tIns="0" bIns="0">
            <a:spAutoFit/>
          </a:bodyPr>
          <a:lstStyle/>
          <a:p>
            <a:pPr>
              <a:lnSpc>
                <a:spcPts val="3900"/>
              </a:lnSpc>
              <a:spcBef>
                <a:spcPts val="0"/>
              </a:spcBef>
              <a:spcAft>
                <a:spcPts val="0"/>
              </a:spcAft>
              <a:defRPr sz="3120" b="1">
                <a:solidFill>
                  <a:srgbClr val="14213B"/>
                </a:solidFill>
                <a:latin typeface="DejaVu Sans"/>
              </a:defRPr>
            </a:pPr>
            <a:r>
              <a:t>The saved AI result is inspectable.</a:t>
            </a:r>
          </a:p>
        </p:txBody>
      </p:sp>
      <p:sp>
        <p:nvSpPr>
          <p:cNvPr id="6" name="TextBox 5"/>
          <p:cNvSpPr txBox="1"/>
          <p:nvPr/>
        </p:nvSpPr>
        <p:spPr>
          <a:xfrm>
            <a:off x="502920" y="1394460"/>
            <a:ext cx="11102340" cy="274320"/>
          </a:xfrm>
          <a:prstGeom prst="rect">
            <a:avLst/>
          </a:prstGeom>
          <a:noFill/>
        </p:spPr>
        <p:txBody>
          <a:bodyPr wrap="none" lIns="0" rIns="0" tIns="0" bIns="0">
            <a:spAutoFit/>
          </a:bodyPr>
          <a:lstStyle/>
          <a:p>
            <a:pPr>
              <a:lnSpc>
                <a:spcPts val="1800"/>
              </a:lnSpc>
              <a:spcBef>
                <a:spcPts val="0"/>
              </a:spcBef>
              <a:spcAft>
                <a:spcPts val="0"/>
              </a:spcAft>
              <a:defRPr sz="1439" b="0">
                <a:solidFill>
                  <a:srgbClr val="65738C"/>
                </a:solidFill>
                <a:latin typeface="DejaVu Sans"/>
              </a:defRPr>
            </a:pPr>
            <a:r>
              <a:t>Protected Preview · recorded result · no new live request</a:t>
            </a:r>
          </a:p>
        </p:txBody>
      </p:sp>
      <p:cxnSp>
        <p:nvCxnSpPr>
          <p:cNvPr id="7" name="Connector 6"/>
          <p:cNvCxnSpPr/>
          <p:nvPr/>
        </p:nvCxnSpPr>
        <p:spPr>
          <a:xfrm>
            <a:off x="487680" y="6217920"/>
            <a:ext cx="11216640" cy="0"/>
          </a:xfrm>
          <a:prstGeom prst="line">
            <a:avLst/>
          </a:prstGeom>
          <a:ln w="15240">
            <a:solidFill>
              <a:srgbClr val="DCE1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87680" y="6385560"/>
            <a:ext cx="8435340" cy="226695"/>
          </a:xfrm>
          <a:prstGeom prst="rect">
            <a:avLst/>
          </a:prstGeom>
          <a:noFill/>
        </p:spPr>
        <p:txBody>
          <a:bodyPr wrap="none" lIns="0" rIns="0" tIns="0" bIns="0">
            <a:spAutoFit/>
          </a:bodyPr>
          <a:lstStyle/>
          <a:p>
            <a:pPr>
              <a:lnSpc>
                <a:spcPts val="1425"/>
              </a:lnSpc>
              <a:spcBef>
                <a:spcPts val="0"/>
              </a:spcBef>
              <a:spcAft>
                <a:spcPts val="0"/>
              </a:spcAft>
              <a:defRPr sz="1140" b="0">
                <a:solidFill>
                  <a:srgbClr val="65738C"/>
                </a:solidFill>
                <a:latin typeface="DejaVu Sans"/>
              </a:defRPr>
            </a:pPr>
            <a:r>
              <a:t>SIMULATED IoT · Replay · Evidence</a:t>
            </a:r>
          </a:p>
        </p:txBody>
      </p:sp>
      <p:sp>
        <p:nvSpPr>
          <p:cNvPr id="9" name="TextBox 8"/>
          <p:cNvSpPr txBox="1"/>
          <p:nvPr/>
        </p:nvSpPr>
        <p:spPr>
          <a:xfrm>
            <a:off x="10515600" y="6370320"/>
            <a:ext cx="1272540" cy="255270"/>
          </a:xfrm>
          <a:prstGeom prst="rect">
            <a:avLst/>
          </a:prstGeom>
          <a:noFill/>
        </p:spPr>
        <p:txBody>
          <a:bodyPr wrap="none" lIns="0" rIns="0" tIns="0" bIns="0">
            <a:spAutoFit/>
          </a:bodyPr>
          <a:lstStyle/>
          <a:p>
            <a:pPr>
              <a:lnSpc>
                <a:spcPts val="1650"/>
              </a:lnSpc>
              <a:spcBef>
                <a:spcPts val="0"/>
              </a:spcBef>
              <a:spcAft>
                <a:spcPts val="0"/>
              </a:spcAft>
              <a:defRPr sz="1320" b="1">
                <a:solidFill>
                  <a:srgbClr val="7051E8"/>
                </a:solidFill>
                <a:latin typeface="DejaVu Sans"/>
              </a:defRPr>
            </a:pPr>
            <a:r>
              <a:t>07 / 09</a:t>
            </a:r>
          </a:p>
        </p:txBody>
      </p:sp>
      <p:sp>
        <p:nvSpPr>
          <p:cNvPr id="10" name="Rounded Rectangle 9"/>
          <p:cNvSpPr/>
          <p:nvPr/>
        </p:nvSpPr>
        <p:spPr>
          <a:xfrm>
            <a:off x="487680" y="1882139"/>
            <a:ext cx="2819400" cy="4114800"/>
          </a:xfrm>
          <a:prstGeom prst="roundRect">
            <a:avLst>
              <a:gd name="adj" fmla="val 5945"/>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66160" y="1882139"/>
            <a:ext cx="8138160" cy="1127760"/>
          </a:xfrm>
          <a:prstGeom prst="roundRect">
            <a:avLst>
              <a:gd name="adj" fmla="val 14864"/>
            </a:avLst>
          </a:prstGeom>
          <a:solidFill>
            <a:srgbClr val="1421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10000" y="2034540"/>
            <a:ext cx="2415540" cy="588645"/>
          </a:xfrm>
          <a:prstGeom prst="rect">
            <a:avLst/>
          </a:prstGeom>
          <a:noFill/>
        </p:spPr>
        <p:txBody>
          <a:bodyPr wrap="none" lIns="0" rIns="0" tIns="0" bIns="0">
            <a:spAutoFit/>
          </a:bodyPr>
          <a:lstStyle/>
          <a:p>
            <a:pPr>
              <a:lnSpc>
                <a:spcPts val="4275"/>
              </a:lnSpc>
              <a:spcBef>
                <a:spcPts val="0"/>
              </a:spcBef>
              <a:spcAft>
                <a:spcPts val="0"/>
              </a:spcAft>
              <a:defRPr sz="3419" b="1">
                <a:solidFill>
                  <a:srgbClr val="FFFFFF"/>
                </a:solidFill>
                <a:latin typeface="DejaVu Sans"/>
              </a:defRPr>
            </a:pPr>
            <a:r>
              <a:t>3</a:t>
            </a:r>
          </a:p>
        </p:txBody>
      </p:sp>
      <p:sp>
        <p:nvSpPr>
          <p:cNvPr id="13" name="TextBox 12"/>
          <p:cNvSpPr txBox="1"/>
          <p:nvPr/>
        </p:nvSpPr>
        <p:spPr>
          <a:xfrm>
            <a:off x="3810000" y="2606040"/>
            <a:ext cx="2415540" cy="264795"/>
          </a:xfrm>
          <a:prstGeom prst="rect">
            <a:avLst/>
          </a:prstGeom>
          <a:noFill/>
        </p:spPr>
        <p:txBody>
          <a:bodyPr wrap="none" lIns="0" rIns="0" tIns="0" bIns="0">
            <a:spAutoFit/>
          </a:bodyPr>
          <a:lstStyle/>
          <a:p>
            <a:pPr>
              <a:lnSpc>
                <a:spcPts val="1725"/>
              </a:lnSpc>
              <a:spcBef>
                <a:spcPts val="0"/>
              </a:spcBef>
              <a:spcAft>
                <a:spcPts val="0"/>
              </a:spcAft>
              <a:defRPr sz="1380" b="0">
                <a:solidFill>
                  <a:srgbClr val="C4CDE2"/>
                </a:solidFill>
                <a:latin typeface="DejaVu Sans"/>
              </a:defRPr>
            </a:pPr>
            <a:r>
              <a:t>events</a:t>
            </a:r>
          </a:p>
        </p:txBody>
      </p:sp>
      <p:sp>
        <p:nvSpPr>
          <p:cNvPr id="14" name="TextBox 13"/>
          <p:cNvSpPr txBox="1"/>
          <p:nvPr/>
        </p:nvSpPr>
        <p:spPr>
          <a:xfrm>
            <a:off x="6537960" y="2034540"/>
            <a:ext cx="2415540" cy="588645"/>
          </a:xfrm>
          <a:prstGeom prst="rect">
            <a:avLst/>
          </a:prstGeom>
          <a:noFill/>
        </p:spPr>
        <p:txBody>
          <a:bodyPr wrap="none" lIns="0" rIns="0" tIns="0" bIns="0">
            <a:spAutoFit/>
          </a:bodyPr>
          <a:lstStyle/>
          <a:p>
            <a:pPr>
              <a:lnSpc>
                <a:spcPts val="4275"/>
              </a:lnSpc>
              <a:spcBef>
                <a:spcPts val="0"/>
              </a:spcBef>
              <a:spcAft>
                <a:spcPts val="0"/>
              </a:spcAft>
              <a:defRPr sz="3419" b="1">
                <a:solidFill>
                  <a:srgbClr val="FFFFFF"/>
                </a:solidFill>
                <a:latin typeface="DejaVu Sans"/>
              </a:defRPr>
            </a:pPr>
            <a:r>
              <a:t>1</a:t>
            </a:r>
          </a:p>
        </p:txBody>
      </p:sp>
      <p:sp>
        <p:nvSpPr>
          <p:cNvPr id="15" name="TextBox 14"/>
          <p:cNvSpPr txBox="1"/>
          <p:nvPr/>
        </p:nvSpPr>
        <p:spPr>
          <a:xfrm>
            <a:off x="6537960" y="2606040"/>
            <a:ext cx="2415540" cy="264795"/>
          </a:xfrm>
          <a:prstGeom prst="rect">
            <a:avLst/>
          </a:prstGeom>
          <a:noFill/>
        </p:spPr>
        <p:txBody>
          <a:bodyPr wrap="none" lIns="0" rIns="0" tIns="0" bIns="0">
            <a:spAutoFit/>
          </a:bodyPr>
          <a:lstStyle/>
          <a:p>
            <a:pPr>
              <a:lnSpc>
                <a:spcPts val="1725"/>
              </a:lnSpc>
              <a:spcBef>
                <a:spcPts val="0"/>
              </a:spcBef>
              <a:spcAft>
                <a:spcPts val="0"/>
              </a:spcAft>
              <a:defRPr sz="1380" b="0">
                <a:solidFill>
                  <a:srgbClr val="C4CDE2"/>
                </a:solidFill>
                <a:latin typeface="DejaVu Sans"/>
              </a:defRPr>
            </a:pPr>
            <a:r>
              <a:t>attempt</a:t>
            </a:r>
          </a:p>
        </p:txBody>
      </p:sp>
      <p:sp>
        <p:nvSpPr>
          <p:cNvPr id="16" name="TextBox 15"/>
          <p:cNvSpPr txBox="1"/>
          <p:nvPr/>
        </p:nvSpPr>
        <p:spPr>
          <a:xfrm>
            <a:off x="9029700" y="2034540"/>
            <a:ext cx="2415540" cy="588645"/>
          </a:xfrm>
          <a:prstGeom prst="rect">
            <a:avLst/>
          </a:prstGeom>
          <a:noFill/>
        </p:spPr>
        <p:txBody>
          <a:bodyPr wrap="none" lIns="0" rIns="0" tIns="0" bIns="0">
            <a:spAutoFit/>
          </a:bodyPr>
          <a:lstStyle/>
          <a:p>
            <a:pPr>
              <a:lnSpc>
                <a:spcPts val="4275"/>
              </a:lnSpc>
              <a:spcBef>
                <a:spcPts val="0"/>
              </a:spcBef>
              <a:spcAft>
                <a:spcPts val="0"/>
              </a:spcAft>
              <a:defRPr sz="3419" b="1">
                <a:solidFill>
                  <a:srgbClr val="FFFFFF"/>
                </a:solidFill>
                <a:latin typeface="DejaVu Sans"/>
              </a:defRPr>
            </a:pPr>
            <a:r>
              <a:t>1.623 s</a:t>
            </a:r>
          </a:p>
        </p:txBody>
      </p:sp>
      <p:sp>
        <p:nvSpPr>
          <p:cNvPr id="17" name="TextBox 16"/>
          <p:cNvSpPr txBox="1"/>
          <p:nvPr/>
        </p:nvSpPr>
        <p:spPr>
          <a:xfrm>
            <a:off x="9029700" y="2606040"/>
            <a:ext cx="2415540" cy="264795"/>
          </a:xfrm>
          <a:prstGeom prst="rect">
            <a:avLst/>
          </a:prstGeom>
          <a:noFill/>
        </p:spPr>
        <p:txBody>
          <a:bodyPr wrap="none" lIns="0" rIns="0" tIns="0" bIns="0">
            <a:spAutoFit/>
          </a:bodyPr>
          <a:lstStyle/>
          <a:p>
            <a:pPr>
              <a:lnSpc>
                <a:spcPts val="1725"/>
              </a:lnSpc>
              <a:spcBef>
                <a:spcPts val="0"/>
              </a:spcBef>
              <a:spcAft>
                <a:spcPts val="0"/>
              </a:spcAft>
              <a:defRPr sz="1380" b="0">
                <a:solidFill>
                  <a:srgbClr val="C4CDE2"/>
                </a:solidFill>
                <a:latin typeface="DejaVu Sans"/>
              </a:defRPr>
            </a:pPr>
            <a:r>
              <a:t>provider stage</a:t>
            </a:r>
          </a:p>
        </p:txBody>
      </p:sp>
      <p:sp>
        <p:nvSpPr>
          <p:cNvPr id="18" name="Rounded Rectangle 17"/>
          <p:cNvSpPr/>
          <p:nvPr/>
        </p:nvSpPr>
        <p:spPr>
          <a:xfrm>
            <a:off x="3566160" y="3208020"/>
            <a:ext cx="8138160" cy="1653540"/>
          </a:xfrm>
          <a:prstGeom prst="roundRect">
            <a:avLst>
              <a:gd name="adj" fmla="val 1013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810000" y="3406140"/>
            <a:ext cx="3413760" cy="335280"/>
          </a:xfrm>
          <a:prstGeom prst="roundRect">
            <a:avLst>
              <a:gd name="adj" fmla="val 25000"/>
            </a:avLst>
          </a:prstGeom>
          <a:solidFill>
            <a:srgbClr val="E9E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47160" y="3467100"/>
            <a:ext cx="323850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7051E8"/>
                </a:solidFill>
                <a:latin typeface="DejaVu Sans"/>
              </a:defRPr>
            </a:pPr>
            <a:r>
              <a:t>Hypotheses (unconfirmed)</a:t>
            </a:r>
          </a:p>
        </p:txBody>
      </p:sp>
      <p:sp>
        <p:nvSpPr>
          <p:cNvPr id="21" name="TextBox 20"/>
          <p:cNvSpPr txBox="1"/>
          <p:nvPr/>
        </p:nvSpPr>
        <p:spPr>
          <a:xfrm>
            <a:off x="3810000" y="3931920"/>
            <a:ext cx="7597140" cy="388620"/>
          </a:xfrm>
          <a:prstGeom prst="rect">
            <a:avLst/>
          </a:prstGeom>
          <a:noFill/>
        </p:spPr>
        <p:txBody>
          <a:bodyPr wrap="none" lIns="0" rIns="0" tIns="0" bIns="0">
            <a:spAutoFit/>
          </a:bodyPr>
          <a:lstStyle/>
          <a:p>
            <a:pPr>
              <a:lnSpc>
                <a:spcPts val="2700"/>
              </a:lnSpc>
              <a:spcBef>
                <a:spcPts val="0"/>
              </a:spcBef>
              <a:spcAft>
                <a:spcPts val="0"/>
              </a:spcAft>
              <a:defRPr sz="2160" b="1">
                <a:solidFill>
                  <a:srgbClr val="14213B"/>
                </a:solidFill>
                <a:latin typeface="DejaVu Sans"/>
              </a:defRPr>
            </a:pPr>
            <a:r>
              <a:t>Device failure or loss of connectivity</a:t>
            </a:r>
          </a:p>
        </p:txBody>
      </p:sp>
      <p:sp>
        <p:nvSpPr>
          <p:cNvPr id="22" name="Rounded Rectangle 21"/>
          <p:cNvSpPr/>
          <p:nvPr/>
        </p:nvSpPr>
        <p:spPr>
          <a:xfrm>
            <a:off x="3810000" y="4389120"/>
            <a:ext cx="2133600" cy="335280"/>
          </a:xfrm>
          <a:prstGeom prst="roundRect">
            <a:avLst>
              <a:gd name="adj" fmla="val 25000"/>
            </a:avLst>
          </a:prstGeom>
          <a:solidFill>
            <a:srgbClr val="FFF0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47160" y="4450080"/>
            <a:ext cx="19583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AE6515"/>
                </a:solidFill>
                <a:latin typeface="DejaVu Sans"/>
              </a:defRPr>
            </a:pPr>
            <a:r>
              <a:t>low confidence</a:t>
            </a:r>
          </a:p>
        </p:txBody>
      </p:sp>
      <p:sp>
        <p:nvSpPr>
          <p:cNvPr id="24" name="Rounded Rectangle 23"/>
          <p:cNvSpPr/>
          <p:nvPr/>
        </p:nvSpPr>
        <p:spPr>
          <a:xfrm>
            <a:off x="6111240" y="4389120"/>
            <a:ext cx="5242560" cy="335280"/>
          </a:xfrm>
          <a:prstGeom prst="roundRect">
            <a:avLst>
              <a:gd name="adj" fmla="val 25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8400" y="4450080"/>
            <a:ext cx="506730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65738C"/>
                </a:solidFill>
                <a:latin typeface="DejaVu Sans"/>
              </a:defRPr>
            </a:pPr>
            <a:r>
              <a:t>not a confirmed root cause</a:t>
            </a:r>
          </a:p>
        </p:txBody>
      </p:sp>
      <p:sp>
        <p:nvSpPr>
          <p:cNvPr id="26" name="Rounded Rectangle 25"/>
          <p:cNvSpPr/>
          <p:nvPr/>
        </p:nvSpPr>
        <p:spPr>
          <a:xfrm>
            <a:off x="3566160" y="5059680"/>
            <a:ext cx="8138160" cy="937259"/>
          </a:xfrm>
          <a:prstGeom prst="roundRect">
            <a:avLst>
              <a:gd name="adj" fmla="val 17886"/>
            </a:avLst>
          </a:prstGeom>
          <a:solidFill>
            <a:srgbClr val="DD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10000" y="5234940"/>
            <a:ext cx="7597140" cy="321945"/>
          </a:xfrm>
          <a:prstGeom prst="rect">
            <a:avLst/>
          </a:prstGeom>
          <a:noFill/>
        </p:spPr>
        <p:txBody>
          <a:bodyPr wrap="none" lIns="0" rIns="0" tIns="0" bIns="0">
            <a:spAutoFit/>
          </a:bodyPr>
          <a:lstStyle/>
          <a:p>
            <a:pPr>
              <a:lnSpc>
                <a:spcPts val="2175"/>
              </a:lnSpc>
              <a:spcBef>
                <a:spcPts val="0"/>
              </a:spcBef>
              <a:spcAft>
                <a:spcPts val="0"/>
              </a:spcAft>
              <a:defRPr sz="1739" b="1">
                <a:solidFill>
                  <a:srgbClr val="168575"/>
                </a:solidFill>
                <a:latin typeface="DejaVu Sans"/>
              </a:defRPr>
            </a:pPr>
            <a:r>
              <a:t>Evidence IDs checked against the submitted events.</a:t>
            </a:r>
          </a:p>
        </p:txBody>
      </p:sp>
      <p:sp>
        <p:nvSpPr>
          <p:cNvPr id="28" name="TextBox 27"/>
          <p:cNvSpPr txBox="1"/>
          <p:nvPr/>
        </p:nvSpPr>
        <p:spPr>
          <a:xfrm>
            <a:off x="3810000" y="5646420"/>
            <a:ext cx="7597140" cy="264795"/>
          </a:xfrm>
          <a:prstGeom prst="rect">
            <a:avLst/>
          </a:prstGeom>
          <a:noFill/>
        </p:spPr>
        <p:txBody>
          <a:bodyPr wrap="none" lIns="0" rIns="0" tIns="0" bIns="0">
            <a:spAutoFit/>
          </a:bodyPr>
          <a:lstStyle/>
          <a:p>
            <a:pPr>
              <a:lnSpc>
                <a:spcPts val="1725"/>
              </a:lnSpc>
              <a:spcBef>
                <a:spcPts val="0"/>
              </a:spcBef>
              <a:spcAft>
                <a:spcPts val="0"/>
              </a:spcAft>
              <a:defRPr sz="1380" b="0">
                <a:solidFill>
                  <a:srgbClr val="168575"/>
                </a:solidFill>
                <a:latin typeface="DejaVu Sans"/>
              </a:defRPr>
            </a:pPr>
            <a:r>
              <a:t>One observed result; not a latency benchmark.</a:t>
            </a:r>
          </a:p>
        </p:txBody>
      </p:sp>
      <p:sp>
        <p:nvSpPr>
          <p:cNvPr id="29" name="Freeform 28"/>
          <p:cNvSpPr/>
          <p:nvPr/>
        </p:nvSpPr>
        <p:spPr>
          <a:xfrm>
            <a:off x="1417320" y="2286000"/>
            <a:ext cx="624840" cy="685800"/>
          </a:xfrm>
          <a:custGeom>
            <a:avLst/>
            <a:gdLst/>
            <a:ahLst/>
            <a:cxnLst/>
            <a:rect l="l" t="t" r="r" b="b"/>
            <a:pathLst>
              <a:path w="82" h="90">
                <a:moveTo>
                  <a:pt x="0" y="9"/>
                </a:moveTo>
                <a:lnTo>
                  <a:pt x="41" y="0"/>
                </a:lnTo>
                <a:lnTo>
                  <a:pt x="82" y="9"/>
                </a:lnTo>
                <a:lnTo>
                  <a:pt x="73" y="64"/>
                </a:lnTo>
                <a:lnTo>
                  <a:pt x="41" y="90"/>
                </a:lnTo>
                <a:lnTo>
                  <a:pt x="9" y="64"/>
                </a:lnTo>
                <a:close/>
              </a:path>
            </a:pathLst>
          </a:cu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1580769" y="2589276"/>
            <a:ext cx="113919" cy="113919"/>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94688" y="2475357"/>
            <a:ext cx="192785" cy="227838"/>
          </a:xfrm>
          <a:prstGeom prst="line">
            <a:avLst/>
          </a:prstGeom>
          <a:ln w="35052">
            <a:solidFill>
              <a:srgbClr val="7051E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39140" y="3276600"/>
            <a:ext cx="2263140" cy="340995"/>
          </a:xfrm>
          <a:prstGeom prst="rect">
            <a:avLst/>
          </a:prstGeom>
          <a:noFill/>
        </p:spPr>
        <p:txBody>
          <a:bodyPr wrap="none" lIns="0" rIns="0" tIns="0" bIns="0">
            <a:spAutoFit/>
          </a:bodyPr>
          <a:lstStyle/>
          <a:p>
            <a:pPr>
              <a:lnSpc>
                <a:spcPts val="2325"/>
              </a:lnSpc>
              <a:spcBef>
                <a:spcPts val="0"/>
              </a:spcBef>
              <a:spcAft>
                <a:spcPts val="0"/>
              </a:spcAft>
              <a:defRPr sz="1859" b="1">
                <a:solidFill>
                  <a:srgbClr val="14213B"/>
                </a:solidFill>
                <a:latin typeface="DejaVu Sans"/>
              </a:defRPr>
            </a:pPr>
            <a:r>
              <a:t>Recorded result</a:t>
            </a:r>
          </a:p>
        </p:txBody>
      </p:sp>
      <p:sp>
        <p:nvSpPr>
          <p:cNvPr id="33" name="TextBox 32"/>
          <p:cNvSpPr txBox="1"/>
          <p:nvPr/>
        </p:nvSpPr>
        <p:spPr>
          <a:xfrm>
            <a:off x="739140" y="3810000"/>
            <a:ext cx="2263140" cy="321945"/>
          </a:xfrm>
          <a:prstGeom prst="rect">
            <a:avLst/>
          </a:prstGeom>
          <a:noFill/>
        </p:spPr>
        <p:txBody>
          <a:bodyPr wrap="none" lIns="0" rIns="0" tIns="0" bIns="0">
            <a:spAutoFit/>
          </a:bodyPr>
          <a:lstStyle/>
          <a:p>
            <a:pPr>
              <a:lnSpc>
                <a:spcPts val="2175"/>
              </a:lnSpc>
              <a:spcBef>
                <a:spcPts val="0"/>
              </a:spcBef>
              <a:spcAft>
                <a:spcPts val="0"/>
              </a:spcAft>
              <a:defRPr sz="1739" b="1">
                <a:solidFill>
                  <a:srgbClr val="168575"/>
                </a:solidFill>
                <a:latin typeface="DejaVu Sans"/>
              </a:defRPr>
            </a:pPr>
            <a:r>
              <a:t>HTTP 200</a:t>
            </a:r>
          </a:p>
        </p:txBody>
      </p:sp>
      <p:sp>
        <p:nvSpPr>
          <p:cNvPr id="34" name="TextBox 33"/>
          <p:cNvSpPr txBox="1"/>
          <p:nvPr/>
        </p:nvSpPr>
        <p:spPr>
          <a:xfrm>
            <a:off x="739140" y="4282440"/>
            <a:ext cx="2263140" cy="579120"/>
          </a:xfrm>
          <a:prstGeom prst="rect">
            <a:avLst/>
          </a:prstGeom>
          <a:noFill/>
        </p:spPr>
        <p:txBody>
          <a:bodyPr wrap="none" lIns="0" rIns="0" tIns="0" bIns="0">
            <a:spAutoFit/>
          </a:bodyPr>
          <a:lstStyle/>
          <a:p>
            <a:pPr>
              <a:lnSpc>
                <a:spcPts val="2100"/>
              </a:lnSpc>
              <a:spcBef>
                <a:spcPts val="0"/>
              </a:spcBef>
              <a:spcAft>
                <a:spcPts val="0"/>
              </a:spcAft>
              <a:defRPr sz="1680" b="0">
                <a:solidFill>
                  <a:srgbClr val="65738C"/>
                </a:solidFill>
                <a:latin typeface="DejaVu Sans"/>
              </a:defRPr>
            </a:pPr>
            <a:r>
              <a:t>Evidence IDs</a:t>
            </a:r>
          </a:p>
          <a:p>
            <a:pPr>
              <a:lnSpc>
                <a:spcPts val="2100"/>
              </a:lnSpc>
              <a:spcBef>
                <a:spcPts val="0"/>
              </a:spcBef>
              <a:spcAft>
                <a:spcPts val="0"/>
              </a:spcAft>
              <a:defRPr sz="1680" b="0">
                <a:solidFill>
                  <a:srgbClr val="65738C"/>
                </a:solidFill>
                <a:latin typeface="DejaVu Sans"/>
              </a:defRPr>
            </a:pPr>
            <a:r>
              <a:t>checked</a:t>
            </a:r>
          </a:p>
        </p:txBody>
      </p:sp>
      <p:sp>
        <p:nvSpPr>
          <p:cNvPr id="35" name="TextBox 34"/>
          <p:cNvSpPr txBox="1"/>
          <p:nvPr/>
        </p:nvSpPr>
        <p:spPr>
          <a:xfrm>
            <a:off x="739140" y="5135880"/>
            <a:ext cx="2263140" cy="483870"/>
          </a:xfrm>
          <a:prstGeom prst="rect">
            <a:avLst/>
          </a:prstGeom>
          <a:noFill/>
        </p:spPr>
        <p:txBody>
          <a:bodyPr wrap="none" lIns="0" rIns="0" tIns="0" bIns="0">
            <a:spAutoFit/>
          </a:bodyPr>
          <a:lstStyle/>
          <a:p>
            <a:pPr>
              <a:lnSpc>
                <a:spcPts val="1725"/>
              </a:lnSpc>
              <a:spcBef>
                <a:spcPts val="0"/>
              </a:spcBef>
              <a:spcAft>
                <a:spcPts val="0"/>
              </a:spcAft>
              <a:defRPr sz="1380" b="0">
                <a:solidFill>
                  <a:srgbClr val="65738C"/>
                </a:solidFill>
                <a:latin typeface="DejaVu Sans"/>
              </a:defRPr>
            </a:pPr>
            <a:r>
              <a:t>Original screenshot in</a:t>
            </a:r>
          </a:p>
          <a:p>
            <a:pPr>
              <a:lnSpc>
                <a:spcPts val="1725"/>
              </a:lnSpc>
              <a:spcBef>
                <a:spcPts val="0"/>
              </a:spcBef>
              <a:spcAft>
                <a:spcPts val="0"/>
              </a:spcAft>
              <a:defRPr sz="1380" b="0">
                <a:solidFill>
                  <a:srgbClr val="65738C"/>
                </a:solidFill>
                <a:latin typeface="DejaVu Sans"/>
              </a:defRPr>
            </a:pPr>
            <a:r>
              <a:t>local demo bundle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167640"/>
          </a:xfrm>
          <a:prstGeom prst="rect">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7680" y="373380"/>
            <a:ext cx="69113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65738C"/>
                </a:solidFill>
                <a:latin typeface="DejaVu Sans"/>
              </a:defRPr>
            </a:pPr>
            <a:r>
              <a:t>OPSREPLAY / INCIDENT REPLAY</a:t>
            </a:r>
          </a:p>
        </p:txBody>
      </p:sp>
      <p:sp>
        <p:nvSpPr>
          <p:cNvPr id="5" name="TextBox 4"/>
          <p:cNvSpPr txBox="1"/>
          <p:nvPr/>
        </p:nvSpPr>
        <p:spPr>
          <a:xfrm>
            <a:off x="487680" y="853440"/>
            <a:ext cx="11254740" cy="541020"/>
          </a:xfrm>
          <a:prstGeom prst="rect">
            <a:avLst/>
          </a:prstGeom>
          <a:noFill/>
        </p:spPr>
        <p:txBody>
          <a:bodyPr wrap="none" lIns="0" rIns="0" tIns="0" bIns="0">
            <a:spAutoFit/>
          </a:bodyPr>
          <a:lstStyle/>
          <a:p>
            <a:pPr>
              <a:lnSpc>
                <a:spcPts val="3900"/>
              </a:lnSpc>
              <a:spcBef>
                <a:spcPts val="0"/>
              </a:spcBef>
              <a:spcAft>
                <a:spcPts val="0"/>
              </a:spcAft>
              <a:defRPr sz="3120" b="1">
                <a:solidFill>
                  <a:srgbClr val="14213B"/>
                </a:solidFill>
                <a:latin typeface="DejaVu Sans"/>
              </a:defRPr>
            </a:pPr>
            <a:r>
              <a:t>A prototype with visible boundaries.</a:t>
            </a:r>
          </a:p>
        </p:txBody>
      </p:sp>
      <p:sp>
        <p:nvSpPr>
          <p:cNvPr id="6" name="TextBox 5"/>
          <p:cNvSpPr txBox="1"/>
          <p:nvPr/>
        </p:nvSpPr>
        <p:spPr>
          <a:xfrm>
            <a:off x="502920" y="1394460"/>
            <a:ext cx="11102340" cy="274320"/>
          </a:xfrm>
          <a:prstGeom prst="rect">
            <a:avLst/>
          </a:prstGeom>
          <a:noFill/>
        </p:spPr>
        <p:txBody>
          <a:bodyPr wrap="none" lIns="0" rIns="0" tIns="0" bIns="0">
            <a:spAutoFit/>
          </a:bodyPr>
          <a:lstStyle/>
          <a:p>
            <a:pPr>
              <a:lnSpc>
                <a:spcPts val="1800"/>
              </a:lnSpc>
              <a:spcBef>
                <a:spcPts val="0"/>
              </a:spcBef>
              <a:spcAft>
                <a:spcPts val="0"/>
              </a:spcAft>
              <a:defRPr sz="1439" b="0">
                <a:solidFill>
                  <a:srgbClr val="65738C"/>
                </a:solidFill>
                <a:latin typeface="DejaVu Sans"/>
              </a:defRPr>
            </a:pPr>
            <a:r>
              <a:t>Evidence references are useful. They do not prove the root cause.</a:t>
            </a:r>
          </a:p>
        </p:txBody>
      </p:sp>
      <p:cxnSp>
        <p:nvCxnSpPr>
          <p:cNvPr id="7" name="Connector 6"/>
          <p:cNvCxnSpPr/>
          <p:nvPr/>
        </p:nvCxnSpPr>
        <p:spPr>
          <a:xfrm>
            <a:off x="487680" y="6217920"/>
            <a:ext cx="11216640" cy="0"/>
          </a:xfrm>
          <a:prstGeom prst="line">
            <a:avLst/>
          </a:prstGeom>
          <a:ln w="15240">
            <a:solidFill>
              <a:srgbClr val="DCE1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87680" y="6385560"/>
            <a:ext cx="8435340" cy="226695"/>
          </a:xfrm>
          <a:prstGeom prst="rect">
            <a:avLst/>
          </a:prstGeom>
          <a:noFill/>
        </p:spPr>
        <p:txBody>
          <a:bodyPr wrap="none" lIns="0" rIns="0" tIns="0" bIns="0">
            <a:spAutoFit/>
          </a:bodyPr>
          <a:lstStyle/>
          <a:p>
            <a:pPr>
              <a:lnSpc>
                <a:spcPts val="1425"/>
              </a:lnSpc>
              <a:spcBef>
                <a:spcPts val="0"/>
              </a:spcBef>
              <a:spcAft>
                <a:spcPts val="0"/>
              </a:spcAft>
              <a:defRPr sz="1140" b="0">
                <a:solidFill>
                  <a:srgbClr val="65738C"/>
                </a:solidFill>
                <a:latin typeface="DejaVu Sans"/>
              </a:defRPr>
            </a:pPr>
            <a:r>
              <a:t>SIMULATED IoT · Replay · Evidence</a:t>
            </a:r>
          </a:p>
        </p:txBody>
      </p:sp>
      <p:sp>
        <p:nvSpPr>
          <p:cNvPr id="9" name="TextBox 8"/>
          <p:cNvSpPr txBox="1"/>
          <p:nvPr/>
        </p:nvSpPr>
        <p:spPr>
          <a:xfrm>
            <a:off x="10515600" y="6370320"/>
            <a:ext cx="1272540" cy="255270"/>
          </a:xfrm>
          <a:prstGeom prst="rect">
            <a:avLst/>
          </a:prstGeom>
          <a:noFill/>
        </p:spPr>
        <p:txBody>
          <a:bodyPr wrap="none" lIns="0" rIns="0" tIns="0" bIns="0">
            <a:spAutoFit/>
          </a:bodyPr>
          <a:lstStyle/>
          <a:p>
            <a:pPr>
              <a:lnSpc>
                <a:spcPts val="1650"/>
              </a:lnSpc>
              <a:spcBef>
                <a:spcPts val="0"/>
              </a:spcBef>
              <a:spcAft>
                <a:spcPts val="0"/>
              </a:spcAft>
              <a:defRPr sz="1320" b="1">
                <a:solidFill>
                  <a:srgbClr val="7051E8"/>
                </a:solidFill>
                <a:latin typeface="DejaVu Sans"/>
              </a:defRPr>
            </a:pPr>
            <a:r>
              <a:t>08 / 09</a:t>
            </a:r>
          </a:p>
        </p:txBody>
      </p:sp>
      <p:sp>
        <p:nvSpPr>
          <p:cNvPr id="10" name="Rounded Rectangle 9"/>
          <p:cNvSpPr/>
          <p:nvPr/>
        </p:nvSpPr>
        <p:spPr>
          <a:xfrm>
            <a:off x="487680" y="1905000"/>
            <a:ext cx="5433060" cy="4030980"/>
          </a:xfrm>
          <a:prstGeom prst="roundRect">
            <a:avLst>
              <a:gd name="adj" fmla="val 415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87680" y="1905000"/>
            <a:ext cx="5433060" cy="594360"/>
          </a:xfrm>
          <a:prstGeom prst="roundRect">
            <a:avLst>
              <a:gd name="adj" fmla="val 20512"/>
            </a:avLst>
          </a:prstGeom>
          <a:solidFill>
            <a:srgbClr val="DD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6280" y="2065020"/>
            <a:ext cx="4968240" cy="331470"/>
          </a:xfrm>
          <a:prstGeom prst="rect">
            <a:avLst/>
          </a:prstGeom>
          <a:noFill/>
        </p:spPr>
        <p:txBody>
          <a:bodyPr wrap="none" lIns="0" rIns="0" tIns="0" bIns="0">
            <a:spAutoFit/>
          </a:bodyPr>
          <a:lstStyle/>
          <a:p>
            <a:pPr>
              <a:lnSpc>
                <a:spcPts val="2250"/>
              </a:lnSpc>
              <a:spcBef>
                <a:spcPts val="0"/>
              </a:spcBef>
              <a:spcAft>
                <a:spcPts val="0"/>
              </a:spcAft>
              <a:defRPr sz="1800" b="1">
                <a:solidFill>
                  <a:srgbClr val="168575"/>
                </a:solidFill>
                <a:latin typeface="DejaVu Sans"/>
              </a:defRPr>
            </a:pPr>
            <a:r>
              <a:t>CURRENT</a:t>
            </a:r>
          </a:p>
        </p:txBody>
      </p:sp>
      <p:sp>
        <p:nvSpPr>
          <p:cNvPr id="13" name="TextBox 12"/>
          <p:cNvSpPr txBox="1"/>
          <p:nvPr/>
        </p:nvSpPr>
        <p:spPr>
          <a:xfrm>
            <a:off x="731520" y="2758440"/>
            <a:ext cx="4968240" cy="350520"/>
          </a:xfrm>
          <a:prstGeom prst="rect">
            <a:avLst/>
          </a:prstGeom>
          <a:noFill/>
        </p:spPr>
        <p:txBody>
          <a:bodyPr wrap="none" lIns="0" rIns="0" tIns="0" bIns="0">
            <a:spAutoFit/>
          </a:bodyPr>
          <a:lstStyle/>
          <a:p>
            <a:pPr>
              <a:lnSpc>
                <a:spcPts val="2400"/>
              </a:lnSpc>
              <a:spcBef>
                <a:spcPts val="0"/>
              </a:spcBef>
              <a:spcAft>
                <a:spcPts val="0"/>
              </a:spcAft>
              <a:defRPr sz="1920" b="1">
                <a:solidFill>
                  <a:srgbClr val="14213B"/>
                </a:solidFill>
                <a:latin typeface="DejaVu Sans"/>
              </a:defRPr>
            </a:pPr>
            <a:r>
              <a:t>IoT</a:t>
            </a:r>
          </a:p>
        </p:txBody>
      </p:sp>
      <p:sp>
        <p:nvSpPr>
          <p:cNvPr id="14" name="TextBox 13"/>
          <p:cNvSpPr txBox="1"/>
          <p:nvPr/>
        </p:nvSpPr>
        <p:spPr>
          <a:xfrm>
            <a:off x="731520" y="3131820"/>
            <a:ext cx="4968240" cy="302895"/>
          </a:xfrm>
          <a:prstGeom prst="rect">
            <a:avLst/>
          </a:prstGeom>
          <a:noFill/>
        </p:spPr>
        <p:txBody>
          <a:bodyPr wrap="none" lIns="0" rIns="0" tIns="0" bIns="0">
            <a:spAutoFit/>
          </a:bodyPr>
          <a:lstStyle/>
          <a:p>
            <a:pPr>
              <a:lnSpc>
                <a:spcPts val="2025"/>
              </a:lnSpc>
              <a:spcBef>
                <a:spcPts val="0"/>
              </a:spcBef>
              <a:spcAft>
                <a:spcPts val="0"/>
              </a:spcAft>
              <a:defRPr sz="1620" b="0">
                <a:solidFill>
                  <a:srgbClr val="65738C"/>
                </a:solidFill>
                <a:latin typeface="DejaVu Sans"/>
              </a:defRPr>
            </a:pPr>
            <a:r>
              <a:t>SIMULATED</a:t>
            </a:r>
          </a:p>
        </p:txBody>
      </p:sp>
      <p:sp>
        <p:nvSpPr>
          <p:cNvPr id="15" name="TextBox 14"/>
          <p:cNvSpPr txBox="1"/>
          <p:nvPr/>
        </p:nvSpPr>
        <p:spPr>
          <a:xfrm>
            <a:off x="731520" y="3749039"/>
            <a:ext cx="4968240" cy="350520"/>
          </a:xfrm>
          <a:prstGeom prst="rect">
            <a:avLst/>
          </a:prstGeom>
          <a:noFill/>
        </p:spPr>
        <p:txBody>
          <a:bodyPr wrap="none" lIns="0" rIns="0" tIns="0" bIns="0">
            <a:spAutoFit/>
          </a:bodyPr>
          <a:lstStyle/>
          <a:p>
            <a:pPr>
              <a:lnSpc>
                <a:spcPts val="2400"/>
              </a:lnSpc>
              <a:spcBef>
                <a:spcPts val="0"/>
              </a:spcBef>
              <a:spcAft>
                <a:spcPts val="0"/>
              </a:spcAft>
              <a:defRPr sz="1920" b="1">
                <a:solidFill>
                  <a:srgbClr val="14213B"/>
                </a:solidFill>
                <a:latin typeface="DejaVu Sans"/>
              </a:defRPr>
            </a:pPr>
            <a:r>
              <a:t>AI verification</a:t>
            </a:r>
          </a:p>
        </p:txBody>
      </p:sp>
      <p:sp>
        <p:nvSpPr>
          <p:cNvPr id="16" name="TextBox 15"/>
          <p:cNvSpPr txBox="1"/>
          <p:nvPr/>
        </p:nvSpPr>
        <p:spPr>
          <a:xfrm>
            <a:off x="731520" y="4122420"/>
            <a:ext cx="4968240" cy="302895"/>
          </a:xfrm>
          <a:prstGeom prst="rect">
            <a:avLst/>
          </a:prstGeom>
          <a:noFill/>
        </p:spPr>
        <p:txBody>
          <a:bodyPr wrap="none" lIns="0" rIns="0" tIns="0" bIns="0">
            <a:spAutoFit/>
          </a:bodyPr>
          <a:lstStyle/>
          <a:p>
            <a:pPr>
              <a:lnSpc>
                <a:spcPts val="2025"/>
              </a:lnSpc>
              <a:spcBef>
                <a:spcPts val="0"/>
              </a:spcBef>
              <a:spcAft>
                <a:spcPts val="0"/>
              </a:spcAft>
              <a:defRPr sz="1620" b="0">
                <a:solidFill>
                  <a:srgbClr val="65738C"/>
                </a:solidFill>
                <a:latin typeface="DejaVu Sans"/>
              </a:defRPr>
            </a:pPr>
            <a:r>
              <a:t>One IoT-only request</a:t>
            </a:r>
          </a:p>
        </p:txBody>
      </p:sp>
      <p:sp>
        <p:nvSpPr>
          <p:cNvPr id="17" name="TextBox 16"/>
          <p:cNvSpPr txBox="1"/>
          <p:nvPr/>
        </p:nvSpPr>
        <p:spPr>
          <a:xfrm>
            <a:off x="731520" y="4739640"/>
            <a:ext cx="4968240" cy="350520"/>
          </a:xfrm>
          <a:prstGeom prst="rect">
            <a:avLst/>
          </a:prstGeom>
          <a:noFill/>
        </p:spPr>
        <p:txBody>
          <a:bodyPr wrap="none" lIns="0" rIns="0" tIns="0" bIns="0">
            <a:spAutoFit/>
          </a:bodyPr>
          <a:lstStyle/>
          <a:p>
            <a:pPr>
              <a:lnSpc>
                <a:spcPts val="2400"/>
              </a:lnSpc>
              <a:spcBef>
                <a:spcPts val="0"/>
              </a:spcBef>
              <a:spcAft>
                <a:spcPts val="0"/>
              </a:spcAft>
              <a:defRPr sz="1920" b="1">
                <a:solidFill>
                  <a:srgbClr val="14213B"/>
                </a:solidFill>
                <a:latin typeface="DejaVu Sans"/>
              </a:defRPr>
            </a:pPr>
            <a:r>
              <a:t>Access</a:t>
            </a:r>
          </a:p>
        </p:txBody>
      </p:sp>
      <p:sp>
        <p:nvSpPr>
          <p:cNvPr id="18" name="TextBox 17"/>
          <p:cNvSpPr txBox="1"/>
          <p:nvPr/>
        </p:nvSpPr>
        <p:spPr>
          <a:xfrm>
            <a:off x="731520" y="5113020"/>
            <a:ext cx="4968240" cy="302895"/>
          </a:xfrm>
          <a:prstGeom prst="rect">
            <a:avLst/>
          </a:prstGeom>
          <a:noFill/>
        </p:spPr>
        <p:txBody>
          <a:bodyPr wrap="none" lIns="0" rIns="0" tIns="0" bIns="0">
            <a:spAutoFit/>
          </a:bodyPr>
          <a:lstStyle/>
          <a:p>
            <a:pPr>
              <a:lnSpc>
                <a:spcPts val="2025"/>
              </a:lnSpc>
              <a:spcBef>
                <a:spcPts val="0"/>
              </a:spcBef>
              <a:spcAft>
                <a:spcPts val="0"/>
              </a:spcAft>
              <a:defRPr sz="1620" b="0">
                <a:solidFill>
                  <a:srgbClr val="65738C"/>
                </a:solidFill>
                <a:latin typeface="DejaVu Sans"/>
              </a:defRPr>
            </a:pPr>
            <a:r>
              <a:t>Protected Preview</a:t>
            </a:r>
          </a:p>
        </p:txBody>
      </p:sp>
      <p:sp>
        <p:nvSpPr>
          <p:cNvPr id="19" name="Rounded Rectangle 18"/>
          <p:cNvSpPr/>
          <p:nvPr/>
        </p:nvSpPr>
        <p:spPr>
          <a:xfrm>
            <a:off x="6271260" y="1905000"/>
            <a:ext cx="5433060" cy="4030980"/>
          </a:xfrm>
          <a:prstGeom prst="roundRect">
            <a:avLst>
              <a:gd name="adj" fmla="val 415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71260" y="1905000"/>
            <a:ext cx="5433060" cy="594360"/>
          </a:xfrm>
          <a:prstGeom prst="roundRect">
            <a:avLst>
              <a:gd name="adj" fmla="val 20512"/>
            </a:avLst>
          </a:prstGeom>
          <a:solidFill>
            <a:srgbClr val="E9E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9860" y="2065020"/>
            <a:ext cx="4968240" cy="331470"/>
          </a:xfrm>
          <a:prstGeom prst="rect">
            <a:avLst/>
          </a:prstGeom>
          <a:noFill/>
        </p:spPr>
        <p:txBody>
          <a:bodyPr wrap="none" lIns="0" rIns="0" tIns="0" bIns="0">
            <a:spAutoFit/>
          </a:bodyPr>
          <a:lstStyle/>
          <a:p>
            <a:pPr>
              <a:lnSpc>
                <a:spcPts val="2250"/>
              </a:lnSpc>
              <a:spcBef>
                <a:spcPts val="0"/>
              </a:spcBef>
              <a:spcAft>
                <a:spcPts val="0"/>
              </a:spcAft>
              <a:defRPr sz="1800" b="1">
                <a:solidFill>
                  <a:srgbClr val="7051E8"/>
                </a:solidFill>
                <a:latin typeface="DejaVu Sans"/>
              </a:defRPr>
            </a:pPr>
            <a:r>
              <a:t>NOT YET</a:t>
            </a:r>
          </a:p>
        </p:txBody>
      </p:sp>
      <p:sp>
        <p:nvSpPr>
          <p:cNvPr id="22" name="TextBox 21"/>
          <p:cNvSpPr txBox="1"/>
          <p:nvPr/>
        </p:nvSpPr>
        <p:spPr>
          <a:xfrm>
            <a:off x="6515100" y="2758440"/>
            <a:ext cx="4968240" cy="350520"/>
          </a:xfrm>
          <a:prstGeom prst="rect">
            <a:avLst/>
          </a:prstGeom>
          <a:noFill/>
        </p:spPr>
        <p:txBody>
          <a:bodyPr wrap="none" lIns="0" rIns="0" tIns="0" bIns="0">
            <a:spAutoFit/>
          </a:bodyPr>
          <a:lstStyle/>
          <a:p>
            <a:pPr>
              <a:lnSpc>
                <a:spcPts val="2400"/>
              </a:lnSpc>
              <a:spcBef>
                <a:spcPts val="0"/>
              </a:spcBef>
              <a:spcAft>
                <a:spcPts val="0"/>
              </a:spcAft>
              <a:defRPr sz="1920" b="1">
                <a:solidFill>
                  <a:srgbClr val="14213B"/>
                </a:solidFill>
                <a:latin typeface="DejaVu Sans"/>
              </a:defRPr>
            </a:pPr>
            <a:r>
              <a:t>Physical devices</a:t>
            </a:r>
          </a:p>
        </p:txBody>
      </p:sp>
      <p:sp>
        <p:nvSpPr>
          <p:cNvPr id="23" name="TextBox 22"/>
          <p:cNvSpPr txBox="1"/>
          <p:nvPr/>
        </p:nvSpPr>
        <p:spPr>
          <a:xfrm>
            <a:off x="6515100" y="3131820"/>
            <a:ext cx="4968240" cy="302895"/>
          </a:xfrm>
          <a:prstGeom prst="rect">
            <a:avLst/>
          </a:prstGeom>
          <a:noFill/>
        </p:spPr>
        <p:txBody>
          <a:bodyPr wrap="none" lIns="0" rIns="0" tIns="0" bIns="0">
            <a:spAutoFit/>
          </a:bodyPr>
          <a:lstStyle/>
          <a:p>
            <a:pPr>
              <a:lnSpc>
                <a:spcPts val="2025"/>
              </a:lnSpc>
              <a:spcBef>
                <a:spcPts val="0"/>
              </a:spcBef>
              <a:spcAft>
                <a:spcPts val="0"/>
              </a:spcAft>
              <a:defRPr sz="1620" b="0">
                <a:solidFill>
                  <a:srgbClr val="65738C"/>
                </a:solidFill>
                <a:latin typeface="DejaVu Sans"/>
              </a:defRPr>
            </a:pPr>
            <a:r>
              <a:t>Hardware adapter</a:t>
            </a:r>
          </a:p>
        </p:txBody>
      </p:sp>
      <p:sp>
        <p:nvSpPr>
          <p:cNvPr id="24" name="TextBox 23"/>
          <p:cNvSpPr txBox="1"/>
          <p:nvPr/>
        </p:nvSpPr>
        <p:spPr>
          <a:xfrm>
            <a:off x="6515100" y="3749039"/>
            <a:ext cx="4968240" cy="350520"/>
          </a:xfrm>
          <a:prstGeom prst="rect">
            <a:avLst/>
          </a:prstGeom>
          <a:noFill/>
        </p:spPr>
        <p:txBody>
          <a:bodyPr wrap="none" lIns="0" rIns="0" tIns="0" bIns="0">
            <a:spAutoFit/>
          </a:bodyPr>
          <a:lstStyle/>
          <a:p>
            <a:pPr>
              <a:lnSpc>
                <a:spcPts val="2400"/>
              </a:lnSpc>
              <a:spcBef>
                <a:spcPts val="0"/>
              </a:spcBef>
              <a:spcAft>
                <a:spcPts val="0"/>
              </a:spcAft>
              <a:defRPr sz="1920" b="1">
                <a:solidFill>
                  <a:srgbClr val="14213B"/>
                </a:solidFill>
                <a:latin typeface="DejaVu Sans"/>
              </a:defRPr>
            </a:pPr>
            <a:r>
              <a:t>Relevant external context</a:t>
            </a:r>
          </a:p>
        </p:txBody>
      </p:sp>
      <p:sp>
        <p:nvSpPr>
          <p:cNvPr id="25" name="TextBox 24"/>
          <p:cNvSpPr txBox="1"/>
          <p:nvPr/>
        </p:nvSpPr>
        <p:spPr>
          <a:xfrm>
            <a:off x="6515100" y="4122420"/>
            <a:ext cx="4968240" cy="302895"/>
          </a:xfrm>
          <a:prstGeom prst="rect">
            <a:avLst/>
          </a:prstGeom>
          <a:noFill/>
        </p:spPr>
        <p:txBody>
          <a:bodyPr wrap="none" lIns="0" rIns="0" tIns="0" bIns="0">
            <a:spAutoFit/>
          </a:bodyPr>
          <a:lstStyle/>
          <a:p>
            <a:pPr>
              <a:lnSpc>
                <a:spcPts val="2025"/>
              </a:lnSpc>
              <a:spcBef>
                <a:spcPts val="0"/>
              </a:spcBef>
              <a:spcAft>
                <a:spcPts val="0"/>
              </a:spcAft>
              <a:defRPr sz="1620" b="0">
                <a:solidFill>
                  <a:srgbClr val="65738C"/>
                </a:solidFill>
                <a:latin typeface="DejaVu Sans"/>
              </a:defRPr>
            </a:pPr>
            <a:r>
              <a:t>Dependency mapping + adapter</a:t>
            </a:r>
          </a:p>
        </p:txBody>
      </p:sp>
      <p:sp>
        <p:nvSpPr>
          <p:cNvPr id="26" name="TextBox 25"/>
          <p:cNvSpPr txBox="1"/>
          <p:nvPr/>
        </p:nvSpPr>
        <p:spPr>
          <a:xfrm>
            <a:off x="6515100" y="4739640"/>
            <a:ext cx="4968240" cy="350520"/>
          </a:xfrm>
          <a:prstGeom prst="rect">
            <a:avLst/>
          </a:prstGeom>
          <a:noFill/>
        </p:spPr>
        <p:txBody>
          <a:bodyPr wrap="none" lIns="0" rIns="0" tIns="0" bIns="0">
            <a:spAutoFit/>
          </a:bodyPr>
          <a:lstStyle/>
          <a:p>
            <a:pPr>
              <a:lnSpc>
                <a:spcPts val="2400"/>
              </a:lnSpc>
              <a:spcBef>
                <a:spcPts val="0"/>
              </a:spcBef>
              <a:spcAft>
                <a:spcPts val="0"/>
              </a:spcAft>
              <a:defRPr sz="1920" b="1">
                <a:solidFill>
                  <a:srgbClr val="14213B"/>
                </a:solidFill>
                <a:latin typeface="DejaVu Sans"/>
              </a:defRPr>
            </a:pPr>
            <a:r>
              <a:t>Public AI</a:t>
            </a:r>
          </a:p>
        </p:txBody>
      </p:sp>
      <p:sp>
        <p:nvSpPr>
          <p:cNvPr id="27" name="TextBox 26"/>
          <p:cNvSpPr txBox="1"/>
          <p:nvPr/>
        </p:nvSpPr>
        <p:spPr>
          <a:xfrm>
            <a:off x="6515100" y="5113020"/>
            <a:ext cx="4968240" cy="302895"/>
          </a:xfrm>
          <a:prstGeom prst="rect">
            <a:avLst/>
          </a:prstGeom>
          <a:noFill/>
        </p:spPr>
        <p:txBody>
          <a:bodyPr wrap="none" lIns="0" rIns="0" tIns="0" bIns="0">
            <a:spAutoFit/>
          </a:bodyPr>
          <a:lstStyle/>
          <a:p>
            <a:pPr>
              <a:lnSpc>
                <a:spcPts val="2025"/>
              </a:lnSpc>
              <a:spcBef>
                <a:spcPts val="0"/>
              </a:spcBef>
              <a:spcAft>
                <a:spcPts val="0"/>
              </a:spcAft>
              <a:defRPr sz="1620" b="0">
                <a:solidFill>
                  <a:srgbClr val="65738C"/>
                </a:solidFill>
                <a:latin typeface="DejaVu Sans"/>
              </a:defRPr>
            </a:pPr>
            <a:r>
              <a:t>Access + cost controls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167640"/>
          </a:xfrm>
          <a:prstGeom prst="rect">
            <a:avLst/>
          </a:prstGeom>
          <a:solidFill>
            <a:srgbClr val="705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7680" y="373380"/>
            <a:ext cx="69113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65738C"/>
                </a:solidFill>
                <a:latin typeface="DejaVu Sans"/>
              </a:defRPr>
            </a:pPr>
            <a:r>
              <a:t>OPSREPLAY / INCIDENT REPLAY</a:t>
            </a:r>
          </a:p>
        </p:txBody>
      </p:sp>
      <p:sp>
        <p:nvSpPr>
          <p:cNvPr id="5" name="TextBox 4"/>
          <p:cNvSpPr txBox="1"/>
          <p:nvPr/>
        </p:nvSpPr>
        <p:spPr>
          <a:xfrm>
            <a:off x="487680" y="853440"/>
            <a:ext cx="11254740" cy="541020"/>
          </a:xfrm>
          <a:prstGeom prst="rect">
            <a:avLst/>
          </a:prstGeom>
          <a:noFill/>
        </p:spPr>
        <p:txBody>
          <a:bodyPr wrap="none" lIns="0" rIns="0" tIns="0" bIns="0">
            <a:spAutoFit/>
          </a:bodyPr>
          <a:lstStyle/>
          <a:p>
            <a:pPr>
              <a:lnSpc>
                <a:spcPts val="3900"/>
              </a:lnSpc>
              <a:spcBef>
                <a:spcPts val="0"/>
              </a:spcBef>
              <a:spcAft>
                <a:spcPts val="0"/>
              </a:spcAft>
              <a:defRPr sz="3120" b="1">
                <a:solidFill>
                  <a:srgbClr val="14213B"/>
                </a:solidFill>
                <a:latin typeface="DejaVu Sans"/>
              </a:defRPr>
            </a:pPr>
            <a:r>
              <a:t>Next: connect the right operational context.</a:t>
            </a:r>
          </a:p>
        </p:txBody>
      </p:sp>
      <p:sp>
        <p:nvSpPr>
          <p:cNvPr id="6" name="TextBox 5"/>
          <p:cNvSpPr txBox="1"/>
          <p:nvPr/>
        </p:nvSpPr>
        <p:spPr>
          <a:xfrm>
            <a:off x="502920" y="1394460"/>
            <a:ext cx="11102340" cy="274320"/>
          </a:xfrm>
          <a:prstGeom prst="rect">
            <a:avLst/>
          </a:prstGeom>
          <a:noFill/>
        </p:spPr>
        <p:txBody>
          <a:bodyPr wrap="none" lIns="0" rIns="0" tIns="0" bIns="0">
            <a:spAutoFit/>
          </a:bodyPr>
          <a:lstStyle/>
          <a:p>
            <a:pPr>
              <a:lnSpc>
                <a:spcPts val="1800"/>
              </a:lnSpc>
              <a:spcBef>
                <a:spcPts val="0"/>
              </a:spcBef>
              <a:spcAft>
                <a:spcPts val="0"/>
              </a:spcAft>
              <a:defRPr sz="1439" b="0">
                <a:solidFill>
                  <a:srgbClr val="65738C"/>
                </a:solidFill>
                <a:latin typeface="DejaVu Sans"/>
              </a:defRPr>
            </a:pPr>
            <a:r>
              <a:t>Add a relevant source, then verify the combined investigation.</a:t>
            </a:r>
          </a:p>
        </p:txBody>
      </p:sp>
      <p:cxnSp>
        <p:nvCxnSpPr>
          <p:cNvPr id="7" name="Connector 6"/>
          <p:cNvCxnSpPr/>
          <p:nvPr/>
        </p:nvCxnSpPr>
        <p:spPr>
          <a:xfrm>
            <a:off x="487680" y="6217920"/>
            <a:ext cx="11216640" cy="0"/>
          </a:xfrm>
          <a:prstGeom prst="line">
            <a:avLst/>
          </a:prstGeom>
          <a:ln w="15240">
            <a:solidFill>
              <a:srgbClr val="DCE1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87680" y="6385560"/>
            <a:ext cx="8435340" cy="226695"/>
          </a:xfrm>
          <a:prstGeom prst="rect">
            <a:avLst/>
          </a:prstGeom>
          <a:noFill/>
        </p:spPr>
        <p:txBody>
          <a:bodyPr wrap="none" lIns="0" rIns="0" tIns="0" bIns="0">
            <a:spAutoFit/>
          </a:bodyPr>
          <a:lstStyle/>
          <a:p>
            <a:pPr>
              <a:lnSpc>
                <a:spcPts val="1425"/>
              </a:lnSpc>
              <a:spcBef>
                <a:spcPts val="0"/>
              </a:spcBef>
              <a:spcAft>
                <a:spcPts val="0"/>
              </a:spcAft>
              <a:defRPr sz="1140" b="0">
                <a:solidFill>
                  <a:srgbClr val="65738C"/>
                </a:solidFill>
                <a:latin typeface="DejaVu Sans"/>
              </a:defRPr>
            </a:pPr>
            <a:r>
              <a:t>SIMULATED IoT · Replay · Evidence</a:t>
            </a:r>
          </a:p>
        </p:txBody>
      </p:sp>
      <p:sp>
        <p:nvSpPr>
          <p:cNvPr id="9" name="TextBox 8"/>
          <p:cNvSpPr txBox="1"/>
          <p:nvPr/>
        </p:nvSpPr>
        <p:spPr>
          <a:xfrm>
            <a:off x="10515600" y="6370320"/>
            <a:ext cx="1272540" cy="255270"/>
          </a:xfrm>
          <a:prstGeom prst="rect">
            <a:avLst/>
          </a:prstGeom>
          <a:noFill/>
        </p:spPr>
        <p:txBody>
          <a:bodyPr wrap="none" lIns="0" rIns="0" tIns="0" bIns="0">
            <a:spAutoFit/>
          </a:bodyPr>
          <a:lstStyle/>
          <a:p>
            <a:pPr>
              <a:lnSpc>
                <a:spcPts val="1650"/>
              </a:lnSpc>
              <a:spcBef>
                <a:spcPts val="0"/>
              </a:spcBef>
              <a:spcAft>
                <a:spcPts val="0"/>
              </a:spcAft>
              <a:defRPr sz="1320" b="1">
                <a:solidFill>
                  <a:srgbClr val="7051E8"/>
                </a:solidFill>
                <a:latin typeface="DejaVu Sans"/>
              </a:defRPr>
            </a:pPr>
            <a:r>
              <a:t>09 / 09</a:t>
            </a:r>
          </a:p>
        </p:txBody>
      </p:sp>
      <p:sp>
        <p:nvSpPr>
          <p:cNvPr id="10" name="Rounded Rectangle 9"/>
          <p:cNvSpPr/>
          <p:nvPr/>
        </p:nvSpPr>
        <p:spPr>
          <a:xfrm>
            <a:off x="487680" y="1905000"/>
            <a:ext cx="3566160" cy="2819400"/>
          </a:xfrm>
          <a:prstGeom prst="roundRect">
            <a:avLst>
              <a:gd name="adj" fmla="val 5945"/>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16280" y="2110740"/>
            <a:ext cx="762000" cy="335280"/>
          </a:xfrm>
          <a:prstGeom prst="roundRect">
            <a:avLst>
              <a:gd name="adj" fmla="val 25000"/>
            </a:avLst>
          </a:prstGeom>
          <a:solidFill>
            <a:srgbClr val="E9E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3440" y="2171700"/>
            <a:ext cx="5867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7051E8"/>
                </a:solidFill>
                <a:latin typeface="DejaVu Sans"/>
              </a:defRPr>
            </a:pPr>
            <a:r>
              <a:t>01</a:t>
            </a:r>
          </a:p>
        </p:txBody>
      </p:sp>
      <p:sp>
        <p:nvSpPr>
          <p:cNvPr id="13" name="Oval 12"/>
          <p:cNvSpPr/>
          <p:nvPr/>
        </p:nvSpPr>
        <p:spPr>
          <a:xfrm>
            <a:off x="716280" y="2884932"/>
            <a:ext cx="335280" cy="335280"/>
          </a:xfrm>
          <a:prstGeom prst="ellipse">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58774" y="2725674"/>
            <a:ext cx="452628" cy="452628"/>
          </a:xfrm>
          <a:prstGeom prst="ellipse">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10234" y="2884932"/>
            <a:ext cx="352044" cy="352044"/>
          </a:xfrm>
          <a:prstGeom prst="ellipse">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6864" y="3019044"/>
            <a:ext cx="553212" cy="251460"/>
          </a:xfrm>
          <a:prstGeom prst="roundRect">
            <a:avLst>
              <a:gd name="adj" fmla="val 24242"/>
            </a:avLst>
          </a:prstGeom>
          <a:solidFill>
            <a:srgbClr val="E9E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085088" y="3270504"/>
            <a:ext cx="0" cy="150876"/>
          </a:xfrm>
          <a:prstGeom prst="line">
            <a:avLst/>
          </a:prstGeom>
          <a:ln w="33528">
            <a:solidFill>
              <a:srgbClr val="7051E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16280" y="3642360"/>
            <a:ext cx="3177540" cy="407670"/>
          </a:xfrm>
          <a:prstGeom prst="rect">
            <a:avLst/>
          </a:prstGeom>
          <a:noFill/>
        </p:spPr>
        <p:txBody>
          <a:bodyPr wrap="none" lIns="0" rIns="0" tIns="0" bIns="0">
            <a:spAutoFit/>
          </a:bodyPr>
          <a:lstStyle/>
          <a:p>
            <a:pPr>
              <a:lnSpc>
                <a:spcPts val="2850"/>
              </a:lnSpc>
              <a:spcBef>
                <a:spcPts val="0"/>
              </a:spcBef>
              <a:spcAft>
                <a:spcPts val="0"/>
              </a:spcAft>
              <a:defRPr sz="2280" b="1">
                <a:solidFill>
                  <a:srgbClr val="14213B"/>
                </a:solidFill>
                <a:latin typeface="DejaVu Sans"/>
              </a:defRPr>
            </a:pPr>
            <a:r>
              <a:t>Cloud status</a:t>
            </a:r>
          </a:p>
        </p:txBody>
      </p:sp>
      <p:sp>
        <p:nvSpPr>
          <p:cNvPr id="19" name="TextBox 18"/>
          <p:cNvSpPr txBox="1"/>
          <p:nvPr/>
        </p:nvSpPr>
        <p:spPr>
          <a:xfrm>
            <a:off x="716280" y="4168140"/>
            <a:ext cx="3177540" cy="283845"/>
          </a:xfrm>
          <a:prstGeom prst="rect">
            <a:avLst/>
          </a:prstGeom>
          <a:noFill/>
        </p:spPr>
        <p:txBody>
          <a:bodyPr wrap="none" lIns="0" rIns="0" tIns="0" bIns="0">
            <a:spAutoFit/>
          </a:bodyPr>
          <a:lstStyle/>
          <a:p>
            <a:pPr>
              <a:lnSpc>
                <a:spcPts val="1875"/>
              </a:lnSpc>
              <a:spcBef>
                <a:spcPts val="0"/>
              </a:spcBef>
              <a:spcAft>
                <a:spcPts val="0"/>
              </a:spcAft>
              <a:defRPr sz="1500" b="0">
                <a:solidFill>
                  <a:srgbClr val="65738C"/>
                </a:solidFill>
                <a:latin typeface="DejaVu Sans"/>
              </a:defRPr>
            </a:pPr>
            <a:r>
              <a:t>Map device dependencies</a:t>
            </a:r>
          </a:p>
        </p:txBody>
      </p:sp>
      <p:sp>
        <p:nvSpPr>
          <p:cNvPr id="20" name="Rounded Rectangle 19"/>
          <p:cNvSpPr/>
          <p:nvPr/>
        </p:nvSpPr>
        <p:spPr>
          <a:xfrm>
            <a:off x="4312920" y="1905000"/>
            <a:ext cx="3566160" cy="2819400"/>
          </a:xfrm>
          <a:prstGeom prst="roundRect">
            <a:avLst>
              <a:gd name="adj" fmla="val 5945"/>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41520" y="2110740"/>
            <a:ext cx="762000" cy="335280"/>
          </a:xfrm>
          <a:prstGeom prst="roundRect">
            <a:avLst>
              <a:gd name="adj" fmla="val 25000"/>
            </a:avLst>
          </a:prstGeom>
          <a:solidFill>
            <a:srgbClr val="E9E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78680" y="2171700"/>
            <a:ext cx="5867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7051E8"/>
                </a:solidFill>
                <a:latin typeface="DejaVu Sans"/>
              </a:defRPr>
            </a:pPr>
            <a:r>
              <a:t>02</a:t>
            </a:r>
          </a:p>
        </p:txBody>
      </p:sp>
      <p:sp>
        <p:nvSpPr>
          <p:cNvPr id="23" name="Oval 22"/>
          <p:cNvSpPr/>
          <p:nvPr/>
        </p:nvSpPr>
        <p:spPr>
          <a:xfrm>
            <a:off x="4575048" y="2775966"/>
            <a:ext cx="435864" cy="435864"/>
          </a:xfrm>
          <a:prstGeom prst="ellipse">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952238" y="3161538"/>
            <a:ext cx="226314" cy="226314"/>
          </a:xfrm>
          <a:prstGeom prst="line">
            <a:avLst/>
          </a:prstGeom>
          <a:ln w="33528">
            <a:solidFill>
              <a:srgbClr val="7051E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541520" y="3642360"/>
            <a:ext cx="3177540" cy="407670"/>
          </a:xfrm>
          <a:prstGeom prst="rect">
            <a:avLst/>
          </a:prstGeom>
          <a:noFill/>
        </p:spPr>
        <p:txBody>
          <a:bodyPr wrap="none" lIns="0" rIns="0" tIns="0" bIns="0">
            <a:spAutoFit/>
          </a:bodyPr>
          <a:lstStyle/>
          <a:p>
            <a:pPr>
              <a:lnSpc>
                <a:spcPts val="2850"/>
              </a:lnSpc>
              <a:spcBef>
                <a:spcPts val="0"/>
              </a:spcBef>
              <a:spcAft>
                <a:spcPts val="0"/>
              </a:spcAft>
              <a:defRPr sz="2280" b="1">
                <a:solidFill>
                  <a:srgbClr val="14213B"/>
                </a:solidFill>
                <a:latin typeface="DejaVu Sans"/>
              </a:defRPr>
            </a:pPr>
            <a:r>
              <a:t>Replay cases</a:t>
            </a:r>
          </a:p>
        </p:txBody>
      </p:sp>
      <p:sp>
        <p:nvSpPr>
          <p:cNvPr id="26" name="TextBox 25"/>
          <p:cNvSpPr txBox="1"/>
          <p:nvPr/>
        </p:nvSpPr>
        <p:spPr>
          <a:xfrm>
            <a:off x="4541520" y="4168140"/>
            <a:ext cx="3177540" cy="283845"/>
          </a:xfrm>
          <a:prstGeom prst="rect">
            <a:avLst/>
          </a:prstGeom>
          <a:noFill/>
        </p:spPr>
        <p:txBody>
          <a:bodyPr wrap="none" lIns="0" rIns="0" tIns="0" bIns="0">
            <a:spAutoFit/>
          </a:bodyPr>
          <a:lstStyle/>
          <a:p>
            <a:pPr>
              <a:lnSpc>
                <a:spcPts val="1875"/>
              </a:lnSpc>
              <a:spcBef>
                <a:spcPts val="0"/>
              </a:spcBef>
              <a:spcAft>
                <a:spcPts val="0"/>
              </a:spcAft>
              <a:defRPr sz="1500" b="0">
                <a:solidFill>
                  <a:srgbClr val="65738C"/>
                </a:solidFill>
                <a:latin typeface="DejaVu Sans"/>
              </a:defRPr>
            </a:pPr>
            <a:r>
              <a:t>Expected facts + evidence</a:t>
            </a:r>
          </a:p>
        </p:txBody>
      </p:sp>
      <p:sp>
        <p:nvSpPr>
          <p:cNvPr id="27" name="Rounded Rectangle 26"/>
          <p:cNvSpPr/>
          <p:nvPr/>
        </p:nvSpPr>
        <p:spPr>
          <a:xfrm>
            <a:off x="8138160" y="1905000"/>
            <a:ext cx="3566160" cy="2819400"/>
          </a:xfrm>
          <a:prstGeom prst="roundRect">
            <a:avLst>
              <a:gd name="adj" fmla="val 5945"/>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366760" y="2110740"/>
            <a:ext cx="762000" cy="335280"/>
          </a:xfrm>
          <a:prstGeom prst="roundRect">
            <a:avLst>
              <a:gd name="adj" fmla="val 25000"/>
            </a:avLst>
          </a:prstGeom>
          <a:solidFill>
            <a:srgbClr val="E9E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03920" y="2171700"/>
            <a:ext cx="586740" cy="245745"/>
          </a:xfrm>
          <a:prstGeom prst="rect">
            <a:avLst/>
          </a:prstGeom>
          <a:noFill/>
        </p:spPr>
        <p:txBody>
          <a:bodyPr wrap="none" lIns="0" rIns="0" tIns="0" bIns="0">
            <a:spAutoFit/>
          </a:bodyPr>
          <a:lstStyle/>
          <a:p>
            <a:pPr>
              <a:lnSpc>
                <a:spcPts val="1575"/>
              </a:lnSpc>
              <a:spcBef>
                <a:spcPts val="0"/>
              </a:spcBef>
              <a:spcAft>
                <a:spcPts val="0"/>
              </a:spcAft>
              <a:defRPr sz="1260" b="1">
                <a:solidFill>
                  <a:srgbClr val="7051E8"/>
                </a:solidFill>
                <a:latin typeface="DejaVu Sans"/>
              </a:defRPr>
            </a:pPr>
            <a:r>
              <a:t>03</a:t>
            </a:r>
          </a:p>
        </p:txBody>
      </p:sp>
      <p:sp>
        <p:nvSpPr>
          <p:cNvPr id="30" name="Rounded Rectangle 29"/>
          <p:cNvSpPr/>
          <p:nvPr/>
        </p:nvSpPr>
        <p:spPr>
          <a:xfrm>
            <a:off x="8366760" y="2750820"/>
            <a:ext cx="704088" cy="469392"/>
          </a:xfrm>
          <a:prstGeom prst="roundRect">
            <a:avLst>
              <a:gd name="adj" fmla="val 12987"/>
            </a:avLst>
          </a:prstGeom>
          <a:solidFill>
            <a:srgbClr val="E9E4FF"/>
          </a:solidFill>
          <a:ln w="22860">
            <a:solidFill>
              <a:srgbClr val="705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8718804" y="3220212"/>
            <a:ext cx="0" cy="134112"/>
          </a:xfrm>
          <a:prstGeom prst="line">
            <a:avLst/>
          </a:prstGeom>
          <a:ln w="33528">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517636" y="3354324"/>
            <a:ext cx="402336" cy="0"/>
          </a:xfrm>
          <a:prstGeom prst="line">
            <a:avLst/>
          </a:prstGeom>
          <a:ln w="33528">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526018" y="2968752"/>
            <a:ext cx="125730" cy="0"/>
          </a:xfrm>
          <a:prstGeom prst="line">
            <a:avLst/>
          </a:prstGeom>
          <a:ln w="33528">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51748" y="2859786"/>
            <a:ext cx="75437" cy="108966"/>
          </a:xfrm>
          <a:prstGeom prst="line">
            <a:avLst/>
          </a:prstGeom>
          <a:ln w="33528">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27185" y="2859786"/>
            <a:ext cx="92203" cy="226314"/>
          </a:xfrm>
          <a:prstGeom prst="line">
            <a:avLst/>
          </a:prstGeom>
          <a:ln w="33528">
            <a:solidFill>
              <a:srgbClr val="7051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819388" y="2960370"/>
            <a:ext cx="108966" cy="125730"/>
          </a:xfrm>
          <a:prstGeom prst="line">
            <a:avLst/>
          </a:prstGeom>
          <a:ln w="33528">
            <a:solidFill>
              <a:srgbClr val="7051E8"/>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366760" y="3642360"/>
            <a:ext cx="3177540" cy="407670"/>
          </a:xfrm>
          <a:prstGeom prst="rect">
            <a:avLst/>
          </a:prstGeom>
          <a:noFill/>
        </p:spPr>
        <p:txBody>
          <a:bodyPr wrap="none" lIns="0" rIns="0" tIns="0" bIns="0">
            <a:spAutoFit/>
          </a:bodyPr>
          <a:lstStyle/>
          <a:p>
            <a:pPr>
              <a:lnSpc>
                <a:spcPts val="2850"/>
              </a:lnSpc>
              <a:spcBef>
                <a:spcPts val="0"/>
              </a:spcBef>
              <a:spcAft>
                <a:spcPts val="0"/>
              </a:spcAft>
              <a:defRPr sz="2280" b="1">
                <a:solidFill>
                  <a:srgbClr val="14213B"/>
                </a:solidFill>
                <a:latin typeface="DejaVu Sans"/>
              </a:defRPr>
            </a:pPr>
            <a:r>
              <a:t>Real devices</a:t>
            </a:r>
          </a:p>
        </p:txBody>
      </p:sp>
      <p:sp>
        <p:nvSpPr>
          <p:cNvPr id="38" name="TextBox 37"/>
          <p:cNvSpPr txBox="1"/>
          <p:nvPr/>
        </p:nvSpPr>
        <p:spPr>
          <a:xfrm>
            <a:off x="8366760" y="4168140"/>
            <a:ext cx="3177540" cy="283845"/>
          </a:xfrm>
          <a:prstGeom prst="rect">
            <a:avLst/>
          </a:prstGeom>
          <a:noFill/>
        </p:spPr>
        <p:txBody>
          <a:bodyPr wrap="none" lIns="0" rIns="0" tIns="0" bIns="0">
            <a:spAutoFit/>
          </a:bodyPr>
          <a:lstStyle/>
          <a:p>
            <a:pPr>
              <a:lnSpc>
                <a:spcPts val="1875"/>
              </a:lnSpc>
              <a:spcBef>
                <a:spcPts val="0"/>
              </a:spcBef>
              <a:spcAft>
                <a:spcPts val="0"/>
              </a:spcAft>
              <a:defRPr sz="1500" b="0">
                <a:solidFill>
                  <a:srgbClr val="65738C"/>
                </a:solidFill>
                <a:latin typeface="DejaVu Sans"/>
              </a:defRPr>
            </a:pPr>
            <a:r>
              <a:t>Hardware adapter</a:t>
            </a:r>
          </a:p>
        </p:txBody>
      </p:sp>
      <p:sp>
        <p:nvSpPr>
          <p:cNvPr id="39" name="Rounded Rectangle 38"/>
          <p:cNvSpPr/>
          <p:nvPr/>
        </p:nvSpPr>
        <p:spPr>
          <a:xfrm>
            <a:off x="487680" y="4953000"/>
            <a:ext cx="11216640" cy="990599"/>
          </a:xfrm>
          <a:prstGeom prst="roundRect">
            <a:avLst>
              <a:gd name="adj" fmla="val 16923"/>
            </a:avLst>
          </a:prstGeom>
          <a:solidFill>
            <a:srgbClr val="1421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120640"/>
            <a:ext cx="10645140" cy="398145"/>
          </a:xfrm>
          <a:prstGeom prst="rect">
            <a:avLst/>
          </a:prstGeom>
          <a:noFill/>
        </p:spPr>
        <p:txBody>
          <a:bodyPr wrap="none" lIns="0" rIns="0" tIns="0" bIns="0">
            <a:spAutoFit/>
          </a:bodyPr>
          <a:lstStyle/>
          <a:p>
            <a:pPr>
              <a:lnSpc>
                <a:spcPts val="2775"/>
              </a:lnSpc>
              <a:spcBef>
                <a:spcPts val="0"/>
              </a:spcBef>
              <a:spcAft>
                <a:spcPts val="0"/>
              </a:spcAft>
              <a:defRPr sz="2220" b="1">
                <a:solidFill>
                  <a:srgbClr val="FFFFFF"/>
                </a:solidFill>
                <a:latin typeface="DejaVu Sans"/>
              </a:defRPr>
            </a:pPr>
            <a:r>
              <a:t>OpsReplay: reconstruct the story. Check the evidence.</a:t>
            </a:r>
          </a:p>
        </p:txBody>
      </p:sp>
      <p:sp>
        <p:nvSpPr>
          <p:cNvPr id="41" name="TextBox 40"/>
          <p:cNvSpPr txBox="1"/>
          <p:nvPr/>
        </p:nvSpPr>
        <p:spPr>
          <a:xfrm>
            <a:off x="731520" y="5608320"/>
            <a:ext cx="10645140" cy="264795"/>
          </a:xfrm>
          <a:prstGeom prst="rect">
            <a:avLst/>
          </a:prstGeom>
          <a:noFill/>
        </p:spPr>
        <p:txBody>
          <a:bodyPr wrap="none" lIns="0" rIns="0" tIns="0" bIns="0">
            <a:spAutoFit/>
          </a:bodyPr>
          <a:lstStyle/>
          <a:p>
            <a:pPr>
              <a:lnSpc>
                <a:spcPts val="1725"/>
              </a:lnSpc>
              <a:spcBef>
                <a:spcPts val="0"/>
              </a:spcBef>
              <a:spcAft>
                <a:spcPts val="0"/>
              </a:spcAft>
              <a:defRPr sz="1380" b="0">
                <a:solidFill>
                  <a:srgbClr val="C4CDE2"/>
                </a:solidFill>
                <a:latin typeface="DejaVu Sans"/>
              </a:defRPr>
            </a:pPr>
            <a:r>
              <a:t>Future work · external context and optional 3D are not implemented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OpsReplay — Demo</dc:title>
  <dc:subject>Illustrative scenario; bounded prototype and recorded evidence</dc:subject>
  <dc:creator>OpsReplay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