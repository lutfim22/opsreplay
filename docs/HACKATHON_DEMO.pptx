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Open with the incident, then introduce the idea</a:t>
            </a:r>
          </a:p>
          <a:p/>
          <a:p>
            <a:r>
              <a:t>SPEAKER SCRIPT</a:t>
            </a:r>
          </a:p>
          <a:p>
            <a:r>
              <a:t>Imagine a store that is open for business when a connected device goes offline. The person investigating needs to know what happened first: a power symptom, a connection issue, or a software change? That question led me to build OpsReplay.</a:t>
            </a:r>
          </a:p>
          <a:p/>
          <a:p>
            <a:r>
              <a:t>STUDY NOTES</a:t>
            </a:r>
          </a:p>
          <a:p>
            <a:r>
              <a:t>Imagine a small store using connected devices in its operations. The store is open when one device goes offline. I want to know what happened before it stopped responding: was there a power symptom, a connection issue, or a software change worth checking? This is an illustrative scenario, not a customer deployment or interview result. I built this hackathon project solo. The implementation uses a smart-plug simulator, not connected retail hardware.</a:t>
            </a:r>
          </a:p>
          <a:p/>
          <a:p>
            <a:r>
              <a:t>Sources: S2: https://docs.pagerduty.com/ai-automation/aiops/recent-changes | S3: https://www.datadoghq.com/blog/bits-ai-sre/ | S5: https://developer.squareup.com/blog/incident-summary-2023-09-07/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The problem: reconstructing a sequence across sources</a:t>
            </a:r>
          </a:p>
          <a:p/>
          <a:p>
            <a:r>
              <a:t>SPEAKER SCRIPT</a:t>
            </a:r>
          </a:p>
          <a:p>
            <a:r>
              <a:t>Device records show symptoms. Software activity shows changes. When those records are separate, a person has to reconstruct the sequence. Technical outages can disrupt real businesses; Square’s 2023 outage is one public example, although it is not an OpsReplay test case.</a:t>
            </a:r>
          </a:p>
          <a:p/>
          <a:p>
            <a:r>
              <a:t>STUDY NOTES</a:t>
            </a:r>
          </a:p>
          <a:p>
            <a:r>
              <a:t>Investigation requires reading device records and software activity. When those records are separate, a person has to reconstruct the sequence. The GitHub activity labels show record types the adapter can read; they are not evidence that a commit caused the offline event. As real-world context, Square reported a September 2023 outage affecting payment services for sellers [S5]. That illustrates operational impact. OpsReplay was not tested on that incident, and I do not claim fragmented records caused Square’s outage.</a:t>
            </a:r>
          </a:p>
          <a:p/>
          <a:p>
            <a:r>
              <a:t>Sources: S2: https://docs.pagerduty.com/ai-automation/aiops/recent-changes | S3: https://www.datadoghq.com/blog/bits-ai-sre/ | S5: https://developer.squareup.com/blog/incident-summary-2023-09-07/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Existing approaches</a:t>
            </a:r>
          </a:p>
          <a:p/>
          <a:p>
            <a:r>
              <a:t>SPEAKER SCRIPT</a:t>
            </a:r>
          </a:p>
          <a:p>
            <a:r>
              <a:t>Useful approaches already exist. We can review records manually. PagerDuty Recent Changes and Datadog Bits Investigation also help with incident context. My experiment is a small workflow bringing device and software evidence together. I have not benchmarked it against those products.</a:t>
            </a:r>
          </a:p>
          <a:p/>
          <a:p>
            <a:r>
              <a:t>STUDY NOTES</a:t>
            </a:r>
          </a:p>
          <a:p>
            <a:r>
              <a:t>Manual investigation remains useful: open each source, read the records and reconstruct the sequence. PagerDuty Recent Changes puts changes into incident context [S2]. Datadog Bits Investigation describes AI-assisted investigation with operational context [S3]. The category already exists. My experiment is a small workflow for device and software evidence with visible provenance and limits. This is a functional comparison based on vendor documentation. I have not run a competitive benchmark, compared pricing, or demonstrated superiority.</a:t>
            </a:r>
          </a:p>
          <a:p/>
          <a:p>
            <a:r>
              <a:t>Sources: S2: https://docs.pagerduty.com/ai-automation/aiops/recent-changes | S3: https://www.datadoghq.com/blog/bits-ai-sre/ | S5: https://developer.squareup.com/blog/incident-summary-2023-09-07/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Explain the OpsReplay flow</a:t>
            </a:r>
          </a:p>
          <a:p/>
          <a:p>
            <a:r>
              <a:t>SPEAKER SCRIPT</a:t>
            </a:r>
          </a:p>
          <a:p>
            <a:r>
              <a:t>OpsReplay brings events into a Unified Timeline. A user selects Source and Severity, then investigates with Gemini. The result separates Observed facts from Hypotheses and links back through Evidence chips. AI helps with review; the operator makes the decision.</a:t>
            </a:r>
          </a:p>
          <a:p/>
          <a:p>
            <a:r>
              <a:t>STUDY NOTES</a:t>
            </a:r>
          </a:p>
          <a:p>
            <a:r>
              <a:t>OpsReplay brings SIMULATED IoT and public GitHub activity into a Unified Timeline. The user selects Source and Severity, then uses Investigate with AI on the displayed events. Gemini produces Observed facts and Hypotheses (unconfirmed), with Evidence chips referencing events. The server validates the output shape and evidence IDs. Temporal proximity and valid IDs do not establish causation; the operator still reviews the evidence. Derived timeline severity from anomaly rules also differs from the original event severity submitted to AI.</a:t>
            </a:r>
          </a:p>
          <a:p/>
          <a:p>
            <a:r>
              <a:t>Sources: S2: https://docs.pagerduty.com/ai-automation/aiops/recent-changes | S3: https://www.datadoghq.com/blog/bits-ai-sre/ | S5: https://developer.squareup.com/blog/incident-summary-2023-09-07/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What I implemented</a:t>
            </a:r>
          </a:p>
          <a:p/>
          <a:p>
            <a:r>
              <a:t>SPEAKER SCRIPT</a:t>
            </a:r>
          </a:p>
          <a:p>
            <a:r>
              <a:t>For this solo hackathon project, I built six parts: simulator, GitHub adapter, timeline, Gemini adapter, validation and quota. Separate modules give data-source and model changes a clear place to happen. The device data is still simulated.</a:t>
            </a:r>
          </a:p>
          <a:p/>
          <a:p>
            <a:r>
              <a:t>STUDY NOTES</a:t>
            </a:r>
          </a:p>
          <a:p>
            <a:r>
              <a:t>I built the simulator, public GitHub adapter, timeline and filters, Gemini adapter, output validation, feature gate, and Redis quota. Source adapters separate data acquisition from a shared event format. The Gemini adapter separates provider calls from the view. These boundaries provide places to change data sources or model configuration; a new integration still needs implementation and testing. There is no physical-device adapter, application user account, persistent incident archive, multi-site inventory, or automatic remediation. Protected Preview uses Vercel deployment protection, not application authentication.</a:t>
            </a:r>
          </a:p>
          <a:p/>
          <a:p>
            <a:r>
              <a:t>Sources: S2: https://docs.pagerduty.com/ai-automation/aiops/recent-changes | S3: https://www.datadoghq.com/blog/bits-ai-sre/ | S5: https://developer.squareup.com/blog/incident-summary-2023-09-07/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The bounded demo that was actually verified</a:t>
            </a:r>
          </a:p>
          <a:p/>
          <a:p>
            <a:r>
              <a:t>SPEAKER SCRIPT</a:t>
            </a:r>
          </a:p>
          <a:p>
            <a:r>
              <a:t>The successful verified scenario contains three events from one device: 1850 watts, 1720 watts, then offline. This request used simulated IoT only, with no GitHub events. I am showing saved evidence so the demo needs no additional AI request.</a:t>
            </a:r>
          </a:p>
          <a:p/>
          <a:p>
            <a:r>
              <a:t>STUDY NOTES</a:t>
            </a:r>
          </a:p>
          <a:p>
            <a:r>
              <a:t>Use saved evidence; do not submit another Investigate with AI request. The recorded successful test used Source IoT, Severity Critical and Demo Time Alignment OFF. Its three SIMULATED events from sim-plug-01 are 1850 W / 230 V at 09:01:45 UTC, 1720 W / 230 V at 09:01:50 UTC, then offline at 09:03:00 UTC; the fixture date is 1 January 2025. That AI request contained zero GitHub events. Public GitHub integration is implemented separately; a successful mixed-source AI request has not been demonstrated. Original power-event severity is info; the Critical filter uses derived timeline severity.</a:t>
            </a:r>
          </a:p>
          <a:p/>
          <a:p>
            <a:r>
              <a:t>Sources: S2: https://docs.pagerduty.com/ai-automation/aiops/recent-changes | S3: https://www.datadoghq.com/blog/bits-ai-sre/ | S5: https://developer.squareup.com/blog/incident-summary-2023-09-07/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Describe the result precisely</a:t>
            </a:r>
          </a:p>
          <a:p/>
          <a:p>
            <a:r>
              <a:t>SPEAKER SCRIPT</a:t>
            </a:r>
          </a:p>
          <a:p>
            <a:r>
              <a:t>This is the original result. AI gives facts and a possible device or connection issue, marked low confidence. The cause remains unconfirmed. Evidence IDs were checked against the input. The 1.623-second value measures the provider stage for one request, not an application benchmark.</a:t>
            </a:r>
          </a:p>
          <a:p/>
          <a:p>
            <a:r>
              <a:t>STUDY NOTES</a:t>
            </a:r>
          </a:p>
          <a:p>
            <a:r>
              <a:t>The original screenshot shows a gemini-3.5-flash-lite response generated on 28 October 2026 at 01:11:40 UTC. It includes Observed facts and Hypotheses (unconfirmed), including Device failure or loss of connectivity with low confidence and not a confirmed root cause. The provider-adapter log records HTTP 200, one attempt, three events and durationMs 1623. The 1.623 s value measures the provider stage for one request, not full browser latency, an average, or a competitive benchmark. Evidence IDs were checked against the input; that does not prove every interpretation correct. Only the visible screenshot content was reviewed. It does not directly demonstrate Redis lease release.</a:t>
            </a:r>
          </a:p>
          <a:p/>
          <a:p>
            <a:r>
              <a:t>Sources: S2: https://docs.pagerduty.com/ai-automation/aiops/recent-changes | S3: https://www.datadoghq.com/blog/bits-ai-sre/ | S5: https://developer.squareup.com/blog/incident-summary-2023-09-07/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Limits and access</a:t>
            </a:r>
          </a:p>
          <a:p/>
          <a:p>
            <a:r>
              <a:t>SPEAKER SCRIPT</a:t>
            </a:r>
          </a:p>
          <a:p>
            <a:r>
              <a:t>The verified path is a bounded prototype in protected Preview. Real hardware, mixed-source evaluation and controls for public AI access remain future work. Evidence references make the response inspectable; they do not establish the root cause.</a:t>
            </a:r>
          </a:p>
          <a:p/>
          <a:p>
            <a:r>
              <a:t>STUDY NOTES</a:t>
            </a:r>
          </a:p>
          <a:p>
            <a:r>
              <a:t>This is a working, bounded investigation prototype, not an operations-ready product. The successful live AI test was in protected Preview. Public Production AI remains OFF. Broader access needs work on access boundaries, forwarded-IP trust, negative quota/outage/release verification, and wider evaluation cases. There is no measured time saving, ROI, root-cause accuracy, or customer-scale reliability result. Keep three labels explicit: SIMULATED, unconfirmed and prototype.</a:t>
            </a:r>
          </a:p>
          <a:p/>
          <a:p>
            <a:r>
              <a:t>Sources: S2: https://docs.pagerduty.com/ai-automation/aiops/recent-changes | S3: https://www.datadoghq.com/blog/bits-ai-sre/ | S5: https://developer.squareup.com/blog/incident-summary-2023-09-07/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Next steps and the role of 3D</a:t>
            </a:r>
          </a:p>
          <a:p/>
          <a:p>
            <a:r>
              <a:t>SPEAKER SCRIPT</a:t>
            </a:r>
          </a:p>
          <a:p>
            <a:r>
              <a:t>Next, connect real data and evaluate replay cases with expected results. An optional 3D view could later help locate devices and inspect their status. The purpose stays simple: reconstruct the sequence, check the evidence, then decide what to do.</a:t>
            </a:r>
          </a:p>
          <a:p/>
          <a:p>
            <a:r>
              <a:t>STUDY NOTES</a:t>
            </a:r>
          </a:p>
          <a:p>
            <a:r>
              <a:t>First connect one real data source through a hardware adapter and test the event contract. Then create replay cases with expected facts and evidence for consistent evaluation. An optional 3D view could show device location and status if it helps users investigate. That is a future direction, not an implemented application feature or digital twin. Close with: OpsReplay helps understand what happened before guessing why.</a:t>
            </a:r>
          </a:p>
          <a:p/>
          <a:p>
            <a:r>
              <a:t>Sources: S2: https://docs.pagerduty.com/ai-automation/aiops/recent-changes | S3: https://www.datadoghq.com/blog/bits-ai-sre/ | S5: https://developer.squareup.com/blog/incident-summary-2023-09-07/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67640"/>
          </a:xfrm>
          <a:prstGeom prst="rect">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80" y="373380"/>
            <a:ext cx="69113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65738C"/>
                </a:solidFill>
                <a:latin typeface="DejaVu Sans"/>
              </a:defRPr>
            </a:pPr>
            <a:r>
              <a:t>OPSREPLAY / HACKATHON PROTOTYPE</a:t>
            </a:r>
          </a:p>
        </p:txBody>
      </p:sp>
      <p:sp>
        <p:nvSpPr>
          <p:cNvPr id="5" name="Rounded Rectangle 4"/>
          <p:cNvSpPr/>
          <p:nvPr/>
        </p:nvSpPr>
        <p:spPr>
          <a:xfrm>
            <a:off x="9982200" y="327660"/>
            <a:ext cx="1714500" cy="335280"/>
          </a:xfrm>
          <a:prstGeom prst="roundRect">
            <a:avLst>
              <a:gd name="adj" fmla="val 25000"/>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19360" y="388620"/>
            <a:ext cx="15392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FFFFFF"/>
                </a:solidFill>
                <a:latin typeface="DejaVu Sans"/>
              </a:defRPr>
            </a:pPr>
            <a:r>
              <a:t>SOLO PROJECT</a:t>
            </a:r>
          </a:p>
        </p:txBody>
      </p:sp>
      <p:sp>
        <p:nvSpPr>
          <p:cNvPr id="7" name="TextBox 6"/>
          <p:cNvSpPr txBox="1"/>
          <p:nvPr/>
        </p:nvSpPr>
        <p:spPr>
          <a:xfrm>
            <a:off x="487680" y="853440"/>
            <a:ext cx="11254740" cy="541020"/>
          </a:xfrm>
          <a:prstGeom prst="rect">
            <a:avLst/>
          </a:prstGeom>
          <a:noFill/>
        </p:spPr>
        <p:txBody>
          <a:bodyPr wrap="none" lIns="0" rIns="0" tIns="0" bIns="0">
            <a:spAutoFit/>
          </a:bodyPr>
          <a:lstStyle/>
          <a:p>
            <a:pPr>
              <a:lnSpc>
                <a:spcPts val="3900"/>
              </a:lnSpc>
              <a:spcBef>
                <a:spcPts val="0"/>
              </a:spcBef>
              <a:spcAft>
                <a:spcPts val="0"/>
              </a:spcAft>
              <a:defRPr sz="3120" b="1">
                <a:solidFill>
                  <a:srgbClr val="14213B"/>
                </a:solidFill>
                <a:latin typeface="DejaVu Sans"/>
              </a:defRPr>
            </a:pPr>
            <a:r>
              <a:t>The store is open. A device goes offline.</a:t>
            </a:r>
          </a:p>
        </p:txBody>
      </p:sp>
      <p:sp>
        <p:nvSpPr>
          <p:cNvPr id="8" name="TextBox 7"/>
          <p:cNvSpPr txBox="1"/>
          <p:nvPr/>
        </p:nvSpPr>
        <p:spPr>
          <a:xfrm>
            <a:off x="502920" y="1394460"/>
            <a:ext cx="11102340" cy="274320"/>
          </a:xfrm>
          <a:prstGeom prst="rect">
            <a:avLst/>
          </a:prstGeom>
          <a:noFill/>
        </p:spPr>
        <p:txBody>
          <a:bodyPr wrap="none" lIns="0" rIns="0" tIns="0" bIns="0">
            <a:spAutoFit/>
          </a:bodyPr>
          <a:lstStyle/>
          <a:p>
            <a:pPr>
              <a:lnSpc>
                <a:spcPts val="1800"/>
              </a:lnSpc>
              <a:spcBef>
                <a:spcPts val="0"/>
              </a:spcBef>
              <a:spcAft>
                <a:spcPts val="0"/>
              </a:spcAft>
              <a:defRPr sz="1439" b="0">
                <a:solidFill>
                  <a:srgbClr val="65738C"/>
                </a:solidFill>
                <a:latin typeface="DejaVu Sans"/>
              </a:defRPr>
            </a:pPr>
            <a:r>
              <a:t>An illustrative scenario for a small retail business</a:t>
            </a:r>
          </a:p>
        </p:txBody>
      </p:sp>
      <p:cxnSp>
        <p:nvCxnSpPr>
          <p:cNvPr id="9" name="Connector 8"/>
          <p:cNvCxnSpPr/>
          <p:nvPr/>
        </p:nvCxnSpPr>
        <p:spPr>
          <a:xfrm>
            <a:off x="487680" y="6217920"/>
            <a:ext cx="11216640" cy="0"/>
          </a:xfrm>
          <a:prstGeom prst="line">
            <a:avLst/>
          </a:prstGeom>
          <a:ln w="15240">
            <a:solidFill>
              <a:srgbClr val="DCE1E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7680" y="6385560"/>
            <a:ext cx="8435340" cy="226695"/>
          </a:xfrm>
          <a:prstGeom prst="rect">
            <a:avLst/>
          </a:prstGeom>
          <a:noFill/>
        </p:spPr>
        <p:txBody>
          <a:bodyPr wrap="none" lIns="0" rIns="0" tIns="0" bIns="0">
            <a:spAutoFit/>
          </a:bodyPr>
          <a:lstStyle/>
          <a:p>
            <a:pPr>
              <a:lnSpc>
                <a:spcPts val="1425"/>
              </a:lnSpc>
              <a:spcBef>
                <a:spcPts val="0"/>
              </a:spcBef>
              <a:spcAft>
                <a:spcPts val="0"/>
              </a:spcAft>
              <a:defRPr sz="1140" b="0">
                <a:solidFill>
                  <a:srgbClr val="65738C"/>
                </a:solidFill>
                <a:latin typeface="DejaVu Sans"/>
              </a:defRPr>
            </a:pPr>
            <a:r>
              <a:t>SIMULATED IoT · Public GitHub API · Gemini</a:t>
            </a:r>
          </a:p>
        </p:txBody>
      </p:sp>
      <p:sp>
        <p:nvSpPr>
          <p:cNvPr id="11" name="TextBox 10"/>
          <p:cNvSpPr txBox="1"/>
          <p:nvPr/>
        </p:nvSpPr>
        <p:spPr>
          <a:xfrm>
            <a:off x="10515600" y="6370320"/>
            <a:ext cx="1272540" cy="255270"/>
          </a:xfrm>
          <a:prstGeom prst="rect">
            <a:avLst/>
          </a:prstGeom>
          <a:noFill/>
        </p:spPr>
        <p:txBody>
          <a:bodyPr wrap="none" lIns="0" rIns="0" tIns="0" bIns="0">
            <a:spAutoFit/>
          </a:bodyPr>
          <a:lstStyle/>
          <a:p>
            <a:pPr>
              <a:lnSpc>
                <a:spcPts val="1650"/>
              </a:lnSpc>
              <a:spcBef>
                <a:spcPts val="0"/>
              </a:spcBef>
              <a:spcAft>
                <a:spcPts val="0"/>
              </a:spcAft>
              <a:defRPr sz="1320" b="1">
                <a:solidFill>
                  <a:srgbClr val="7051E8"/>
                </a:solidFill>
                <a:latin typeface="DejaVu Sans"/>
              </a:defRPr>
            </a:pPr>
            <a:r>
              <a:t>01 / 09</a:t>
            </a:r>
          </a:p>
        </p:txBody>
      </p:sp>
      <p:sp>
        <p:nvSpPr>
          <p:cNvPr id="12" name="Rounded Rectangle 11"/>
          <p:cNvSpPr/>
          <p:nvPr/>
        </p:nvSpPr>
        <p:spPr>
          <a:xfrm>
            <a:off x="487680" y="1859280"/>
            <a:ext cx="7162800" cy="4038600"/>
          </a:xfrm>
          <a:prstGeom prst="roundRect">
            <a:avLst>
              <a:gd name="adj" fmla="val 415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028700" y="3543300"/>
            <a:ext cx="5676900" cy="2438400"/>
          </a:xfrm>
          <a:custGeom>
            <a:avLst/>
            <a:gdLst/>
            <a:ahLst/>
            <a:cxnLst/>
            <a:rect l="l" t="t" r="r" b="b"/>
            <a:pathLst>
              <a:path w="745" h="320">
                <a:moveTo>
                  <a:pt x="0" y="140"/>
                </a:moveTo>
                <a:lnTo>
                  <a:pt x="420" y="0"/>
                </a:lnTo>
                <a:lnTo>
                  <a:pt x="745" y="162"/>
                </a:lnTo>
                <a:lnTo>
                  <a:pt x="320" y="320"/>
                </a:lnTo>
                <a:close/>
              </a:path>
            </a:pathLst>
          </a:custGeom>
          <a:solidFill>
            <a:srgbClr val="DBD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668780" y="2430780"/>
            <a:ext cx="2430780" cy="2987040"/>
          </a:xfrm>
          <a:custGeom>
            <a:avLst/>
            <a:gdLst/>
            <a:ahLst/>
            <a:cxnLst/>
            <a:rect l="l" t="t" r="r" b="b"/>
            <a:pathLst>
              <a:path w="319" h="392">
                <a:moveTo>
                  <a:pt x="0" y="95"/>
                </a:moveTo>
                <a:lnTo>
                  <a:pt x="319" y="0"/>
                </a:lnTo>
                <a:lnTo>
                  <a:pt x="319" y="288"/>
                </a:lnTo>
                <a:lnTo>
                  <a:pt x="0" y="392"/>
                </a:lnTo>
                <a:close/>
              </a:path>
            </a:pathLst>
          </a:custGeom>
          <a:solidFill>
            <a:srgbClr val="D5C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4099560" y="2430780"/>
            <a:ext cx="1965960" cy="3162300"/>
          </a:xfrm>
          <a:custGeom>
            <a:avLst/>
            <a:gdLst/>
            <a:ahLst/>
            <a:cxnLst/>
            <a:rect l="l" t="t" r="r" b="b"/>
            <a:pathLst>
              <a:path w="258" h="415">
                <a:moveTo>
                  <a:pt x="0" y="0"/>
                </a:moveTo>
                <a:lnTo>
                  <a:pt x="258" y="127"/>
                </a:lnTo>
                <a:lnTo>
                  <a:pt x="258" y="415"/>
                </a:lnTo>
                <a:lnTo>
                  <a:pt x="0" y="288"/>
                </a:lnTo>
                <a:close/>
              </a:path>
            </a:pathLst>
          </a:custGeom>
          <a:solidFill>
            <a:srgbClr val="B5A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1501140" y="2278380"/>
            <a:ext cx="4777740" cy="1905000"/>
          </a:xfrm>
          <a:custGeom>
            <a:avLst/>
            <a:gdLst/>
            <a:ahLst/>
            <a:cxnLst/>
            <a:rect l="l" t="t" r="r" b="b"/>
            <a:pathLst>
              <a:path w="627" h="250">
                <a:moveTo>
                  <a:pt x="0" y="106"/>
                </a:moveTo>
                <a:lnTo>
                  <a:pt x="336" y="0"/>
                </a:lnTo>
                <a:lnTo>
                  <a:pt x="627" y="140"/>
                </a:lnTo>
                <a:lnTo>
                  <a:pt x="291" y="250"/>
                </a:lnTo>
                <a:close/>
              </a:path>
            </a:pathLst>
          </a:custGeom>
          <a:solidFill>
            <a:srgbClr val="FDF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501140" y="3086100"/>
            <a:ext cx="2217420" cy="1379220"/>
          </a:xfrm>
          <a:custGeom>
            <a:avLst/>
            <a:gdLst/>
            <a:ahLst/>
            <a:cxnLst/>
            <a:rect l="l" t="t" r="r" b="b"/>
            <a:pathLst>
              <a:path w="291" h="181">
                <a:moveTo>
                  <a:pt x="0" y="0"/>
                </a:moveTo>
                <a:lnTo>
                  <a:pt x="291" y="144"/>
                </a:lnTo>
                <a:lnTo>
                  <a:pt x="291" y="181"/>
                </a:lnTo>
                <a:lnTo>
                  <a:pt x="0" y="37"/>
                </a:lnTo>
                <a:close/>
              </a:path>
            </a:pathLst>
          </a:custGeom>
          <a:solidFill>
            <a:srgbClr val="8D75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718560" y="3345180"/>
            <a:ext cx="2560320" cy="1120140"/>
          </a:xfrm>
          <a:custGeom>
            <a:avLst/>
            <a:gdLst/>
            <a:ahLst/>
            <a:cxnLst/>
            <a:rect l="l" t="t" r="r" b="b"/>
            <a:pathLst>
              <a:path w="336" h="147">
                <a:moveTo>
                  <a:pt x="0" y="110"/>
                </a:moveTo>
                <a:lnTo>
                  <a:pt x="336" y="0"/>
                </a:lnTo>
                <a:lnTo>
                  <a:pt x="336" y="36"/>
                </a:lnTo>
                <a:lnTo>
                  <a:pt x="0" y="147"/>
                </a:lnTo>
                <a:close/>
              </a:path>
            </a:pathLst>
          </a:custGeom>
          <a:solidFill>
            <a:srgbClr val="725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882140" y="3855720"/>
            <a:ext cx="1516380" cy="1272540"/>
          </a:xfrm>
          <a:custGeom>
            <a:avLst/>
            <a:gdLst/>
            <a:ahLst/>
            <a:cxnLst/>
            <a:rect l="l" t="t" r="r" b="b"/>
            <a:pathLst>
              <a:path w="199" h="167">
                <a:moveTo>
                  <a:pt x="0" y="0"/>
                </a:moveTo>
                <a:lnTo>
                  <a:pt x="199" y="65"/>
                </a:lnTo>
                <a:lnTo>
                  <a:pt x="199" y="167"/>
                </a:lnTo>
                <a:lnTo>
                  <a:pt x="0" y="103"/>
                </a:lnTo>
                <a:close/>
              </a:path>
            </a:pathLst>
          </a:custGeom>
          <a:solidFill>
            <a:srgbClr val="263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4328160" y="3550920"/>
            <a:ext cx="1424940" cy="1600200"/>
          </a:xfrm>
          <a:custGeom>
            <a:avLst/>
            <a:gdLst/>
            <a:ahLst/>
            <a:cxnLst/>
            <a:rect l="l" t="t" r="r" b="b"/>
            <a:pathLst>
              <a:path w="187" h="210">
                <a:moveTo>
                  <a:pt x="0" y="0"/>
                </a:moveTo>
                <a:lnTo>
                  <a:pt x="187" y="91"/>
                </a:lnTo>
                <a:lnTo>
                  <a:pt x="187" y="210"/>
                </a:lnTo>
                <a:lnTo>
                  <a:pt x="0" y="120"/>
                </a:lnTo>
                <a:close/>
              </a:path>
            </a:pathLst>
          </a:custGeom>
          <a:solidFill>
            <a:srgbClr val="F8F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1882140" y="3535680"/>
            <a:ext cx="312420" cy="358140"/>
          </a:xfrm>
          <a:custGeom>
            <a:avLst/>
            <a:gdLst/>
            <a:ahLst/>
            <a:cxnLst/>
            <a:rect l="l" t="t" r="r" b="b"/>
            <a:pathLst>
              <a:path w="41" h="47">
                <a:moveTo>
                  <a:pt x="0" y="0"/>
                </a:moveTo>
                <a:lnTo>
                  <a:pt x="41" y="12"/>
                </a:lnTo>
                <a:lnTo>
                  <a:pt x="41" y="47"/>
                </a:lnTo>
                <a:lnTo>
                  <a:pt x="0" y="34"/>
                </a:lnTo>
                <a:close/>
              </a:path>
            </a:pathLst>
          </a:custGeom>
          <a:solidFill>
            <a:srgbClr val="F3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194560" y="3627120"/>
            <a:ext cx="320040" cy="358140"/>
          </a:xfrm>
          <a:custGeom>
            <a:avLst/>
            <a:gdLst/>
            <a:ahLst/>
            <a:cxnLst/>
            <a:rect l="l" t="t" r="r" b="b"/>
            <a:pathLst>
              <a:path w="42" h="47">
                <a:moveTo>
                  <a:pt x="0" y="0"/>
                </a:moveTo>
                <a:lnTo>
                  <a:pt x="42" y="12"/>
                </a:lnTo>
                <a:lnTo>
                  <a:pt x="42" y="47"/>
                </a:lnTo>
                <a:lnTo>
                  <a:pt x="0" y="35"/>
                </a:lnTo>
                <a:close/>
              </a:path>
            </a:pathLst>
          </a:custGeom>
          <a:solidFill>
            <a:srgbClr val="B8A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514600" y="3726180"/>
            <a:ext cx="312420" cy="358140"/>
          </a:xfrm>
          <a:custGeom>
            <a:avLst/>
            <a:gdLst/>
            <a:ahLst/>
            <a:cxnLst/>
            <a:rect l="l" t="t" r="r" b="b"/>
            <a:pathLst>
              <a:path w="41" h="47">
                <a:moveTo>
                  <a:pt x="0" y="0"/>
                </a:moveTo>
                <a:lnTo>
                  <a:pt x="41" y="12"/>
                </a:lnTo>
                <a:lnTo>
                  <a:pt x="41" y="47"/>
                </a:lnTo>
                <a:lnTo>
                  <a:pt x="0" y="34"/>
                </a:lnTo>
                <a:close/>
              </a:path>
            </a:pathLst>
          </a:custGeom>
          <a:solidFill>
            <a:srgbClr val="F3EF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827020" y="3817620"/>
            <a:ext cx="320040" cy="358140"/>
          </a:xfrm>
          <a:custGeom>
            <a:avLst/>
            <a:gdLst/>
            <a:ahLst/>
            <a:cxnLst/>
            <a:rect l="l" t="t" r="r" b="b"/>
            <a:pathLst>
              <a:path w="42" h="47">
                <a:moveTo>
                  <a:pt x="0" y="0"/>
                </a:moveTo>
                <a:lnTo>
                  <a:pt x="42" y="12"/>
                </a:lnTo>
                <a:lnTo>
                  <a:pt x="42" y="47"/>
                </a:lnTo>
                <a:lnTo>
                  <a:pt x="0" y="35"/>
                </a:lnTo>
                <a:close/>
              </a:path>
            </a:pathLst>
          </a:custGeom>
          <a:solidFill>
            <a:srgbClr val="B8A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4343400" y="3360420"/>
            <a:ext cx="1607820" cy="883920"/>
          </a:xfrm>
          <a:custGeom>
            <a:avLst/>
            <a:gdLst/>
            <a:ahLst/>
            <a:cxnLst/>
            <a:rect l="l" t="t" r="r" b="b"/>
            <a:pathLst>
              <a:path w="211" h="116">
                <a:moveTo>
                  <a:pt x="0" y="26"/>
                </a:moveTo>
                <a:lnTo>
                  <a:pt x="185" y="116"/>
                </a:lnTo>
                <a:lnTo>
                  <a:pt x="211" y="91"/>
                </a:lnTo>
                <a:lnTo>
                  <a:pt x="25" y="0"/>
                </a:lnTo>
                <a:close/>
              </a:path>
            </a:pathLst>
          </a:custGeom>
          <a:solidFill>
            <a:srgbClr val="F1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561941" y="3900220"/>
            <a:ext cx="648614" cy="443788"/>
          </a:xfrm>
          <a:prstGeom prst="roundRect">
            <a:avLst>
              <a:gd name="adj" fmla="val 10302"/>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056936" y="3959961"/>
            <a:ext cx="102412" cy="102412"/>
          </a:xfrm>
          <a:prstGeom prst="ellipse">
            <a:avLst/>
          </a:prstGeom>
          <a:solidFill>
            <a:srgbClr val="E3A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4877714" y="4344009"/>
            <a:ext cx="0" cy="247498"/>
          </a:xfrm>
          <a:prstGeom prst="line">
            <a:avLst/>
          </a:prstGeom>
          <a:ln w="42672">
            <a:solidFill>
              <a:srgbClr val="14213B"/>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971592" y="4693920"/>
            <a:ext cx="375513" cy="546201"/>
          </a:xfrm>
          <a:prstGeom prst="roundRect">
            <a:avLst>
              <a:gd name="adj" fmla="val 1420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116677" y="4804867"/>
            <a:ext cx="85344" cy="85344"/>
          </a:xfrm>
          <a:prstGeom prst="ellipse">
            <a:avLst/>
          </a:prstGeom>
          <a:solidFill>
            <a:srgbClr val="B64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135880" y="2118360"/>
            <a:ext cx="1943100" cy="335280"/>
          </a:xfrm>
          <a:prstGeom prst="roundRect">
            <a:avLst>
              <a:gd name="adj" fmla="val 25000"/>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73040" y="2179320"/>
            <a:ext cx="17678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AE6515"/>
                </a:solidFill>
                <a:latin typeface="DejaVu Sans"/>
              </a:defRPr>
            </a:pPr>
            <a:r>
              <a:t>DEVICE OFFLINE</a:t>
            </a:r>
          </a:p>
        </p:txBody>
      </p:sp>
      <p:cxnSp>
        <p:nvCxnSpPr>
          <p:cNvPr id="33" name="Connector 32"/>
          <p:cNvCxnSpPr/>
          <p:nvPr/>
        </p:nvCxnSpPr>
        <p:spPr>
          <a:xfrm flipH="1">
            <a:off x="5257800" y="2453640"/>
            <a:ext cx="137160" cy="1356360"/>
          </a:xfrm>
          <a:prstGeom prst="line">
            <a:avLst/>
          </a:prstGeom>
          <a:ln w="22859">
            <a:solidFill>
              <a:srgbClr val="AE6515"/>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848600" y="1859280"/>
            <a:ext cx="3855720" cy="4038600"/>
          </a:xfrm>
          <a:prstGeom prst="roundRect">
            <a:avLst>
              <a:gd name="adj" fmla="val 4347"/>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53399" y="2133600"/>
            <a:ext cx="3223260" cy="426720"/>
          </a:xfrm>
          <a:prstGeom prst="rect">
            <a:avLst/>
          </a:prstGeom>
          <a:noFill/>
        </p:spPr>
        <p:txBody>
          <a:bodyPr wrap="none" lIns="0" rIns="0" tIns="0" bIns="0">
            <a:spAutoFit/>
          </a:bodyPr>
          <a:lstStyle/>
          <a:p>
            <a:pPr>
              <a:lnSpc>
                <a:spcPts val="3000"/>
              </a:lnSpc>
              <a:spcBef>
                <a:spcPts val="0"/>
              </a:spcBef>
              <a:spcAft>
                <a:spcPts val="0"/>
              </a:spcAft>
              <a:defRPr sz="2400" b="1">
                <a:solidFill>
                  <a:srgbClr val="FFFFFF"/>
                </a:solidFill>
                <a:latin typeface="DejaVu Sans"/>
              </a:defRPr>
            </a:pPr>
            <a:r>
              <a:t>Where do I start?</a:t>
            </a:r>
          </a:p>
        </p:txBody>
      </p:sp>
      <p:sp>
        <p:nvSpPr>
          <p:cNvPr id="36" name="Oval 35"/>
          <p:cNvSpPr/>
          <p:nvPr/>
        </p:nvSpPr>
        <p:spPr>
          <a:xfrm>
            <a:off x="8221980" y="3268980"/>
            <a:ext cx="304800" cy="304800"/>
          </a:xfrm>
          <a:prstGeom prst="ellipse">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63940" y="3284220"/>
            <a:ext cx="2682240" cy="369570"/>
          </a:xfrm>
          <a:prstGeom prst="rect">
            <a:avLst/>
          </a:prstGeom>
          <a:noFill/>
        </p:spPr>
        <p:txBody>
          <a:bodyPr wrap="none" lIns="0" rIns="0" tIns="0" bIns="0">
            <a:spAutoFit/>
          </a:bodyPr>
          <a:lstStyle/>
          <a:p>
            <a:pPr>
              <a:lnSpc>
                <a:spcPts val="2550"/>
              </a:lnSpc>
              <a:spcBef>
                <a:spcPts val="0"/>
              </a:spcBef>
              <a:spcAft>
                <a:spcPts val="0"/>
              </a:spcAft>
              <a:defRPr sz="2039" b="1">
                <a:solidFill>
                  <a:srgbClr val="FFFFFF"/>
                </a:solidFill>
                <a:latin typeface="DejaVu Sans"/>
              </a:defRPr>
            </a:pPr>
            <a:r>
              <a:t>Power?</a:t>
            </a:r>
          </a:p>
        </p:txBody>
      </p:sp>
      <p:sp>
        <p:nvSpPr>
          <p:cNvPr id="38" name="Oval 37"/>
          <p:cNvSpPr/>
          <p:nvPr/>
        </p:nvSpPr>
        <p:spPr>
          <a:xfrm>
            <a:off x="8221980" y="4030980"/>
            <a:ext cx="304800" cy="304800"/>
          </a:xfrm>
          <a:prstGeom prst="ellipse">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63940" y="4046220"/>
            <a:ext cx="2682240" cy="369570"/>
          </a:xfrm>
          <a:prstGeom prst="rect">
            <a:avLst/>
          </a:prstGeom>
          <a:noFill/>
        </p:spPr>
        <p:txBody>
          <a:bodyPr wrap="none" lIns="0" rIns="0" tIns="0" bIns="0">
            <a:spAutoFit/>
          </a:bodyPr>
          <a:lstStyle/>
          <a:p>
            <a:pPr>
              <a:lnSpc>
                <a:spcPts val="2550"/>
              </a:lnSpc>
              <a:spcBef>
                <a:spcPts val="0"/>
              </a:spcBef>
              <a:spcAft>
                <a:spcPts val="0"/>
              </a:spcAft>
              <a:defRPr sz="2039" b="1">
                <a:solidFill>
                  <a:srgbClr val="FFFFFF"/>
                </a:solidFill>
                <a:latin typeface="DejaVu Sans"/>
              </a:defRPr>
            </a:pPr>
            <a:r>
              <a:t>Connection?</a:t>
            </a:r>
          </a:p>
        </p:txBody>
      </p:sp>
      <p:sp>
        <p:nvSpPr>
          <p:cNvPr id="40" name="Oval 39"/>
          <p:cNvSpPr/>
          <p:nvPr/>
        </p:nvSpPr>
        <p:spPr>
          <a:xfrm>
            <a:off x="8221980" y="4792980"/>
            <a:ext cx="304800" cy="304800"/>
          </a:xfrm>
          <a:prstGeom prst="ellipse">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63940" y="4808220"/>
            <a:ext cx="2682240" cy="369570"/>
          </a:xfrm>
          <a:prstGeom prst="rect">
            <a:avLst/>
          </a:prstGeom>
          <a:noFill/>
        </p:spPr>
        <p:txBody>
          <a:bodyPr wrap="none" lIns="0" rIns="0" tIns="0" bIns="0">
            <a:spAutoFit/>
          </a:bodyPr>
          <a:lstStyle/>
          <a:p>
            <a:pPr>
              <a:lnSpc>
                <a:spcPts val="2550"/>
              </a:lnSpc>
              <a:spcBef>
                <a:spcPts val="0"/>
              </a:spcBef>
              <a:spcAft>
                <a:spcPts val="0"/>
              </a:spcAft>
              <a:defRPr sz="2039" b="1">
                <a:solidFill>
                  <a:srgbClr val="FFFFFF"/>
                </a:solidFill>
                <a:latin typeface="DejaVu Sans"/>
              </a:defRPr>
            </a:pPr>
            <a:r>
              <a:t>Software?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67640"/>
          </a:xfrm>
          <a:prstGeom prst="rect">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80" y="373380"/>
            <a:ext cx="69113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65738C"/>
                </a:solidFill>
                <a:latin typeface="DejaVu Sans"/>
              </a:defRPr>
            </a:pPr>
            <a:r>
              <a:t>OPSREPLAY / HACKATHON PROTOTYPE</a:t>
            </a:r>
          </a:p>
        </p:txBody>
      </p:sp>
      <p:sp>
        <p:nvSpPr>
          <p:cNvPr id="5" name="Rounded Rectangle 4"/>
          <p:cNvSpPr/>
          <p:nvPr/>
        </p:nvSpPr>
        <p:spPr>
          <a:xfrm>
            <a:off x="9982200" y="327660"/>
            <a:ext cx="1714500" cy="335280"/>
          </a:xfrm>
          <a:prstGeom prst="roundRect">
            <a:avLst>
              <a:gd name="adj" fmla="val 25000"/>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19360" y="388620"/>
            <a:ext cx="15392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FFFFFF"/>
                </a:solidFill>
                <a:latin typeface="DejaVu Sans"/>
              </a:defRPr>
            </a:pPr>
            <a:r>
              <a:t>SOLO PROJECT</a:t>
            </a:r>
          </a:p>
        </p:txBody>
      </p:sp>
      <p:sp>
        <p:nvSpPr>
          <p:cNvPr id="7" name="TextBox 6"/>
          <p:cNvSpPr txBox="1"/>
          <p:nvPr/>
        </p:nvSpPr>
        <p:spPr>
          <a:xfrm>
            <a:off x="487680" y="853440"/>
            <a:ext cx="11254740" cy="541020"/>
          </a:xfrm>
          <a:prstGeom prst="rect">
            <a:avLst/>
          </a:prstGeom>
          <a:noFill/>
        </p:spPr>
        <p:txBody>
          <a:bodyPr wrap="none" lIns="0" rIns="0" tIns="0" bIns="0">
            <a:spAutoFit/>
          </a:bodyPr>
          <a:lstStyle/>
          <a:p>
            <a:pPr>
              <a:lnSpc>
                <a:spcPts val="3900"/>
              </a:lnSpc>
              <a:spcBef>
                <a:spcPts val="0"/>
              </a:spcBef>
              <a:spcAft>
                <a:spcPts val="0"/>
              </a:spcAft>
              <a:defRPr sz="3120" b="1">
                <a:solidFill>
                  <a:srgbClr val="14213B"/>
                </a:solidFill>
                <a:latin typeface="DejaVu Sans"/>
              </a:defRPr>
            </a:pPr>
            <a:r>
              <a:t>Two sources. One missing story.</a:t>
            </a:r>
          </a:p>
        </p:txBody>
      </p:sp>
      <p:sp>
        <p:nvSpPr>
          <p:cNvPr id="8" name="TextBox 7"/>
          <p:cNvSpPr txBox="1"/>
          <p:nvPr/>
        </p:nvSpPr>
        <p:spPr>
          <a:xfrm>
            <a:off x="502920" y="1394460"/>
            <a:ext cx="11102340" cy="274320"/>
          </a:xfrm>
          <a:prstGeom prst="rect">
            <a:avLst/>
          </a:prstGeom>
          <a:noFill/>
        </p:spPr>
        <p:txBody>
          <a:bodyPr wrap="none" lIns="0" rIns="0" tIns="0" bIns="0">
            <a:spAutoFit/>
          </a:bodyPr>
          <a:lstStyle/>
          <a:p>
            <a:pPr>
              <a:lnSpc>
                <a:spcPts val="1800"/>
              </a:lnSpc>
              <a:spcBef>
                <a:spcPts val="0"/>
              </a:spcBef>
              <a:spcAft>
                <a:spcPts val="0"/>
              </a:spcAft>
              <a:defRPr sz="1439" b="0">
                <a:solidFill>
                  <a:srgbClr val="65738C"/>
                </a:solidFill>
                <a:latin typeface="DejaVu Sans"/>
              </a:defRPr>
            </a:pPr>
            <a:r>
              <a:t>Device records and software changes need context.</a:t>
            </a:r>
          </a:p>
        </p:txBody>
      </p:sp>
      <p:cxnSp>
        <p:nvCxnSpPr>
          <p:cNvPr id="9" name="Connector 8"/>
          <p:cNvCxnSpPr/>
          <p:nvPr/>
        </p:nvCxnSpPr>
        <p:spPr>
          <a:xfrm>
            <a:off x="487680" y="6217920"/>
            <a:ext cx="11216640" cy="0"/>
          </a:xfrm>
          <a:prstGeom prst="line">
            <a:avLst/>
          </a:prstGeom>
          <a:ln w="15240">
            <a:solidFill>
              <a:srgbClr val="DCE1E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7680" y="6385560"/>
            <a:ext cx="8435340" cy="226695"/>
          </a:xfrm>
          <a:prstGeom prst="rect">
            <a:avLst/>
          </a:prstGeom>
          <a:noFill/>
        </p:spPr>
        <p:txBody>
          <a:bodyPr wrap="none" lIns="0" rIns="0" tIns="0" bIns="0">
            <a:spAutoFit/>
          </a:bodyPr>
          <a:lstStyle/>
          <a:p>
            <a:pPr>
              <a:lnSpc>
                <a:spcPts val="1425"/>
              </a:lnSpc>
              <a:spcBef>
                <a:spcPts val="0"/>
              </a:spcBef>
              <a:spcAft>
                <a:spcPts val="0"/>
              </a:spcAft>
              <a:defRPr sz="1140" b="0">
                <a:solidFill>
                  <a:srgbClr val="65738C"/>
                </a:solidFill>
                <a:latin typeface="DejaVu Sans"/>
              </a:defRPr>
            </a:pPr>
            <a:r>
              <a:t>SIMULATED IoT · Public GitHub API · Gemini</a:t>
            </a:r>
          </a:p>
        </p:txBody>
      </p:sp>
      <p:sp>
        <p:nvSpPr>
          <p:cNvPr id="11" name="TextBox 10"/>
          <p:cNvSpPr txBox="1"/>
          <p:nvPr/>
        </p:nvSpPr>
        <p:spPr>
          <a:xfrm>
            <a:off x="10515600" y="6370320"/>
            <a:ext cx="1272540" cy="255270"/>
          </a:xfrm>
          <a:prstGeom prst="rect">
            <a:avLst/>
          </a:prstGeom>
          <a:noFill/>
        </p:spPr>
        <p:txBody>
          <a:bodyPr wrap="none" lIns="0" rIns="0" tIns="0" bIns="0">
            <a:spAutoFit/>
          </a:bodyPr>
          <a:lstStyle/>
          <a:p>
            <a:pPr>
              <a:lnSpc>
                <a:spcPts val="1650"/>
              </a:lnSpc>
              <a:spcBef>
                <a:spcPts val="0"/>
              </a:spcBef>
              <a:spcAft>
                <a:spcPts val="0"/>
              </a:spcAft>
              <a:defRPr sz="1320" b="1">
                <a:solidFill>
                  <a:srgbClr val="7051E8"/>
                </a:solidFill>
                <a:latin typeface="DejaVu Sans"/>
              </a:defRPr>
            </a:pPr>
            <a:r>
              <a:t>02 / 09</a:t>
            </a:r>
          </a:p>
        </p:txBody>
      </p:sp>
      <p:sp>
        <p:nvSpPr>
          <p:cNvPr id="12" name="Rounded Rectangle 11"/>
          <p:cNvSpPr/>
          <p:nvPr/>
        </p:nvSpPr>
        <p:spPr>
          <a:xfrm>
            <a:off x="487680" y="1905000"/>
            <a:ext cx="4762500" cy="3162300"/>
          </a:xfrm>
          <a:prstGeom prst="roundRect">
            <a:avLst>
              <a:gd name="adj" fmla="val 530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2133600"/>
            <a:ext cx="640080" cy="426720"/>
          </a:xfrm>
          <a:prstGeom prst="roundRect">
            <a:avLst>
              <a:gd name="adj" fmla="val 14285"/>
            </a:avLst>
          </a:prstGeom>
          <a:solidFill>
            <a:srgbClr val="E9E4FF"/>
          </a:solidFill>
          <a:ln w="22860">
            <a:solidFill>
              <a:srgbClr val="705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051560" y="2560320"/>
            <a:ext cx="0" cy="12192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68680" y="2682240"/>
            <a:ext cx="36576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76300" y="2331720"/>
            <a:ext cx="114299"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990599" y="2232660"/>
            <a:ext cx="68581" cy="9906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9180" y="2232660"/>
            <a:ext cx="83820" cy="20574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143000" y="2324100"/>
            <a:ext cx="99060" cy="11430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592580" y="2255520"/>
            <a:ext cx="3406140" cy="369570"/>
          </a:xfrm>
          <a:prstGeom prst="rect">
            <a:avLst/>
          </a:prstGeom>
          <a:noFill/>
        </p:spPr>
        <p:txBody>
          <a:bodyPr wrap="none" lIns="0" rIns="0" tIns="0" bIns="0">
            <a:spAutoFit/>
          </a:bodyPr>
          <a:lstStyle/>
          <a:p>
            <a:pPr>
              <a:lnSpc>
                <a:spcPts val="2550"/>
              </a:lnSpc>
              <a:spcBef>
                <a:spcPts val="0"/>
              </a:spcBef>
              <a:spcAft>
                <a:spcPts val="0"/>
              </a:spcAft>
              <a:defRPr sz="2039" b="1">
                <a:solidFill>
                  <a:srgbClr val="14213B"/>
                </a:solidFill>
                <a:latin typeface="DejaVu Sans"/>
              </a:defRPr>
            </a:pPr>
            <a:r>
              <a:t>Device telemetry</a:t>
            </a:r>
          </a:p>
        </p:txBody>
      </p:sp>
      <p:sp>
        <p:nvSpPr>
          <p:cNvPr id="21" name="Rounded Rectangle 20"/>
          <p:cNvSpPr/>
          <p:nvPr/>
        </p:nvSpPr>
        <p:spPr>
          <a:xfrm>
            <a:off x="716280" y="3017520"/>
            <a:ext cx="4305300" cy="449580"/>
          </a:xfrm>
          <a:prstGeom prst="roundRect">
            <a:avLst>
              <a:gd name="adj" fmla="val 20338"/>
            </a:avLst>
          </a:prstGeom>
          <a:solidFill>
            <a:srgbClr val="DD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108960"/>
            <a:ext cx="4015740" cy="312420"/>
          </a:xfrm>
          <a:prstGeom prst="rect">
            <a:avLst/>
          </a:prstGeom>
          <a:noFill/>
        </p:spPr>
        <p:txBody>
          <a:bodyPr wrap="none" lIns="0" rIns="0" tIns="0" bIns="0">
            <a:spAutoFit/>
          </a:bodyPr>
          <a:lstStyle/>
          <a:p>
            <a:pPr>
              <a:lnSpc>
                <a:spcPts val="2100"/>
              </a:lnSpc>
              <a:spcBef>
                <a:spcPts val="0"/>
              </a:spcBef>
              <a:spcAft>
                <a:spcPts val="0"/>
              </a:spcAft>
              <a:defRPr sz="1680" b="0">
                <a:solidFill>
                  <a:srgbClr val="21314A"/>
                </a:solidFill>
                <a:latin typeface="DejaVu Sans"/>
              </a:defRPr>
            </a:pPr>
            <a:r>
              <a:t>09:01:45 1850 W</a:t>
            </a:r>
          </a:p>
        </p:txBody>
      </p:sp>
      <p:sp>
        <p:nvSpPr>
          <p:cNvPr id="23" name="Rounded Rectangle 22"/>
          <p:cNvSpPr/>
          <p:nvPr/>
        </p:nvSpPr>
        <p:spPr>
          <a:xfrm>
            <a:off x="716280" y="3589020"/>
            <a:ext cx="4305300" cy="449580"/>
          </a:xfrm>
          <a:prstGeom prst="roundRect">
            <a:avLst>
              <a:gd name="adj" fmla="val 20338"/>
            </a:avLst>
          </a:prstGeom>
          <a:solidFill>
            <a:srgbClr val="DD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3680460"/>
            <a:ext cx="4015740" cy="312420"/>
          </a:xfrm>
          <a:prstGeom prst="rect">
            <a:avLst/>
          </a:prstGeom>
          <a:noFill/>
        </p:spPr>
        <p:txBody>
          <a:bodyPr wrap="none" lIns="0" rIns="0" tIns="0" bIns="0">
            <a:spAutoFit/>
          </a:bodyPr>
          <a:lstStyle/>
          <a:p>
            <a:pPr>
              <a:lnSpc>
                <a:spcPts val="2100"/>
              </a:lnSpc>
              <a:spcBef>
                <a:spcPts val="0"/>
              </a:spcBef>
              <a:spcAft>
                <a:spcPts val="0"/>
              </a:spcAft>
              <a:defRPr sz="1680" b="0">
                <a:solidFill>
                  <a:srgbClr val="21314A"/>
                </a:solidFill>
                <a:latin typeface="DejaVu Sans"/>
              </a:defRPr>
            </a:pPr>
            <a:r>
              <a:t>09:01:50 1720 W</a:t>
            </a:r>
          </a:p>
        </p:txBody>
      </p:sp>
      <p:sp>
        <p:nvSpPr>
          <p:cNvPr id="25" name="Rounded Rectangle 24"/>
          <p:cNvSpPr/>
          <p:nvPr/>
        </p:nvSpPr>
        <p:spPr>
          <a:xfrm>
            <a:off x="716280" y="4160520"/>
            <a:ext cx="4305300" cy="449580"/>
          </a:xfrm>
          <a:prstGeom prst="roundRect">
            <a:avLst>
              <a:gd name="adj" fmla="val 20338"/>
            </a:avLst>
          </a:prstGeom>
          <a:solidFill>
            <a:srgbClr val="DD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251960"/>
            <a:ext cx="4015740" cy="312420"/>
          </a:xfrm>
          <a:prstGeom prst="rect">
            <a:avLst/>
          </a:prstGeom>
          <a:noFill/>
        </p:spPr>
        <p:txBody>
          <a:bodyPr wrap="none" lIns="0" rIns="0" tIns="0" bIns="0">
            <a:spAutoFit/>
          </a:bodyPr>
          <a:lstStyle/>
          <a:p>
            <a:pPr>
              <a:lnSpc>
                <a:spcPts val="2100"/>
              </a:lnSpc>
              <a:spcBef>
                <a:spcPts val="0"/>
              </a:spcBef>
              <a:spcAft>
                <a:spcPts val="0"/>
              </a:spcAft>
              <a:defRPr sz="1680" b="0">
                <a:solidFill>
                  <a:srgbClr val="21314A"/>
                </a:solidFill>
                <a:latin typeface="DejaVu Sans"/>
              </a:defRPr>
            </a:pPr>
            <a:r>
              <a:t>09:03:00 offline</a:t>
            </a:r>
          </a:p>
        </p:txBody>
      </p:sp>
      <p:sp>
        <p:nvSpPr>
          <p:cNvPr id="27" name="Rounded Rectangle 26"/>
          <p:cNvSpPr/>
          <p:nvPr/>
        </p:nvSpPr>
        <p:spPr>
          <a:xfrm>
            <a:off x="6941820" y="1905000"/>
            <a:ext cx="4762500" cy="3162300"/>
          </a:xfrm>
          <a:prstGeom prst="roundRect">
            <a:avLst>
              <a:gd name="adj" fmla="val 530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54240" y="2179320"/>
            <a:ext cx="472440" cy="472440"/>
          </a:xfrm>
          <a:prstGeom prst="ellipse">
            <a:avLst/>
          </a:prstGeom>
          <a:solidFill>
            <a:srgbClr val="E9E4FF"/>
          </a:solidFill>
          <a:ln w="22860">
            <a:solidFill>
              <a:srgbClr val="705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flipH="1" flipV="1">
            <a:off x="7315200" y="2133600"/>
            <a:ext cx="22860" cy="12954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315200" y="2133600"/>
            <a:ext cx="129540" cy="6858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551420" y="2133600"/>
            <a:ext cx="129540" cy="6858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7658100" y="2133600"/>
            <a:ext cx="22860" cy="12954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490460" y="2636520"/>
            <a:ext cx="0" cy="10668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046720" y="2255520"/>
            <a:ext cx="3406140" cy="369570"/>
          </a:xfrm>
          <a:prstGeom prst="rect">
            <a:avLst/>
          </a:prstGeom>
          <a:noFill/>
        </p:spPr>
        <p:txBody>
          <a:bodyPr wrap="none" lIns="0" rIns="0" tIns="0" bIns="0">
            <a:spAutoFit/>
          </a:bodyPr>
          <a:lstStyle/>
          <a:p>
            <a:pPr>
              <a:lnSpc>
                <a:spcPts val="2550"/>
              </a:lnSpc>
              <a:spcBef>
                <a:spcPts val="0"/>
              </a:spcBef>
              <a:spcAft>
                <a:spcPts val="0"/>
              </a:spcAft>
              <a:defRPr sz="2039" b="1">
                <a:solidFill>
                  <a:srgbClr val="14213B"/>
                </a:solidFill>
                <a:latin typeface="DejaVu Sans"/>
              </a:defRPr>
            </a:pPr>
            <a:r>
              <a:t>GitHub activity</a:t>
            </a:r>
          </a:p>
        </p:txBody>
      </p:sp>
      <p:sp>
        <p:nvSpPr>
          <p:cNvPr id="35" name="Rounded Rectangle 34"/>
          <p:cNvSpPr/>
          <p:nvPr/>
        </p:nvSpPr>
        <p:spPr>
          <a:xfrm>
            <a:off x="7170420" y="3017520"/>
            <a:ext cx="4305300" cy="449580"/>
          </a:xfrm>
          <a:prstGeom prst="roundRect">
            <a:avLst>
              <a:gd name="adj" fmla="val 20338"/>
            </a:avLst>
          </a:prstGeom>
          <a:solidFill>
            <a:srgbClr val="E9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22820" y="3108960"/>
            <a:ext cx="4015740" cy="312420"/>
          </a:xfrm>
          <a:prstGeom prst="rect">
            <a:avLst/>
          </a:prstGeom>
          <a:noFill/>
        </p:spPr>
        <p:txBody>
          <a:bodyPr wrap="none" lIns="0" rIns="0" tIns="0" bIns="0">
            <a:spAutoFit/>
          </a:bodyPr>
          <a:lstStyle/>
          <a:p>
            <a:pPr>
              <a:lnSpc>
                <a:spcPts val="2100"/>
              </a:lnSpc>
              <a:spcBef>
                <a:spcPts val="0"/>
              </a:spcBef>
              <a:spcAft>
                <a:spcPts val="0"/>
              </a:spcAft>
              <a:defRPr sz="1680" b="0">
                <a:solidFill>
                  <a:srgbClr val="21314A"/>
                </a:solidFill>
                <a:latin typeface="DejaVu Sans"/>
              </a:defRPr>
            </a:pPr>
            <a:r>
              <a:t>Commit</a:t>
            </a:r>
          </a:p>
        </p:txBody>
      </p:sp>
      <p:sp>
        <p:nvSpPr>
          <p:cNvPr id="37" name="Rounded Rectangle 36"/>
          <p:cNvSpPr/>
          <p:nvPr/>
        </p:nvSpPr>
        <p:spPr>
          <a:xfrm>
            <a:off x="7170420" y="3589020"/>
            <a:ext cx="4305300" cy="449580"/>
          </a:xfrm>
          <a:prstGeom prst="roundRect">
            <a:avLst>
              <a:gd name="adj" fmla="val 20338"/>
            </a:avLst>
          </a:prstGeom>
          <a:solidFill>
            <a:srgbClr val="E9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22820" y="3680460"/>
            <a:ext cx="4015740" cy="312420"/>
          </a:xfrm>
          <a:prstGeom prst="rect">
            <a:avLst/>
          </a:prstGeom>
          <a:noFill/>
        </p:spPr>
        <p:txBody>
          <a:bodyPr wrap="none" lIns="0" rIns="0" tIns="0" bIns="0">
            <a:spAutoFit/>
          </a:bodyPr>
          <a:lstStyle/>
          <a:p>
            <a:pPr>
              <a:lnSpc>
                <a:spcPts val="2100"/>
              </a:lnSpc>
              <a:spcBef>
                <a:spcPts val="0"/>
              </a:spcBef>
              <a:spcAft>
                <a:spcPts val="0"/>
              </a:spcAft>
              <a:defRPr sz="1680" b="0">
                <a:solidFill>
                  <a:srgbClr val="21314A"/>
                </a:solidFill>
                <a:latin typeface="DejaVu Sans"/>
              </a:defRPr>
            </a:pPr>
            <a:r>
              <a:t>Pull request</a:t>
            </a:r>
          </a:p>
        </p:txBody>
      </p:sp>
      <p:sp>
        <p:nvSpPr>
          <p:cNvPr id="39" name="Rounded Rectangle 38"/>
          <p:cNvSpPr/>
          <p:nvPr/>
        </p:nvSpPr>
        <p:spPr>
          <a:xfrm>
            <a:off x="7170420" y="4160520"/>
            <a:ext cx="4305300" cy="449580"/>
          </a:xfrm>
          <a:prstGeom prst="roundRect">
            <a:avLst>
              <a:gd name="adj" fmla="val 20338"/>
            </a:avLst>
          </a:prstGeom>
          <a:solidFill>
            <a:srgbClr val="E9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22820" y="4251960"/>
            <a:ext cx="4015740" cy="312420"/>
          </a:xfrm>
          <a:prstGeom prst="rect">
            <a:avLst/>
          </a:prstGeom>
          <a:noFill/>
        </p:spPr>
        <p:txBody>
          <a:bodyPr wrap="none" lIns="0" rIns="0" tIns="0" bIns="0">
            <a:spAutoFit/>
          </a:bodyPr>
          <a:lstStyle/>
          <a:p>
            <a:pPr>
              <a:lnSpc>
                <a:spcPts val="2100"/>
              </a:lnSpc>
              <a:spcBef>
                <a:spcPts val="0"/>
              </a:spcBef>
              <a:spcAft>
                <a:spcPts val="0"/>
              </a:spcAft>
              <a:defRPr sz="1680" b="0">
                <a:solidFill>
                  <a:srgbClr val="21314A"/>
                </a:solidFill>
                <a:latin typeface="DejaVu Sans"/>
              </a:defRPr>
            </a:pPr>
            <a:r>
              <a:t>Workflow run</a:t>
            </a:r>
          </a:p>
        </p:txBody>
      </p:sp>
      <p:sp>
        <p:nvSpPr>
          <p:cNvPr id="41" name="Oval 40"/>
          <p:cNvSpPr/>
          <p:nvPr/>
        </p:nvSpPr>
        <p:spPr>
          <a:xfrm>
            <a:off x="5532120" y="2865120"/>
            <a:ext cx="1127760" cy="1127760"/>
          </a:xfrm>
          <a:prstGeom prst="ellipse">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897880" y="3025140"/>
            <a:ext cx="739140" cy="788670"/>
          </a:xfrm>
          <a:prstGeom prst="rect">
            <a:avLst/>
          </a:prstGeom>
          <a:noFill/>
        </p:spPr>
        <p:txBody>
          <a:bodyPr wrap="none" lIns="0" rIns="0" tIns="0" bIns="0">
            <a:spAutoFit/>
          </a:bodyPr>
          <a:lstStyle/>
          <a:p>
            <a:pPr>
              <a:lnSpc>
                <a:spcPts val="5850"/>
              </a:lnSpc>
              <a:spcBef>
                <a:spcPts val="0"/>
              </a:spcBef>
              <a:spcAft>
                <a:spcPts val="0"/>
              </a:spcAft>
              <a:defRPr sz="4680" b="1">
                <a:solidFill>
                  <a:srgbClr val="FFFFFF"/>
                </a:solidFill>
                <a:latin typeface="DejaVu Sans"/>
              </a:defRPr>
            </a:pPr>
            <a:r>
              <a:t>?</a:t>
            </a:r>
          </a:p>
        </p:txBody>
      </p:sp>
      <p:cxnSp>
        <p:nvCxnSpPr>
          <p:cNvPr id="43" name="Connector 42"/>
          <p:cNvCxnSpPr/>
          <p:nvPr/>
        </p:nvCxnSpPr>
        <p:spPr>
          <a:xfrm>
            <a:off x="5394960" y="3429000"/>
            <a:ext cx="121920" cy="0"/>
          </a:xfrm>
          <a:prstGeom prst="line">
            <a:avLst/>
          </a:prstGeom>
          <a:ln w="3810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675120" y="3429000"/>
            <a:ext cx="121920" cy="0"/>
          </a:xfrm>
          <a:prstGeom prst="line">
            <a:avLst/>
          </a:prstGeom>
          <a:ln w="38100">
            <a:solidFill>
              <a:srgbClr val="7051E8"/>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487680" y="5257800"/>
            <a:ext cx="11216640" cy="647700"/>
          </a:xfrm>
          <a:prstGeom prst="roundRect">
            <a:avLst>
              <a:gd name="adj" fmla="val 25000"/>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01040" y="5440680"/>
            <a:ext cx="10835640" cy="283845"/>
          </a:xfrm>
          <a:prstGeom prst="rect">
            <a:avLst/>
          </a:prstGeom>
          <a:noFill/>
        </p:spPr>
        <p:txBody>
          <a:bodyPr wrap="none" lIns="0" rIns="0" tIns="0" bIns="0">
            <a:spAutoFit/>
          </a:bodyPr>
          <a:lstStyle/>
          <a:p>
            <a:pPr>
              <a:lnSpc>
                <a:spcPts val="1875"/>
              </a:lnSpc>
              <a:spcBef>
                <a:spcPts val="0"/>
              </a:spcBef>
              <a:spcAft>
                <a:spcPts val="0"/>
              </a:spcAft>
              <a:defRPr sz="1500" b="1">
                <a:solidFill>
                  <a:srgbClr val="AE6515"/>
                </a:solidFill>
                <a:latin typeface="DejaVu Sans"/>
              </a:defRPr>
            </a:pPr>
            <a:r>
              <a:t>Real-world context: Square’s September 2023 outage disrupted seller services. [S5]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67640"/>
          </a:xfrm>
          <a:prstGeom prst="rect">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80" y="373380"/>
            <a:ext cx="69113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65738C"/>
                </a:solidFill>
                <a:latin typeface="DejaVu Sans"/>
              </a:defRPr>
            </a:pPr>
            <a:r>
              <a:t>OPSREPLAY / HACKATHON PROTOTYPE</a:t>
            </a:r>
          </a:p>
        </p:txBody>
      </p:sp>
      <p:sp>
        <p:nvSpPr>
          <p:cNvPr id="5" name="Rounded Rectangle 4"/>
          <p:cNvSpPr/>
          <p:nvPr/>
        </p:nvSpPr>
        <p:spPr>
          <a:xfrm>
            <a:off x="9982200" y="327660"/>
            <a:ext cx="1714500" cy="335280"/>
          </a:xfrm>
          <a:prstGeom prst="roundRect">
            <a:avLst>
              <a:gd name="adj" fmla="val 25000"/>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19360" y="388620"/>
            <a:ext cx="15392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FFFFFF"/>
                </a:solidFill>
                <a:latin typeface="DejaVu Sans"/>
              </a:defRPr>
            </a:pPr>
            <a:r>
              <a:t>SOLO PROJECT</a:t>
            </a:r>
          </a:p>
        </p:txBody>
      </p:sp>
      <p:sp>
        <p:nvSpPr>
          <p:cNvPr id="7" name="TextBox 6"/>
          <p:cNvSpPr txBox="1"/>
          <p:nvPr/>
        </p:nvSpPr>
        <p:spPr>
          <a:xfrm>
            <a:off x="487680" y="853440"/>
            <a:ext cx="11254740" cy="541020"/>
          </a:xfrm>
          <a:prstGeom prst="rect">
            <a:avLst/>
          </a:prstGeom>
          <a:noFill/>
        </p:spPr>
        <p:txBody>
          <a:bodyPr wrap="none" lIns="0" rIns="0" tIns="0" bIns="0">
            <a:spAutoFit/>
          </a:bodyPr>
          <a:lstStyle/>
          <a:p>
            <a:pPr>
              <a:lnSpc>
                <a:spcPts val="3900"/>
              </a:lnSpc>
              <a:spcBef>
                <a:spcPts val="0"/>
              </a:spcBef>
              <a:spcAft>
                <a:spcPts val="0"/>
              </a:spcAft>
              <a:defRPr sz="3120" b="1">
                <a:solidFill>
                  <a:srgbClr val="14213B"/>
                </a:solidFill>
                <a:latin typeface="DejaVu Sans"/>
              </a:defRPr>
            </a:pPr>
            <a:r>
              <a:t>Useful approaches already exist.</a:t>
            </a:r>
          </a:p>
        </p:txBody>
      </p:sp>
      <p:sp>
        <p:nvSpPr>
          <p:cNvPr id="8" name="TextBox 7"/>
          <p:cNvSpPr txBox="1"/>
          <p:nvPr/>
        </p:nvSpPr>
        <p:spPr>
          <a:xfrm>
            <a:off x="502920" y="1394460"/>
            <a:ext cx="11102340" cy="274320"/>
          </a:xfrm>
          <a:prstGeom prst="rect">
            <a:avLst/>
          </a:prstGeom>
          <a:noFill/>
        </p:spPr>
        <p:txBody>
          <a:bodyPr wrap="none" lIns="0" rIns="0" tIns="0" bIns="0">
            <a:spAutoFit/>
          </a:bodyPr>
          <a:lstStyle/>
          <a:p>
            <a:pPr>
              <a:lnSpc>
                <a:spcPts val="1800"/>
              </a:lnSpc>
              <a:spcBef>
                <a:spcPts val="0"/>
              </a:spcBef>
              <a:spcAft>
                <a:spcPts val="0"/>
              </a:spcAft>
              <a:defRPr sz="1439" b="0">
                <a:solidFill>
                  <a:srgbClr val="65738C"/>
                </a:solidFill>
                <a:latin typeface="DejaVu Sans"/>
              </a:defRPr>
            </a:pPr>
            <a:r>
              <a:t>A documentation-based comparison — not a performance benchmark.</a:t>
            </a:r>
          </a:p>
        </p:txBody>
      </p:sp>
      <p:cxnSp>
        <p:nvCxnSpPr>
          <p:cNvPr id="9" name="Connector 8"/>
          <p:cNvCxnSpPr/>
          <p:nvPr/>
        </p:nvCxnSpPr>
        <p:spPr>
          <a:xfrm>
            <a:off x="487680" y="6217920"/>
            <a:ext cx="11216640" cy="0"/>
          </a:xfrm>
          <a:prstGeom prst="line">
            <a:avLst/>
          </a:prstGeom>
          <a:ln w="15240">
            <a:solidFill>
              <a:srgbClr val="DCE1E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7680" y="6385560"/>
            <a:ext cx="8435340" cy="226695"/>
          </a:xfrm>
          <a:prstGeom prst="rect">
            <a:avLst/>
          </a:prstGeom>
          <a:noFill/>
        </p:spPr>
        <p:txBody>
          <a:bodyPr wrap="none" lIns="0" rIns="0" tIns="0" bIns="0">
            <a:spAutoFit/>
          </a:bodyPr>
          <a:lstStyle/>
          <a:p>
            <a:pPr>
              <a:lnSpc>
                <a:spcPts val="1425"/>
              </a:lnSpc>
              <a:spcBef>
                <a:spcPts val="0"/>
              </a:spcBef>
              <a:spcAft>
                <a:spcPts val="0"/>
              </a:spcAft>
              <a:defRPr sz="1140" b="0">
                <a:solidFill>
                  <a:srgbClr val="65738C"/>
                </a:solidFill>
                <a:latin typeface="DejaVu Sans"/>
              </a:defRPr>
            </a:pPr>
            <a:r>
              <a:t>SIMULATED IoT · Public GitHub API · Gemini</a:t>
            </a:r>
          </a:p>
        </p:txBody>
      </p:sp>
      <p:sp>
        <p:nvSpPr>
          <p:cNvPr id="11" name="TextBox 10"/>
          <p:cNvSpPr txBox="1"/>
          <p:nvPr/>
        </p:nvSpPr>
        <p:spPr>
          <a:xfrm>
            <a:off x="10515600" y="6370320"/>
            <a:ext cx="1272540" cy="255270"/>
          </a:xfrm>
          <a:prstGeom prst="rect">
            <a:avLst/>
          </a:prstGeom>
          <a:noFill/>
        </p:spPr>
        <p:txBody>
          <a:bodyPr wrap="none" lIns="0" rIns="0" tIns="0" bIns="0">
            <a:spAutoFit/>
          </a:bodyPr>
          <a:lstStyle/>
          <a:p>
            <a:pPr>
              <a:lnSpc>
                <a:spcPts val="1650"/>
              </a:lnSpc>
              <a:spcBef>
                <a:spcPts val="0"/>
              </a:spcBef>
              <a:spcAft>
                <a:spcPts val="0"/>
              </a:spcAft>
              <a:defRPr sz="1320" b="1">
                <a:solidFill>
                  <a:srgbClr val="7051E8"/>
                </a:solidFill>
                <a:latin typeface="DejaVu Sans"/>
              </a:defRPr>
            </a:pPr>
            <a:r>
              <a:t>03 / 09</a:t>
            </a:r>
          </a:p>
        </p:txBody>
      </p:sp>
      <p:sp>
        <p:nvSpPr>
          <p:cNvPr id="12" name="Rounded Rectangle 11"/>
          <p:cNvSpPr/>
          <p:nvPr/>
        </p:nvSpPr>
        <p:spPr>
          <a:xfrm>
            <a:off x="487680" y="1905000"/>
            <a:ext cx="3566160" cy="3246120"/>
          </a:xfrm>
          <a:prstGeom prst="roundRect">
            <a:avLst>
              <a:gd name="adj" fmla="val 516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01040" y="2110740"/>
            <a:ext cx="1356360" cy="335280"/>
          </a:xfrm>
          <a:prstGeom prst="roundRect">
            <a:avLst>
              <a:gd name="adj" fmla="val 25000"/>
            </a:avLst>
          </a:prstGeom>
          <a:solidFill>
            <a:srgbClr val="E9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200" y="2171700"/>
            <a:ext cx="118110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7051E8"/>
                </a:solidFill>
                <a:latin typeface="DejaVu Sans"/>
              </a:defRPr>
            </a:pPr>
            <a:r>
              <a:t>01</a:t>
            </a:r>
          </a:p>
        </p:txBody>
      </p:sp>
      <p:sp>
        <p:nvSpPr>
          <p:cNvPr id="15" name="Oval 14"/>
          <p:cNvSpPr/>
          <p:nvPr/>
        </p:nvSpPr>
        <p:spPr>
          <a:xfrm>
            <a:off x="766571" y="2754249"/>
            <a:ext cx="455675" cy="455675"/>
          </a:xfrm>
          <a:prstGeom prst="ellipse">
            <a:avLst/>
          </a:prstGeom>
          <a:solidFill>
            <a:srgbClr val="E9E4FF"/>
          </a:solidFill>
          <a:ln w="22860">
            <a:solidFill>
              <a:srgbClr val="705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1160907" y="3157347"/>
            <a:ext cx="236600" cy="236601"/>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6280" y="3581400"/>
            <a:ext cx="3177540" cy="398145"/>
          </a:xfrm>
          <a:prstGeom prst="rect">
            <a:avLst/>
          </a:prstGeom>
          <a:noFill/>
        </p:spPr>
        <p:txBody>
          <a:bodyPr wrap="none" lIns="0" rIns="0" tIns="0" bIns="0">
            <a:spAutoFit/>
          </a:bodyPr>
          <a:lstStyle/>
          <a:p>
            <a:pPr>
              <a:lnSpc>
                <a:spcPts val="2775"/>
              </a:lnSpc>
              <a:spcBef>
                <a:spcPts val="0"/>
              </a:spcBef>
              <a:spcAft>
                <a:spcPts val="0"/>
              </a:spcAft>
              <a:defRPr sz="2220" b="1">
                <a:solidFill>
                  <a:srgbClr val="14213B"/>
                </a:solidFill>
                <a:latin typeface="DejaVu Sans"/>
              </a:defRPr>
            </a:pPr>
            <a:r>
              <a:t>Manual review</a:t>
            </a:r>
          </a:p>
        </p:txBody>
      </p:sp>
      <p:sp>
        <p:nvSpPr>
          <p:cNvPr id="18" name="TextBox 17"/>
          <p:cNvSpPr txBox="1"/>
          <p:nvPr/>
        </p:nvSpPr>
        <p:spPr>
          <a:xfrm>
            <a:off x="716280" y="4076699"/>
            <a:ext cx="3177540" cy="321945"/>
          </a:xfrm>
          <a:prstGeom prst="rect">
            <a:avLst/>
          </a:prstGeom>
          <a:noFill/>
        </p:spPr>
        <p:txBody>
          <a:bodyPr wrap="none" lIns="0" rIns="0" tIns="0" bIns="0">
            <a:spAutoFit/>
          </a:bodyPr>
          <a:lstStyle/>
          <a:p>
            <a:pPr>
              <a:lnSpc>
                <a:spcPts val="2175"/>
              </a:lnSpc>
              <a:spcBef>
                <a:spcPts val="0"/>
              </a:spcBef>
              <a:spcAft>
                <a:spcPts val="0"/>
              </a:spcAft>
              <a:defRPr sz="1739" b="0">
                <a:solidFill>
                  <a:srgbClr val="21314A"/>
                </a:solidFill>
                <a:latin typeface="DejaVu Sans"/>
              </a:defRPr>
            </a:pPr>
            <a:r>
              <a:t>Open each source</a:t>
            </a:r>
          </a:p>
        </p:txBody>
      </p:sp>
      <p:sp>
        <p:nvSpPr>
          <p:cNvPr id="19" name="TextBox 18"/>
          <p:cNvSpPr txBox="1"/>
          <p:nvPr/>
        </p:nvSpPr>
        <p:spPr>
          <a:xfrm>
            <a:off x="716280" y="4495800"/>
            <a:ext cx="3177540" cy="283845"/>
          </a:xfrm>
          <a:prstGeom prst="rect">
            <a:avLst/>
          </a:prstGeom>
          <a:noFill/>
        </p:spPr>
        <p:txBody>
          <a:bodyPr wrap="none" lIns="0" rIns="0" tIns="0" bIns="0">
            <a:spAutoFit/>
          </a:bodyPr>
          <a:lstStyle/>
          <a:p>
            <a:pPr>
              <a:lnSpc>
                <a:spcPts val="1875"/>
              </a:lnSpc>
              <a:spcBef>
                <a:spcPts val="0"/>
              </a:spcBef>
              <a:spcAft>
                <a:spcPts val="0"/>
              </a:spcAft>
              <a:defRPr sz="1500" b="0">
                <a:solidFill>
                  <a:srgbClr val="65738C"/>
                </a:solidFill>
                <a:latin typeface="DejaVu Sans"/>
              </a:defRPr>
            </a:pPr>
            <a:r>
              <a:t>Build the sequence</a:t>
            </a:r>
          </a:p>
        </p:txBody>
      </p:sp>
      <p:sp>
        <p:nvSpPr>
          <p:cNvPr id="20" name="Rounded Rectangle 19"/>
          <p:cNvSpPr/>
          <p:nvPr/>
        </p:nvSpPr>
        <p:spPr>
          <a:xfrm>
            <a:off x="4312920" y="1905000"/>
            <a:ext cx="3566160" cy="3246120"/>
          </a:xfrm>
          <a:prstGeom prst="roundRect">
            <a:avLst>
              <a:gd name="adj" fmla="val 516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526280" y="2110740"/>
            <a:ext cx="1356360" cy="335280"/>
          </a:xfrm>
          <a:prstGeom prst="roundRect">
            <a:avLst>
              <a:gd name="adj" fmla="val 25000"/>
            </a:avLst>
          </a:prstGeom>
          <a:solidFill>
            <a:srgbClr val="E9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63440" y="2171700"/>
            <a:ext cx="118110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7051E8"/>
                </a:solidFill>
                <a:latin typeface="DejaVu Sans"/>
              </a:defRPr>
            </a:pPr>
            <a:r>
              <a:t>02 / S2</a:t>
            </a:r>
          </a:p>
        </p:txBody>
      </p:sp>
      <p:cxnSp>
        <p:nvCxnSpPr>
          <p:cNvPr id="23" name="Connector 22"/>
          <p:cNvCxnSpPr/>
          <p:nvPr/>
        </p:nvCxnSpPr>
        <p:spPr>
          <a:xfrm>
            <a:off x="4679442" y="2727960"/>
            <a:ext cx="0" cy="683514"/>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4618101" y="2771775"/>
            <a:ext cx="122681" cy="122681"/>
          </a:xfrm>
          <a:prstGeom prst="ellipse">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4837176" y="2833116"/>
            <a:ext cx="403098" cy="0"/>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4618101" y="2999613"/>
            <a:ext cx="122681" cy="122681"/>
          </a:xfrm>
          <a:prstGeom prst="ellipse">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4837176" y="3060953"/>
            <a:ext cx="403098" cy="0"/>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4618101" y="3244976"/>
            <a:ext cx="122681" cy="122681"/>
          </a:xfrm>
          <a:prstGeom prst="ellipse">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4837176" y="3306318"/>
            <a:ext cx="403098" cy="0"/>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541520" y="3581400"/>
            <a:ext cx="3177540" cy="398145"/>
          </a:xfrm>
          <a:prstGeom prst="rect">
            <a:avLst/>
          </a:prstGeom>
          <a:noFill/>
        </p:spPr>
        <p:txBody>
          <a:bodyPr wrap="none" lIns="0" rIns="0" tIns="0" bIns="0">
            <a:spAutoFit/>
          </a:bodyPr>
          <a:lstStyle/>
          <a:p>
            <a:pPr>
              <a:lnSpc>
                <a:spcPts val="2775"/>
              </a:lnSpc>
              <a:spcBef>
                <a:spcPts val="0"/>
              </a:spcBef>
              <a:spcAft>
                <a:spcPts val="0"/>
              </a:spcAft>
              <a:defRPr sz="2220" b="1">
                <a:solidFill>
                  <a:srgbClr val="14213B"/>
                </a:solidFill>
                <a:latin typeface="DejaVu Sans"/>
              </a:defRPr>
            </a:pPr>
            <a:r>
              <a:t>PagerDuty</a:t>
            </a:r>
          </a:p>
        </p:txBody>
      </p:sp>
      <p:sp>
        <p:nvSpPr>
          <p:cNvPr id="31" name="TextBox 30"/>
          <p:cNvSpPr txBox="1"/>
          <p:nvPr/>
        </p:nvSpPr>
        <p:spPr>
          <a:xfrm>
            <a:off x="4541520" y="4076699"/>
            <a:ext cx="3177540" cy="321945"/>
          </a:xfrm>
          <a:prstGeom prst="rect">
            <a:avLst/>
          </a:prstGeom>
          <a:noFill/>
        </p:spPr>
        <p:txBody>
          <a:bodyPr wrap="none" lIns="0" rIns="0" tIns="0" bIns="0">
            <a:spAutoFit/>
          </a:bodyPr>
          <a:lstStyle/>
          <a:p>
            <a:pPr>
              <a:lnSpc>
                <a:spcPts val="2175"/>
              </a:lnSpc>
              <a:spcBef>
                <a:spcPts val="0"/>
              </a:spcBef>
              <a:spcAft>
                <a:spcPts val="0"/>
              </a:spcAft>
              <a:defRPr sz="1739" b="0">
                <a:solidFill>
                  <a:srgbClr val="21314A"/>
                </a:solidFill>
                <a:latin typeface="DejaVu Sans"/>
              </a:defRPr>
            </a:pPr>
            <a:r>
              <a:t>Recent Changes</a:t>
            </a:r>
          </a:p>
        </p:txBody>
      </p:sp>
      <p:sp>
        <p:nvSpPr>
          <p:cNvPr id="32" name="TextBox 31"/>
          <p:cNvSpPr txBox="1"/>
          <p:nvPr/>
        </p:nvSpPr>
        <p:spPr>
          <a:xfrm>
            <a:off x="4541520" y="4495800"/>
            <a:ext cx="3177540" cy="283845"/>
          </a:xfrm>
          <a:prstGeom prst="rect">
            <a:avLst/>
          </a:prstGeom>
          <a:noFill/>
        </p:spPr>
        <p:txBody>
          <a:bodyPr wrap="none" lIns="0" rIns="0" tIns="0" bIns="0">
            <a:spAutoFit/>
          </a:bodyPr>
          <a:lstStyle/>
          <a:p>
            <a:pPr>
              <a:lnSpc>
                <a:spcPts val="1875"/>
              </a:lnSpc>
              <a:spcBef>
                <a:spcPts val="0"/>
              </a:spcBef>
              <a:spcAft>
                <a:spcPts val="0"/>
              </a:spcAft>
              <a:defRPr sz="1500" b="0">
                <a:solidFill>
                  <a:srgbClr val="65738C"/>
                </a:solidFill>
                <a:latin typeface="DejaVu Sans"/>
              </a:defRPr>
            </a:pPr>
            <a:r>
              <a:t>Changes in incident context</a:t>
            </a:r>
          </a:p>
        </p:txBody>
      </p:sp>
      <p:sp>
        <p:nvSpPr>
          <p:cNvPr id="33" name="Rounded Rectangle 32"/>
          <p:cNvSpPr/>
          <p:nvPr/>
        </p:nvSpPr>
        <p:spPr>
          <a:xfrm>
            <a:off x="8138160" y="1905000"/>
            <a:ext cx="3566160" cy="3246120"/>
          </a:xfrm>
          <a:prstGeom prst="roundRect">
            <a:avLst>
              <a:gd name="adj" fmla="val 516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351520" y="2110740"/>
            <a:ext cx="1356360" cy="335280"/>
          </a:xfrm>
          <a:prstGeom prst="roundRect">
            <a:avLst>
              <a:gd name="adj" fmla="val 25000"/>
            </a:avLst>
          </a:prstGeom>
          <a:solidFill>
            <a:srgbClr val="E9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88680" y="2171700"/>
            <a:ext cx="118110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7051E8"/>
                </a:solidFill>
                <a:latin typeface="DejaVu Sans"/>
              </a:defRPr>
            </a:pPr>
            <a:r>
              <a:t>03 / S3</a:t>
            </a:r>
          </a:p>
        </p:txBody>
      </p:sp>
      <p:sp>
        <p:nvSpPr>
          <p:cNvPr id="36" name="Rounded Rectangle 35"/>
          <p:cNvSpPr/>
          <p:nvPr/>
        </p:nvSpPr>
        <p:spPr>
          <a:xfrm>
            <a:off x="8452104" y="2763012"/>
            <a:ext cx="560832" cy="560832"/>
          </a:xfrm>
          <a:prstGeom prst="roundRect">
            <a:avLst>
              <a:gd name="adj" fmla="val 19021"/>
            </a:avLst>
          </a:prstGeom>
          <a:solidFill>
            <a:srgbClr val="E9E4FF"/>
          </a:solidFill>
          <a:ln w="22860">
            <a:solidFill>
              <a:srgbClr val="705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8557260" y="2675382"/>
            <a:ext cx="0" cy="78867"/>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557260" y="3323844"/>
            <a:ext cx="0" cy="87630"/>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355710" y="2903220"/>
            <a:ext cx="96394" cy="0"/>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012935" y="2903220"/>
            <a:ext cx="96394" cy="0"/>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732520" y="2675382"/>
            <a:ext cx="0" cy="78867"/>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732520" y="3323844"/>
            <a:ext cx="0" cy="87630"/>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355710" y="3078480"/>
            <a:ext cx="96394" cy="0"/>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012935" y="3078480"/>
            <a:ext cx="96394" cy="0"/>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907780" y="2675382"/>
            <a:ext cx="0" cy="78867"/>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907780" y="3323844"/>
            <a:ext cx="0" cy="87630"/>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355710" y="3253740"/>
            <a:ext cx="96394" cy="0"/>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012935" y="3253740"/>
            <a:ext cx="96394" cy="0"/>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618601" y="2920746"/>
            <a:ext cx="113919" cy="192786"/>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732520" y="2920746"/>
            <a:ext cx="113919" cy="192786"/>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653653" y="3052191"/>
            <a:ext cx="157733" cy="0"/>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8366760" y="3581400"/>
            <a:ext cx="3177540" cy="398145"/>
          </a:xfrm>
          <a:prstGeom prst="rect">
            <a:avLst/>
          </a:prstGeom>
          <a:noFill/>
        </p:spPr>
        <p:txBody>
          <a:bodyPr wrap="none" lIns="0" rIns="0" tIns="0" bIns="0">
            <a:spAutoFit/>
          </a:bodyPr>
          <a:lstStyle/>
          <a:p>
            <a:pPr>
              <a:lnSpc>
                <a:spcPts val="2775"/>
              </a:lnSpc>
              <a:spcBef>
                <a:spcPts val="0"/>
              </a:spcBef>
              <a:spcAft>
                <a:spcPts val="0"/>
              </a:spcAft>
              <a:defRPr sz="2220" b="1">
                <a:solidFill>
                  <a:srgbClr val="14213B"/>
                </a:solidFill>
                <a:latin typeface="DejaVu Sans"/>
              </a:defRPr>
            </a:pPr>
            <a:r>
              <a:t>Datadog</a:t>
            </a:r>
          </a:p>
        </p:txBody>
      </p:sp>
      <p:sp>
        <p:nvSpPr>
          <p:cNvPr id="53" name="TextBox 52"/>
          <p:cNvSpPr txBox="1"/>
          <p:nvPr/>
        </p:nvSpPr>
        <p:spPr>
          <a:xfrm>
            <a:off x="8366760" y="4076699"/>
            <a:ext cx="3177540" cy="321945"/>
          </a:xfrm>
          <a:prstGeom prst="rect">
            <a:avLst/>
          </a:prstGeom>
          <a:noFill/>
        </p:spPr>
        <p:txBody>
          <a:bodyPr wrap="none" lIns="0" rIns="0" tIns="0" bIns="0">
            <a:spAutoFit/>
          </a:bodyPr>
          <a:lstStyle/>
          <a:p>
            <a:pPr>
              <a:lnSpc>
                <a:spcPts val="2175"/>
              </a:lnSpc>
              <a:spcBef>
                <a:spcPts val="0"/>
              </a:spcBef>
              <a:spcAft>
                <a:spcPts val="0"/>
              </a:spcAft>
              <a:defRPr sz="1739" b="0">
                <a:solidFill>
                  <a:srgbClr val="21314A"/>
                </a:solidFill>
                <a:latin typeface="DejaVu Sans"/>
              </a:defRPr>
            </a:pPr>
            <a:r>
              <a:t>Bits Investigation</a:t>
            </a:r>
          </a:p>
        </p:txBody>
      </p:sp>
      <p:sp>
        <p:nvSpPr>
          <p:cNvPr id="54" name="TextBox 53"/>
          <p:cNvSpPr txBox="1"/>
          <p:nvPr/>
        </p:nvSpPr>
        <p:spPr>
          <a:xfrm>
            <a:off x="8366760" y="4495800"/>
            <a:ext cx="3177540" cy="283845"/>
          </a:xfrm>
          <a:prstGeom prst="rect">
            <a:avLst/>
          </a:prstGeom>
          <a:noFill/>
        </p:spPr>
        <p:txBody>
          <a:bodyPr wrap="none" lIns="0" rIns="0" tIns="0" bIns="0">
            <a:spAutoFit/>
          </a:bodyPr>
          <a:lstStyle/>
          <a:p>
            <a:pPr>
              <a:lnSpc>
                <a:spcPts val="1875"/>
              </a:lnSpc>
              <a:spcBef>
                <a:spcPts val="0"/>
              </a:spcBef>
              <a:spcAft>
                <a:spcPts val="0"/>
              </a:spcAft>
              <a:defRPr sz="1500" b="0">
                <a:solidFill>
                  <a:srgbClr val="65738C"/>
                </a:solidFill>
                <a:latin typeface="DejaVu Sans"/>
              </a:defRPr>
            </a:pPr>
            <a:r>
              <a:t>AI + operational context</a:t>
            </a:r>
          </a:p>
        </p:txBody>
      </p:sp>
      <p:sp>
        <p:nvSpPr>
          <p:cNvPr id="55" name="Rounded Rectangle 54"/>
          <p:cNvSpPr/>
          <p:nvPr/>
        </p:nvSpPr>
        <p:spPr>
          <a:xfrm>
            <a:off x="487680" y="5364480"/>
            <a:ext cx="11216640" cy="541020"/>
          </a:xfrm>
          <a:prstGeom prst="roundRect">
            <a:avLst>
              <a:gd name="adj" fmla="val 25000"/>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93420" y="5501640"/>
            <a:ext cx="10721340" cy="312420"/>
          </a:xfrm>
          <a:prstGeom prst="rect">
            <a:avLst/>
          </a:prstGeom>
          <a:noFill/>
        </p:spPr>
        <p:txBody>
          <a:bodyPr wrap="none" lIns="0" rIns="0" tIns="0" bIns="0">
            <a:spAutoFit/>
          </a:bodyPr>
          <a:lstStyle/>
          <a:p>
            <a:pPr>
              <a:lnSpc>
                <a:spcPts val="2100"/>
              </a:lnSpc>
              <a:spcBef>
                <a:spcPts val="0"/>
              </a:spcBef>
              <a:spcAft>
                <a:spcPts val="0"/>
              </a:spcAft>
              <a:defRPr sz="1680" b="1">
                <a:solidFill>
                  <a:srgbClr val="FFFFFF"/>
                </a:solidFill>
                <a:latin typeface="DejaVu Sans"/>
              </a:defRPr>
            </a:pPr>
            <a:r>
              <a:t>My experiment: a small, inspectable workflow for device + software evidence.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67640"/>
          </a:xfrm>
          <a:prstGeom prst="rect">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80" y="373380"/>
            <a:ext cx="69113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65738C"/>
                </a:solidFill>
                <a:latin typeface="DejaVu Sans"/>
              </a:defRPr>
            </a:pPr>
            <a:r>
              <a:t>OPSREPLAY / HACKATHON PROTOTYPE</a:t>
            </a:r>
          </a:p>
        </p:txBody>
      </p:sp>
      <p:sp>
        <p:nvSpPr>
          <p:cNvPr id="5" name="Rounded Rectangle 4"/>
          <p:cNvSpPr/>
          <p:nvPr/>
        </p:nvSpPr>
        <p:spPr>
          <a:xfrm>
            <a:off x="9982200" y="327660"/>
            <a:ext cx="1714500" cy="335280"/>
          </a:xfrm>
          <a:prstGeom prst="roundRect">
            <a:avLst>
              <a:gd name="adj" fmla="val 25000"/>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19360" y="388620"/>
            <a:ext cx="15392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FFFFFF"/>
                </a:solidFill>
                <a:latin typeface="DejaVu Sans"/>
              </a:defRPr>
            </a:pPr>
            <a:r>
              <a:t>SOLO PROJECT</a:t>
            </a:r>
          </a:p>
        </p:txBody>
      </p:sp>
      <p:sp>
        <p:nvSpPr>
          <p:cNvPr id="7" name="TextBox 6"/>
          <p:cNvSpPr txBox="1"/>
          <p:nvPr/>
        </p:nvSpPr>
        <p:spPr>
          <a:xfrm>
            <a:off x="487680" y="853440"/>
            <a:ext cx="11254740" cy="541020"/>
          </a:xfrm>
          <a:prstGeom prst="rect">
            <a:avLst/>
          </a:prstGeom>
          <a:noFill/>
        </p:spPr>
        <p:txBody>
          <a:bodyPr wrap="none" lIns="0" rIns="0" tIns="0" bIns="0">
            <a:spAutoFit/>
          </a:bodyPr>
          <a:lstStyle/>
          <a:p>
            <a:pPr>
              <a:lnSpc>
                <a:spcPts val="3900"/>
              </a:lnSpc>
              <a:spcBef>
                <a:spcPts val="0"/>
              </a:spcBef>
              <a:spcAft>
                <a:spcPts val="0"/>
              </a:spcAft>
              <a:defRPr sz="3120" b="1">
                <a:solidFill>
                  <a:srgbClr val="14213B"/>
                </a:solidFill>
                <a:latin typeface="DejaVu Sans"/>
              </a:defRPr>
            </a:pPr>
            <a:r>
              <a:t>OpsReplay connects the investigation.</a:t>
            </a:r>
          </a:p>
        </p:txBody>
      </p:sp>
      <p:sp>
        <p:nvSpPr>
          <p:cNvPr id="8" name="TextBox 7"/>
          <p:cNvSpPr txBox="1"/>
          <p:nvPr/>
        </p:nvSpPr>
        <p:spPr>
          <a:xfrm>
            <a:off x="502920" y="1394460"/>
            <a:ext cx="11102340" cy="274320"/>
          </a:xfrm>
          <a:prstGeom prst="rect">
            <a:avLst/>
          </a:prstGeom>
          <a:noFill/>
        </p:spPr>
        <p:txBody>
          <a:bodyPr wrap="none" lIns="0" rIns="0" tIns="0" bIns="0">
            <a:spAutoFit/>
          </a:bodyPr>
          <a:lstStyle/>
          <a:p>
            <a:pPr>
              <a:lnSpc>
                <a:spcPts val="1800"/>
              </a:lnSpc>
              <a:spcBef>
                <a:spcPts val="0"/>
              </a:spcBef>
              <a:spcAft>
                <a:spcPts val="0"/>
              </a:spcAft>
              <a:defRPr sz="1439" b="0">
                <a:solidFill>
                  <a:srgbClr val="65738C"/>
                </a:solidFill>
                <a:latin typeface="DejaVu Sans"/>
              </a:defRPr>
            </a:pPr>
            <a:r>
              <a:t>Bring records together. Select events. Check the evidence.</a:t>
            </a:r>
          </a:p>
        </p:txBody>
      </p:sp>
      <p:cxnSp>
        <p:nvCxnSpPr>
          <p:cNvPr id="9" name="Connector 8"/>
          <p:cNvCxnSpPr/>
          <p:nvPr/>
        </p:nvCxnSpPr>
        <p:spPr>
          <a:xfrm>
            <a:off x="487680" y="6217920"/>
            <a:ext cx="11216640" cy="0"/>
          </a:xfrm>
          <a:prstGeom prst="line">
            <a:avLst/>
          </a:prstGeom>
          <a:ln w="15240">
            <a:solidFill>
              <a:srgbClr val="DCE1E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7680" y="6385560"/>
            <a:ext cx="8435340" cy="226695"/>
          </a:xfrm>
          <a:prstGeom prst="rect">
            <a:avLst/>
          </a:prstGeom>
          <a:noFill/>
        </p:spPr>
        <p:txBody>
          <a:bodyPr wrap="none" lIns="0" rIns="0" tIns="0" bIns="0">
            <a:spAutoFit/>
          </a:bodyPr>
          <a:lstStyle/>
          <a:p>
            <a:pPr>
              <a:lnSpc>
                <a:spcPts val="1425"/>
              </a:lnSpc>
              <a:spcBef>
                <a:spcPts val="0"/>
              </a:spcBef>
              <a:spcAft>
                <a:spcPts val="0"/>
              </a:spcAft>
              <a:defRPr sz="1140" b="0">
                <a:solidFill>
                  <a:srgbClr val="65738C"/>
                </a:solidFill>
                <a:latin typeface="DejaVu Sans"/>
              </a:defRPr>
            </a:pPr>
            <a:r>
              <a:t>SIMULATED IoT · Public GitHub API · Gemini</a:t>
            </a:r>
          </a:p>
        </p:txBody>
      </p:sp>
      <p:sp>
        <p:nvSpPr>
          <p:cNvPr id="11" name="TextBox 10"/>
          <p:cNvSpPr txBox="1"/>
          <p:nvPr/>
        </p:nvSpPr>
        <p:spPr>
          <a:xfrm>
            <a:off x="10515600" y="6370320"/>
            <a:ext cx="1272540" cy="255270"/>
          </a:xfrm>
          <a:prstGeom prst="rect">
            <a:avLst/>
          </a:prstGeom>
          <a:noFill/>
        </p:spPr>
        <p:txBody>
          <a:bodyPr wrap="none" lIns="0" rIns="0" tIns="0" bIns="0">
            <a:spAutoFit/>
          </a:bodyPr>
          <a:lstStyle/>
          <a:p>
            <a:pPr>
              <a:lnSpc>
                <a:spcPts val="1650"/>
              </a:lnSpc>
              <a:spcBef>
                <a:spcPts val="0"/>
              </a:spcBef>
              <a:spcAft>
                <a:spcPts val="0"/>
              </a:spcAft>
              <a:defRPr sz="1320" b="1">
                <a:solidFill>
                  <a:srgbClr val="7051E8"/>
                </a:solidFill>
                <a:latin typeface="DejaVu Sans"/>
              </a:defRPr>
            </a:pPr>
            <a:r>
              <a:t>04 / 09</a:t>
            </a:r>
          </a:p>
        </p:txBody>
      </p:sp>
      <p:sp>
        <p:nvSpPr>
          <p:cNvPr id="12" name="Rounded Rectangle 11"/>
          <p:cNvSpPr/>
          <p:nvPr/>
        </p:nvSpPr>
        <p:spPr>
          <a:xfrm>
            <a:off x="487680" y="2057400"/>
            <a:ext cx="2651760" cy="16764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85800" y="2286000"/>
            <a:ext cx="640080" cy="426720"/>
          </a:xfrm>
          <a:prstGeom prst="roundRect">
            <a:avLst>
              <a:gd name="adj" fmla="val 14285"/>
            </a:avLst>
          </a:prstGeom>
          <a:solidFill>
            <a:srgbClr val="E9E4FF"/>
          </a:solidFill>
          <a:ln w="22860">
            <a:solidFill>
              <a:srgbClr val="705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005840" y="2712720"/>
            <a:ext cx="0" cy="12192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22960" y="2834640"/>
            <a:ext cx="36576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30580" y="2484120"/>
            <a:ext cx="11430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944880" y="2385060"/>
            <a:ext cx="68580" cy="9906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13460" y="2385060"/>
            <a:ext cx="83820" cy="20574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97280" y="2476500"/>
            <a:ext cx="99060" cy="11430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524000" y="2392680"/>
            <a:ext cx="1501140" cy="369570"/>
          </a:xfrm>
          <a:prstGeom prst="rect">
            <a:avLst/>
          </a:prstGeom>
          <a:noFill/>
        </p:spPr>
        <p:txBody>
          <a:bodyPr wrap="none" lIns="0" rIns="0" tIns="0" bIns="0">
            <a:spAutoFit/>
          </a:bodyPr>
          <a:lstStyle/>
          <a:p>
            <a:pPr>
              <a:lnSpc>
                <a:spcPts val="2550"/>
              </a:lnSpc>
              <a:spcBef>
                <a:spcPts val="0"/>
              </a:spcBef>
              <a:spcAft>
                <a:spcPts val="0"/>
              </a:spcAft>
              <a:defRPr sz="2039" b="1">
                <a:solidFill>
                  <a:srgbClr val="14213B"/>
                </a:solidFill>
                <a:latin typeface="DejaVu Sans"/>
              </a:defRPr>
            </a:pPr>
            <a:r>
              <a:t>IoT</a:t>
            </a:r>
          </a:p>
        </p:txBody>
      </p:sp>
      <p:sp>
        <p:nvSpPr>
          <p:cNvPr id="21" name="Rounded Rectangle 20"/>
          <p:cNvSpPr/>
          <p:nvPr/>
        </p:nvSpPr>
        <p:spPr>
          <a:xfrm>
            <a:off x="685800" y="3116580"/>
            <a:ext cx="2164080" cy="335280"/>
          </a:xfrm>
          <a:prstGeom prst="roundRect">
            <a:avLst>
              <a:gd name="adj" fmla="val 25000"/>
            </a:avLst>
          </a:prstGeom>
          <a:solidFill>
            <a:srgbClr val="DD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177540"/>
            <a:ext cx="1988819"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168575"/>
                </a:solidFill>
                <a:latin typeface="DejaVu Sans"/>
              </a:defRPr>
            </a:pPr>
            <a:r>
              <a:t>SIMULATED</a:t>
            </a:r>
          </a:p>
        </p:txBody>
      </p:sp>
      <p:sp>
        <p:nvSpPr>
          <p:cNvPr id="23" name="Rounded Rectangle 22"/>
          <p:cNvSpPr/>
          <p:nvPr/>
        </p:nvSpPr>
        <p:spPr>
          <a:xfrm>
            <a:off x="487680" y="4099560"/>
            <a:ext cx="2651760" cy="16764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54380" y="4373880"/>
            <a:ext cx="472440" cy="472440"/>
          </a:xfrm>
          <a:prstGeom prst="ellipse">
            <a:avLst/>
          </a:prstGeom>
          <a:solidFill>
            <a:srgbClr val="E9E4FF"/>
          </a:solidFill>
          <a:ln w="22860">
            <a:solidFill>
              <a:srgbClr val="705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flipH="1" flipV="1">
            <a:off x="815340" y="4328160"/>
            <a:ext cx="22860" cy="12954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15340" y="4328160"/>
            <a:ext cx="129540" cy="6858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051560" y="4328160"/>
            <a:ext cx="129540" cy="6858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1158240" y="4328160"/>
            <a:ext cx="22860" cy="12954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90599" y="4831080"/>
            <a:ext cx="0" cy="10668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524000" y="4434840"/>
            <a:ext cx="1501140" cy="369570"/>
          </a:xfrm>
          <a:prstGeom prst="rect">
            <a:avLst/>
          </a:prstGeom>
          <a:noFill/>
        </p:spPr>
        <p:txBody>
          <a:bodyPr wrap="none" lIns="0" rIns="0" tIns="0" bIns="0">
            <a:spAutoFit/>
          </a:bodyPr>
          <a:lstStyle/>
          <a:p>
            <a:pPr>
              <a:lnSpc>
                <a:spcPts val="2550"/>
              </a:lnSpc>
              <a:spcBef>
                <a:spcPts val="0"/>
              </a:spcBef>
              <a:spcAft>
                <a:spcPts val="0"/>
              </a:spcAft>
              <a:defRPr sz="2039" b="1">
                <a:solidFill>
                  <a:srgbClr val="14213B"/>
                </a:solidFill>
                <a:latin typeface="DejaVu Sans"/>
              </a:defRPr>
            </a:pPr>
            <a:r>
              <a:t>GitHub</a:t>
            </a:r>
          </a:p>
        </p:txBody>
      </p:sp>
      <p:sp>
        <p:nvSpPr>
          <p:cNvPr id="31" name="Rounded Rectangle 30"/>
          <p:cNvSpPr/>
          <p:nvPr/>
        </p:nvSpPr>
        <p:spPr>
          <a:xfrm>
            <a:off x="685800" y="5158740"/>
            <a:ext cx="2164080" cy="335280"/>
          </a:xfrm>
          <a:prstGeom prst="roundRect">
            <a:avLst>
              <a:gd name="adj" fmla="val 25000"/>
            </a:avLst>
          </a:prstGeom>
          <a:solidFill>
            <a:srgbClr val="E9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5219700"/>
            <a:ext cx="1988819"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7051E8"/>
                </a:solidFill>
                <a:latin typeface="DejaVu Sans"/>
              </a:defRPr>
            </a:pPr>
            <a:r>
              <a:t>PUBLIC API</a:t>
            </a:r>
          </a:p>
        </p:txBody>
      </p:sp>
      <p:sp>
        <p:nvSpPr>
          <p:cNvPr id="33" name="Rounded Rectangle 32"/>
          <p:cNvSpPr/>
          <p:nvPr/>
        </p:nvSpPr>
        <p:spPr>
          <a:xfrm>
            <a:off x="4015740" y="2636520"/>
            <a:ext cx="3154680" cy="2667000"/>
          </a:xfrm>
          <a:prstGeom prst="roundRect">
            <a:avLst>
              <a:gd name="adj" fmla="val 6285"/>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4407407" y="2903220"/>
            <a:ext cx="0" cy="653796"/>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4348733" y="2945130"/>
            <a:ext cx="117348" cy="117348"/>
          </a:xfrm>
          <a:prstGeom prst="ellipse">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4558284" y="3003803"/>
            <a:ext cx="385572" cy="0"/>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4348733" y="3163062"/>
            <a:ext cx="117348" cy="117348"/>
          </a:xfrm>
          <a:prstGeom prst="ellipse">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4558284" y="3221736"/>
            <a:ext cx="385572" cy="0"/>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4348733" y="3397758"/>
            <a:ext cx="117348" cy="117348"/>
          </a:xfrm>
          <a:prstGeom prst="ellipse">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4558284" y="3456432"/>
            <a:ext cx="385572" cy="0"/>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290060" y="3741420"/>
            <a:ext cx="2682240" cy="388620"/>
          </a:xfrm>
          <a:prstGeom prst="rect">
            <a:avLst/>
          </a:prstGeom>
          <a:noFill/>
        </p:spPr>
        <p:txBody>
          <a:bodyPr wrap="none" lIns="0" rIns="0" tIns="0" bIns="0">
            <a:spAutoFit/>
          </a:bodyPr>
          <a:lstStyle/>
          <a:p>
            <a:pPr>
              <a:lnSpc>
                <a:spcPts val="2700"/>
              </a:lnSpc>
              <a:spcBef>
                <a:spcPts val="0"/>
              </a:spcBef>
              <a:spcAft>
                <a:spcPts val="0"/>
              </a:spcAft>
              <a:defRPr sz="2160" b="1">
                <a:solidFill>
                  <a:srgbClr val="FFFFFF"/>
                </a:solidFill>
                <a:latin typeface="DejaVu Sans"/>
              </a:defRPr>
            </a:pPr>
            <a:r>
              <a:t>Unified Timeline</a:t>
            </a:r>
          </a:p>
        </p:txBody>
      </p:sp>
      <p:sp>
        <p:nvSpPr>
          <p:cNvPr id="42" name="Rounded Rectangle 41"/>
          <p:cNvSpPr/>
          <p:nvPr/>
        </p:nvSpPr>
        <p:spPr>
          <a:xfrm>
            <a:off x="4290060" y="4427220"/>
            <a:ext cx="2606040" cy="335280"/>
          </a:xfrm>
          <a:prstGeom prst="roundRect">
            <a:avLst>
              <a:gd name="adj" fmla="val 25000"/>
            </a:avLst>
          </a:prstGeom>
          <a:solidFill>
            <a:srgbClr val="E9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27220" y="4488180"/>
            <a:ext cx="243078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7051E8"/>
                </a:solidFill>
                <a:latin typeface="DejaVu Sans"/>
              </a:defRPr>
            </a:pPr>
            <a:r>
              <a:t>Source / Severity</a:t>
            </a:r>
          </a:p>
        </p:txBody>
      </p:sp>
      <p:sp>
        <p:nvSpPr>
          <p:cNvPr id="44" name="Rounded Rectangle 43"/>
          <p:cNvSpPr/>
          <p:nvPr/>
        </p:nvSpPr>
        <p:spPr>
          <a:xfrm>
            <a:off x="8077200" y="2636520"/>
            <a:ext cx="3627120" cy="2667000"/>
          </a:xfrm>
          <a:prstGeom prst="roundRect">
            <a:avLst>
              <a:gd name="adj" fmla="val 628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397240" y="2933700"/>
            <a:ext cx="487680" cy="487680"/>
          </a:xfrm>
          <a:prstGeom prst="roundRect">
            <a:avLst>
              <a:gd name="adj" fmla="val 21875"/>
            </a:avLst>
          </a:prstGeom>
          <a:solidFill>
            <a:srgbClr val="E9E4FF"/>
          </a:solidFill>
          <a:ln w="22860">
            <a:solidFill>
              <a:srgbClr val="705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8488680" y="2857500"/>
            <a:ext cx="0" cy="6858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488680" y="3421380"/>
            <a:ext cx="0" cy="7620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313420" y="3055620"/>
            <a:ext cx="8382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884920" y="3055620"/>
            <a:ext cx="8382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641080" y="2857500"/>
            <a:ext cx="0" cy="6858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641080" y="3421380"/>
            <a:ext cx="0" cy="7620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313420" y="3208020"/>
            <a:ext cx="8382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884920" y="3208020"/>
            <a:ext cx="8382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793480" y="2857500"/>
            <a:ext cx="0" cy="6858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793480" y="3421380"/>
            <a:ext cx="0" cy="7620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313420" y="3360420"/>
            <a:ext cx="8382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884920" y="3360420"/>
            <a:ext cx="8382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8542020" y="3070860"/>
            <a:ext cx="99060" cy="16764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641080" y="3070860"/>
            <a:ext cx="99060" cy="16764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572500" y="3185160"/>
            <a:ext cx="13716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9144000" y="2994660"/>
            <a:ext cx="2415540" cy="426720"/>
          </a:xfrm>
          <a:prstGeom prst="rect">
            <a:avLst/>
          </a:prstGeom>
          <a:noFill/>
        </p:spPr>
        <p:txBody>
          <a:bodyPr wrap="none" lIns="0" rIns="0" tIns="0" bIns="0">
            <a:spAutoFit/>
          </a:bodyPr>
          <a:lstStyle/>
          <a:p>
            <a:pPr>
              <a:lnSpc>
                <a:spcPts val="3000"/>
              </a:lnSpc>
              <a:spcBef>
                <a:spcPts val="0"/>
              </a:spcBef>
              <a:spcAft>
                <a:spcPts val="0"/>
              </a:spcAft>
              <a:defRPr sz="2400" b="1">
                <a:solidFill>
                  <a:srgbClr val="14213B"/>
                </a:solidFill>
                <a:latin typeface="DejaVu Sans"/>
              </a:defRPr>
            </a:pPr>
            <a:r>
              <a:t>Gemini</a:t>
            </a:r>
          </a:p>
        </p:txBody>
      </p:sp>
      <p:sp>
        <p:nvSpPr>
          <p:cNvPr id="62" name="TextBox 61"/>
          <p:cNvSpPr txBox="1"/>
          <p:nvPr/>
        </p:nvSpPr>
        <p:spPr>
          <a:xfrm>
            <a:off x="8336280" y="3848099"/>
            <a:ext cx="3177540" cy="340995"/>
          </a:xfrm>
          <a:prstGeom prst="rect">
            <a:avLst/>
          </a:prstGeom>
          <a:noFill/>
        </p:spPr>
        <p:txBody>
          <a:bodyPr wrap="none" lIns="0" rIns="0" tIns="0" bIns="0">
            <a:spAutoFit/>
          </a:bodyPr>
          <a:lstStyle/>
          <a:p>
            <a:pPr>
              <a:lnSpc>
                <a:spcPts val="2325"/>
              </a:lnSpc>
              <a:spcBef>
                <a:spcPts val="0"/>
              </a:spcBef>
              <a:spcAft>
                <a:spcPts val="0"/>
              </a:spcAft>
              <a:defRPr sz="1859" b="0">
                <a:solidFill>
                  <a:srgbClr val="21314A"/>
                </a:solidFill>
                <a:latin typeface="DejaVu Sans"/>
              </a:defRPr>
            </a:pPr>
            <a:r>
              <a:t>Observed facts</a:t>
            </a:r>
          </a:p>
        </p:txBody>
      </p:sp>
      <p:sp>
        <p:nvSpPr>
          <p:cNvPr id="63" name="TextBox 62"/>
          <p:cNvSpPr txBox="1"/>
          <p:nvPr/>
        </p:nvSpPr>
        <p:spPr>
          <a:xfrm>
            <a:off x="8336280" y="4282440"/>
            <a:ext cx="3177540" cy="321945"/>
          </a:xfrm>
          <a:prstGeom prst="rect">
            <a:avLst/>
          </a:prstGeom>
          <a:noFill/>
        </p:spPr>
        <p:txBody>
          <a:bodyPr wrap="none" lIns="0" rIns="0" tIns="0" bIns="0">
            <a:spAutoFit/>
          </a:bodyPr>
          <a:lstStyle/>
          <a:p>
            <a:pPr>
              <a:lnSpc>
                <a:spcPts val="2175"/>
              </a:lnSpc>
              <a:spcBef>
                <a:spcPts val="0"/>
              </a:spcBef>
              <a:spcAft>
                <a:spcPts val="0"/>
              </a:spcAft>
              <a:defRPr sz="1739" b="0">
                <a:solidFill>
                  <a:srgbClr val="21314A"/>
                </a:solidFill>
                <a:latin typeface="DejaVu Sans"/>
              </a:defRPr>
            </a:pPr>
            <a:r>
              <a:t>Hypotheses (unconfirmed)</a:t>
            </a:r>
          </a:p>
        </p:txBody>
      </p:sp>
      <p:sp>
        <p:nvSpPr>
          <p:cNvPr id="64" name="Rounded Rectangle 63"/>
          <p:cNvSpPr/>
          <p:nvPr/>
        </p:nvSpPr>
        <p:spPr>
          <a:xfrm>
            <a:off x="8336280" y="4747260"/>
            <a:ext cx="3032760" cy="335280"/>
          </a:xfrm>
          <a:prstGeom prst="roundRect">
            <a:avLst>
              <a:gd name="adj" fmla="val 25000"/>
            </a:avLst>
          </a:prstGeom>
          <a:solidFill>
            <a:srgbClr val="DD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73440" y="4808220"/>
            <a:ext cx="285750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168575"/>
                </a:solidFill>
                <a:latin typeface="DejaVu Sans"/>
              </a:defRPr>
            </a:pPr>
            <a:r>
              <a:t>Evidence chips</a:t>
            </a:r>
          </a:p>
        </p:txBody>
      </p:sp>
      <p:cxnSp>
        <p:nvCxnSpPr>
          <p:cNvPr id="66" name="Connector 65"/>
          <p:cNvCxnSpPr/>
          <p:nvPr/>
        </p:nvCxnSpPr>
        <p:spPr>
          <a:xfrm>
            <a:off x="3139440" y="2895600"/>
            <a:ext cx="556260" cy="0"/>
          </a:xfrm>
          <a:prstGeom prst="line">
            <a:avLst/>
          </a:prstGeom>
          <a:ln w="45719">
            <a:solidFill>
              <a:srgbClr val="7051E8"/>
            </a:solidFill>
          </a:ln>
        </p:spPr>
        <p:style>
          <a:lnRef idx="2">
            <a:schemeClr val="accent1"/>
          </a:lnRef>
          <a:fillRef idx="0">
            <a:schemeClr val="accent1"/>
          </a:fillRef>
          <a:effectRef idx="1">
            <a:schemeClr val="accent1"/>
          </a:effectRef>
          <a:fontRef idx="minor">
            <a:schemeClr val="tx1"/>
          </a:fontRef>
        </p:style>
      </p:cxnSp>
      <p:sp>
        <p:nvSpPr>
          <p:cNvPr id="67" name="Freeform 66"/>
          <p:cNvSpPr/>
          <p:nvPr/>
        </p:nvSpPr>
        <p:spPr>
          <a:xfrm>
            <a:off x="3589020" y="2834640"/>
            <a:ext cx="106680" cy="121920"/>
          </a:xfrm>
          <a:custGeom>
            <a:avLst/>
            <a:gdLst/>
            <a:ahLst/>
            <a:cxnLst/>
            <a:rect l="l" t="t" r="r" b="b"/>
            <a:pathLst>
              <a:path w="14" h="16">
                <a:moveTo>
                  <a:pt x="14" y="8"/>
                </a:moveTo>
                <a:lnTo>
                  <a:pt x="0" y="16"/>
                </a:lnTo>
                <a:lnTo>
                  <a:pt x="0" y="0"/>
                </a:lnTo>
                <a:close/>
              </a:path>
            </a:pathLst>
          </a:cu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Connector 67"/>
          <p:cNvCxnSpPr/>
          <p:nvPr/>
        </p:nvCxnSpPr>
        <p:spPr>
          <a:xfrm>
            <a:off x="3695700" y="2895600"/>
            <a:ext cx="0" cy="1059180"/>
          </a:xfrm>
          <a:prstGeom prst="line">
            <a:avLst/>
          </a:prstGeom>
          <a:ln w="45719">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695700" y="3954780"/>
            <a:ext cx="266699" cy="0"/>
          </a:xfrm>
          <a:prstGeom prst="line">
            <a:avLst/>
          </a:prstGeom>
          <a:ln w="45719">
            <a:solidFill>
              <a:srgbClr val="7051E8"/>
            </a:solidFill>
          </a:ln>
        </p:spPr>
        <p:style>
          <a:lnRef idx="2">
            <a:schemeClr val="accent1"/>
          </a:lnRef>
          <a:fillRef idx="0">
            <a:schemeClr val="accent1"/>
          </a:fillRef>
          <a:effectRef idx="1">
            <a:schemeClr val="accent1"/>
          </a:effectRef>
          <a:fontRef idx="minor">
            <a:schemeClr val="tx1"/>
          </a:fontRef>
        </p:style>
      </p:cxnSp>
      <p:sp>
        <p:nvSpPr>
          <p:cNvPr id="70" name="Freeform 69"/>
          <p:cNvSpPr/>
          <p:nvPr/>
        </p:nvSpPr>
        <p:spPr>
          <a:xfrm>
            <a:off x="3855720" y="3893820"/>
            <a:ext cx="106680" cy="121920"/>
          </a:xfrm>
          <a:custGeom>
            <a:avLst/>
            <a:gdLst/>
            <a:ahLst/>
            <a:cxnLst/>
            <a:rect l="l" t="t" r="r" b="b"/>
            <a:pathLst>
              <a:path w="14" h="16">
                <a:moveTo>
                  <a:pt x="14" y="8"/>
                </a:moveTo>
                <a:lnTo>
                  <a:pt x="0" y="16"/>
                </a:lnTo>
                <a:lnTo>
                  <a:pt x="0" y="0"/>
                </a:lnTo>
                <a:close/>
              </a:path>
            </a:pathLst>
          </a:cu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a:off x="3139440" y="4937760"/>
            <a:ext cx="556260" cy="0"/>
          </a:xfrm>
          <a:prstGeom prst="line">
            <a:avLst/>
          </a:prstGeom>
          <a:ln w="45719">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3695700" y="3954780"/>
            <a:ext cx="0" cy="982980"/>
          </a:xfrm>
          <a:prstGeom prst="line">
            <a:avLst/>
          </a:prstGeom>
          <a:ln w="45719">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170420" y="3954780"/>
            <a:ext cx="853440" cy="0"/>
          </a:xfrm>
          <a:prstGeom prst="line">
            <a:avLst/>
          </a:prstGeom>
          <a:ln w="45719">
            <a:solidFill>
              <a:srgbClr val="7051E8"/>
            </a:solidFill>
          </a:ln>
        </p:spPr>
        <p:style>
          <a:lnRef idx="2">
            <a:schemeClr val="accent1"/>
          </a:lnRef>
          <a:fillRef idx="0">
            <a:schemeClr val="accent1"/>
          </a:fillRef>
          <a:effectRef idx="1">
            <a:schemeClr val="accent1"/>
          </a:effectRef>
          <a:fontRef idx="minor">
            <a:schemeClr val="tx1"/>
          </a:fontRef>
        </p:style>
      </p:cxnSp>
      <p:sp>
        <p:nvSpPr>
          <p:cNvPr id="74" name="Freeform 73"/>
          <p:cNvSpPr/>
          <p:nvPr/>
        </p:nvSpPr>
        <p:spPr>
          <a:xfrm>
            <a:off x="7917180" y="3893820"/>
            <a:ext cx="106680" cy="121920"/>
          </a:xfrm>
          <a:custGeom>
            <a:avLst/>
            <a:gdLst/>
            <a:ahLst/>
            <a:cxnLst/>
            <a:rect l="l" t="t" r="r" b="b"/>
            <a:pathLst>
              <a:path w="14" h="16">
                <a:moveTo>
                  <a:pt x="14" y="8"/>
                </a:moveTo>
                <a:lnTo>
                  <a:pt x="0" y="16"/>
                </a:lnTo>
                <a:lnTo>
                  <a:pt x="0" y="0"/>
                </a:lnTo>
                <a:close/>
              </a:path>
            </a:pathLst>
          </a:cu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038600" y="5654040"/>
            <a:ext cx="7673340" cy="312420"/>
          </a:xfrm>
          <a:prstGeom prst="rect">
            <a:avLst/>
          </a:prstGeom>
          <a:noFill/>
        </p:spPr>
        <p:txBody>
          <a:bodyPr wrap="none" lIns="0" rIns="0" tIns="0" bIns="0">
            <a:spAutoFit/>
          </a:bodyPr>
          <a:lstStyle/>
          <a:p>
            <a:pPr>
              <a:lnSpc>
                <a:spcPts val="2100"/>
              </a:lnSpc>
              <a:spcBef>
                <a:spcPts val="0"/>
              </a:spcBef>
              <a:spcAft>
                <a:spcPts val="0"/>
              </a:spcAft>
              <a:defRPr sz="1680" b="1">
                <a:solidFill>
                  <a:srgbClr val="168575"/>
                </a:solidFill>
                <a:latin typeface="DejaVu Sans"/>
              </a:defRPr>
            </a:pPr>
            <a:r>
              <a:t>Evidence supports review. The operator decides.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67640"/>
          </a:xfrm>
          <a:prstGeom prst="rect">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80" y="373380"/>
            <a:ext cx="69113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65738C"/>
                </a:solidFill>
                <a:latin typeface="DejaVu Sans"/>
              </a:defRPr>
            </a:pPr>
            <a:r>
              <a:t>OPSREPLAY / HACKATHON PROTOTYPE</a:t>
            </a:r>
          </a:p>
        </p:txBody>
      </p:sp>
      <p:sp>
        <p:nvSpPr>
          <p:cNvPr id="5" name="Rounded Rectangle 4"/>
          <p:cNvSpPr/>
          <p:nvPr/>
        </p:nvSpPr>
        <p:spPr>
          <a:xfrm>
            <a:off x="9982200" y="327660"/>
            <a:ext cx="1714500" cy="335280"/>
          </a:xfrm>
          <a:prstGeom prst="roundRect">
            <a:avLst>
              <a:gd name="adj" fmla="val 25000"/>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19360" y="388620"/>
            <a:ext cx="15392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FFFFFF"/>
                </a:solidFill>
                <a:latin typeface="DejaVu Sans"/>
              </a:defRPr>
            </a:pPr>
            <a:r>
              <a:t>SOLO PROJECT</a:t>
            </a:r>
          </a:p>
        </p:txBody>
      </p:sp>
      <p:sp>
        <p:nvSpPr>
          <p:cNvPr id="7" name="TextBox 6"/>
          <p:cNvSpPr txBox="1"/>
          <p:nvPr/>
        </p:nvSpPr>
        <p:spPr>
          <a:xfrm>
            <a:off x="487680" y="853440"/>
            <a:ext cx="11254740" cy="541020"/>
          </a:xfrm>
          <a:prstGeom prst="rect">
            <a:avLst/>
          </a:prstGeom>
          <a:noFill/>
        </p:spPr>
        <p:txBody>
          <a:bodyPr wrap="none" lIns="0" rIns="0" tIns="0" bIns="0">
            <a:spAutoFit/>
          </a:bodyPr>
          <a:lstStyle/>
          <a:p>
            <a:pPr>
              <a:lnSpc>
                <a:spcPts val="3900"/>
              </a:lnSpc>
              <a:spcBef>
                <a:spcPts val="0"/>
              </a:spcBef>
              <a:spcAft>
                <a:spcPts val="0"/>
              </a:spcAft>
              <a:defRPr sz="3120" b="1">
                <a:solidFill>
                  <a:srgbClr val="14213B"/>
                </a:solidFill>
                <a:latin typeface="DejaVu Sans"/>
              </a:defRPr>
            </a:pPr>
            <a:r>
              <a:t>Built as a solo hackathon prototype.</a:t>
            </a:r>
          </a:p>
        </p:txBody>
      </p:sp>
      <p:sp>
        <p:nvSpPr>
          <p:cNvPr id="8" name="TextBox 7"/>
          <p:cNvSpPr txBox="1"/>
          <p:nvPr/>
        </p:nvSpPr>
        <p:spPr>
          <a:xfrm>
            <a:off x="502920" y="1394460"/>
            <a:ext cx="11102340" cy="274320"/>
          </a:xfrm>
          <a:prstGeom prst="rect">
            <a:avLst/>
          </a:prstGeom>
          <a:noFill/>
        </p:spPr>
        <p:txBody>
          <a:bodyPr wrap="none" lIns="0" rIns="0" tIns="0" bIns="0">
            <a:spAutoFit/>
          </a:bodyPr>
          <a:lstStyle/>
          <a:p>
            <a:pPr>
              <a:lnSpc>
                <a:spcPts val="1800"/>
              </a:lnSpc>
              <a:spcBef>
                <a:spcPts val="0"/>
              </a:spcBef>
              <a:spcAft>
                <a:spcPts val="0"/>
              </a:spcAft>
              <a:defRPr sz="1439" b="0">
                <a:solidFill>
                  <a:srgbClr val="65738C"/>
                </a:solidFill>
                <a:latin typeface="DejaVu Sans"/>
              </a:defRPr>
            </a:pPr>
            <a:r>
              <a:t>A working path, with clear module boundaries.</a:t>
            </a:r>
          </a:p>
        </p:txBody>
      </p:sp>
      <p:cxnSp>
        <p:nvCxnSpPr>
          <p:cNvPr id="9" name="Connector 8"/>
          <p:cNvCxnSpPr/>
          <p:nvPr/>
        </p:nvCxnSpPr>
        <p:spPr>
          <a:xfrm>
            <a:off x="487680" y="6217920"/>
            <a:ext cx="11216640" cy="0"/>
          </a:xfrm>
          <a:prstGeom prst="line">
            <a:avLst/>
          </a:prstGeom>
          <a:ln w="15240">
            <a:solidFill>
              <a:srgbClr val="DCE1E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7680" y="6385560"/>
            <a:ext cx="8435340" cy="226695"/>
          </a:xfrm>
          <a:prstGeom prst="rect">
            <a:avLst/>
          </a:prstGeom>
          <a:noFill/>
        </p:spPr>
        <p:txBody>
          <a:bodyPr wrap="none" lIns="0" rIns="0" tIns="0" bIns="0">
            <a:spAutoFit/>
          </a:bodyPr>
          <a:lstStyle/>
          <a:p>
            <a:pPr>
              <a:lnSpc>
                <a:spcPts val="1425"/>
              </a:lnSpc>
              <a:spcBef>
                <a:spcPts val="0"/>
              </a:spcBef>
              <a:spcAft>
                <a:spcPts val="0"/>
              </a:spcAft>
              <a:defRPr sz="1140" b="0">
                <a:solidFill>
                  <a:srgbClr val="65738C"/>
                </a:solidFill>
                <a:latin typeface="DejaVu Sans"/>
              </a:defRPr>
            </a:pPr>
            <a:r>
              <a:t>SIMULATED IoT · Public GitHub API · Gemini</a:t>
            </a:r>
          </a:p>
        </p:txBody>
      </p:sp>
      <p:sp>
        <p:nvSpPr>
          <p:cNvPr id="11" name="TextBox 10"/>
          <p:cNvSpPr txBox="1"/>
          <p:nvPr/>
        </p:nvSpPr>
        <p:spPr>
          <a:xfrm>
            <a:off x="10515600" y="6370320"/>
            <a:ext cx="1272540" cy="255270"/>
          </a:xfrm>
          <a:prstGeom prst="rect">
            <a:avLst/>
          </a:prstGeom>
          <a:noFill/>
        </p:spPr>
        <p:txBody>
          <a:bodyPr wrap="none" lIns="0" rIns="0" tIns="0" bIns="0">
            <a:spAutoFit/>
          </a:bodyPr>
          <a:lstStyle/>
          <a:p>
            <a:pPr>
              <a:lnSpc>
                <a:spcPts val="1650"/>
              </a:lnSpc>
              <a:spcBef>
                <a:spcPts val="0"/>
              </a:spcBef>
              <a:spcAft>
                <a:spcPts val="0"/>
              </a:spcAft>
              <a:defRPr sz="1320" b="1">
                <a:solidFill>
                  <a:srgbClr val="7051E8"/>
                </a:solidFill>
                <a:latin typeface="DejaVu Sans"/>
              </a:defRPr>
            </a:pPr>
            <a:r>
              <a:t>05 / 09</a:t>
            </a:r>
          </a:p>
        </p:txBody>
      </p:sp>
      <p:sp>
        <p:nvSpPr>
          <p:cNvPr id="12" name="Rounded Rectangle 11"/>
          <p:cNvSpPr/>
          <p:nvPr/>
        </p:nvSpPr>
        <p:spPr>
          <a:xfrm>
            <a:off x="487680" y="1905000"/>
            <a:ext cx="3566160" cy="1874519"/>
          </a:xfrm>
          <a:prstGeom prst="roundRect">
            <a:avLst>
              <a:gd name="adj" fmla="val 894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6280" y="2103120"/>
            <a:ext cx="640080" cy="426720"/>
          </a:xfrm>
          <a:prstGeom prst="roundRect">
            <a:avLst>
              <a:gd name="adj" fmla="val 14285"/>
            </a:avLst>
          </a:prstGeom>
          <a:solidFill>
            <a:srgbClr val="E9E4FF"/>
          </a:solidFill>
          <a:ln w="22860">
            <a:solidFill>
              <a:srgbClr val="705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036320" y="2529840"/>
            <a:ext cx="0" cy="12192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53440" y="2651760"/>
            <a:ext cx="36576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61060" y="2301240"/>
            <a:ext cx="11430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975360" y="2202180"/>
            <a:ext cx="68580" cy="9906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43940" y="2202180"/>
            <a:ext cx="83820" cy="20574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127760" y="2293620"/>
            <a:ext cx="99060" cy="11430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577340" y="2194560"/>
            <a:ext cx="2339340" cy="350520"/>
          </a:xfrm>
          <a:prstGeom prst="rect">
            <a:avLst/>
          </a:prstGeom>
          <a:noFill/>
        </p:spPr>
        <p:txBody>
          <a:bodyPr wrap="none" lIns="0" rIns="0" tIns="0" bIns="0">
            <a:spAutoFit/>
          </a:bodyPr>
          <a:lstStyle/>
          <a:p>
            <a:pPr>
              <a:lnSpc>
                <a:spcPts val="2400"/>
              </a:lnSpc>
              <a:spcBef>
                <a:spcPts val="0"/>
              </a:spcBef>
              <a:spcAft>
                <a:spcPts val="0"/>
              </a:spcAft>
              <a:defRPr sz="1920" b="1">
                <a:solidFill>
                  <a:srgbClr val="14213B"/>
                </a:solidFill>
                <a:latin typeface="DejaVu Sans"/>
              </a:defRPr>
            </a:pPr>
            <a:r>
              <a:t>Simulator</a:t>
            </a:r>
          </a:p>
        </p:txBody>
      </p:sp>
      <p:sp>
        <p:nvSpPr>
          <p:cNvPr id="21" name="TextBox 20"/>
          <p:cNvSpPr txBox="1"/>
          <p:nvPr/>
        </p:nvSpPr>
        <p:spPr>
          <a:xfrm>
            <a:off x="716280" y="3063240"/>
            <a:ext cx="3162300" cy="302895"/>
          </a:xfrm>
          <a:prstGeom prst="rect">
            <a:avLst/>
          </a:prstGeom>
          <a:noFill/>
        </p:spPr>
        <p:txBody>
          <a:bodyPr wrap="none" lIns="0" rIns="0" tIns="0" bIns="0">
            <a:spAutoFit/>
          </a:bodyPr>
          <a:lstStyle/>
          <a:p>
            <a:pPr>
              <a:lnSpc>
                <a:spcPts val="2025"/>
              </a:lnSpc>
              <a:spcBef>
                <a:spcPts val="0"/>
              </a:spcBef>
              <a:spcAft>
                <a:spcPts val="0"/>
              </a:spcAft>
              <a:defRPr sz="1620" b="0">
                <a:solidFill>
                  <a:srgbClr val="65738C"/>
                </a:solidFill>
                <a:latin typeface="DejaVu Sans"/>
              </a:defRPr>
            </a:pPr>
            <a:r>
              <a:t>Fixed event fixtures</a:t>
            </a:r>
          </a:p>
        </p:txBody>
      </p:sp>
      <p:cxnSp>
        <p:nvCxnSpPr>
          <p:cNvPr id="22" name="Connector 21"/>
          <p:cNvCxnSpPr/>
          <p:nvPr/>
        </p:nvCxnSpPr>
        <p:spPr>
          <a:xfrm>
            <a:off x="716280" y="3566160"/>
            <a:ext cx="3108960" cy="0"/>
          </a:xfrm>
          <a:prstGeom prst="line">
            <a:avLst/>
          </a:prstGeom>
          <a:ln w="45719">
            <a:solidFill>
              <a:srgbClr val="168575"/>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312920" y="1905000"/>
            <a:ext cx="3566160" cy="1874519"/>
          </a:xfrm>
          <a:prstGeom prst="roundRect">
            <a:avLst>
              <a:gd name="adj" fmla="val 894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610100" y="2148840"/>
            <a:ext cx="472440" cy="472440"/>
          </a:xfrm>
          <a:prstGeom prst="ellipse">
            <a:avLst/>
          </a:prstGeom>
          <a:solidFill>
            <a:srgbClr val="E9E4FF"/>
          </a:solidFill>
          <a:ln w="22860">
            <a:solidFill>
              <a:srgbClr val="705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flipH="1" flipV="1">
            <a:off x="4671060" y="2103120"/>
            <a:ext cx="22860" cy="12954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671060" y="2103120"/>
            <a:ext cx="129540" cy="6858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907280" y="2103120"/>
            <a:ext cx="129540" cy="6858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5013960" y="2103120"/>
            <a:ext cx="22860" cy="12954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846320" y="2606040"/>
            <a:ext cx="0" cy="10668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02580" y="2194560"/>
            <a:ext cx="2339340" cy="350520"/>
          </a:xfrm>
          <a:prstGeom prst="rect">
            <a:avLst/>
          </a:prstGeom>
          <a:noFill/>
        </p:spPr>
        <p:txBody>
          <a:bodyPr wrap="none" lIns="0" rIns="0" tIns="0" bIns="0">
            <a:spAutoFit/>
          </a:bodyPr>
          <a:lstStyle/>
          <a:p>
            <a:pPr>
              <a:lnSpc>
                <a:spcPts val="2400"/>
              </a:lnSpc>
              <a:spcBef>
                <a:spcPts val="0"/>
              </a:spcBef>
              <a:spcAft>
                <a:spcPts val="0"/>
              </a:spcAft>
              <a:defRPr sz="1920" b="1">
                <a:solidFill>
                  <a:srgbClr val="14213B"/>
                </a:solidFill>
                <a:latin typeface="DejaVu Sans"/>
              </a:defRPr>
            </a:pPr>
            <a:r>
              <a:t>GitHub adapter</a:t>
            </a:r>
          </a:p>
        </p:txBody>
      </p:sp>
      <p:sp>
        <p:nvSpPr>
          <p:cNvPr id="31" name="TextBox 30"/>
          <p:cNvSpPr txBox="1"/>
          <p:nvPr/>
        </p:nvSpPr>
        <p:spPr>
          <a:xfrm>
            <a:off x="4541520" y="3063240"/>
            <a:ext cx="3162300" cy="302895"/>
          </a:xfrm>
          <a:prstGeom prst="rect">
            <a:avLst/>
          </a:prstGeom>
          <a:noFill/>
        </p:spPr>
        <p:txBody>
          <a:bodyPr wrap="none" lIns="0" rIns="0" tIns="0" bIns="0">
            <a:spAutoFit/>
          </a:bodyPr>
          <a:lstStyle/>
          <a:p>
            <a:pPr>
              <a:lnSpc>
                <a:spcPts val="2025"/>
              </a:lnSpc>
              <a:spcBef>
                <a:spcPts val="0"/>
              </a:spcBef>
              <a:spcAft>
                <a:spcPts val="0"/>
              </a:spcAft>
              <a:defRPr sz="1620" b="0">
                <a:solidFill>
                  <a:srgbClr val="65738C"/>
                </a:solidFill>
                <a:latin typeface="DejaVu Sans"/>
              </a:defRPr>
            </a:pPr>
            <a:r>
              <a:t>Public repository activity</a:t>
            </a:r>
          </a:p>
        </p:txBody>
      </p:sp>
      <p:cxnSp>
        <p:nvCxnSpPr>
          <p:cNvPr id="32" name="Connector 31"/>
          <p:cNvCxnSpPr/>
          <p:nvPr/>
        </p:nvCxnSpPr>
        <p:spPr>
          <a:xfrm>
            <a:off x="4541520" y="3566160"/>
            <a:ext cx="3108960" cy="0"/>
          </a:xfrm>
          <a:prstGeom prst="line">
            <a:avLst/>
          </a:prstGeom>
          <a:ln w="45719">
            <a:solidFill>
              <a:srgbClr val="168575"/>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138160" y="1905000"/>
            <a:ext cx="3566160" cy="1874519"/>
          </a:xfrm>
          <a:prstGeom prst="roundRect">
            <a:avLst>
              <a:gd name="adj" fmla="val 894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8473440" y="2103120"/>
            <a:ext cx="0" cy="59436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8420100" y="2141220"/>
            <a:ext cx="106680" cy="106680"/>
          </a:xfrm>
          <a:prstGeom prst="ellipse">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8610600" y="2194560"/>
            <a:ext cx="35052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8420100" y="2339340"/>
            <a:ext cx="106680" cy="106680"/>
          </a:xfrm>
          <a:prstGeom prst="ellipse">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8610600" y="2392680"/>
            <a:ext cx="35052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8420100" y="2552700"/>
            <a:ext cx="106680" cy="106680"/>
          </a:xfrm>
          <a:prstGeom prst="ellipse">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8610600" y="2606040"/>
            <a:ext cx="35052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227820" y="2194560"/>
            <a:ext cx="2339340" cy="350520"/>
          </a:xfrm>
          <a:prstGeom prst="rect">
            <a:avLst/>
          </a:prstGeom>
          <a:noFill/>
        </p:spPr>
        <p:txBody>
          <a:bodyPr wrap="none" lIns="0" rIns="0" tIns="0" bIns="0">
            <a:spAutoFit/>
          </a:bodyPr>
          <a:lstStyle/>
          <a:p>
            <a:pPr>
              <a:lnSpc>
                <a:spcPts val="2400"/>
              </a:lnSpc>
              <a:spcBef>
                <a:spcPts val="0"/>
              </a:spcBef>
              <a:spcAft>
                <a:spcPts val="0"/>
              </a:spcAft>
              <a:defRPr sz="1920" b="1">
                <a:solidFill>
                  <a:srgbClr val="14213B"/>
                </a:solidFill>
                <a:latin typeface="DejaVu Sans"/>
              </a:defRPr>
            </a:pPr>
            <a:r>
              <a:t>Timeline</a:t>
            </a:r>
          </a:p>
        </p:txBody>
      </p:sp>
      <p:sp>
        <p:nvSpPr>
          <p:cNvPr id="42" name="TextBox 41"/>
          <p:cNvSpPr txBox="1"/>
          <p:nvPr/>
        </p:nvSpPr>
        <p:spPr>
          <a:xfrm>
            <a:off x="8366760" y="3063240"/>
            <a:ext cx="3162300" cy="302895"/>
          </a:xfrm>
          <a:prstGeom prst="rect">
            <a:avLst/>
          </a:prstGeom>
          <a:noFill/>
        </p:spPr>
        <p:txBody>
          <a:bodyPr wrap="none" lIns="0" rIns="0" tIns="0" bIns="0">
            <a:spAutoFit/>
          </a:bodyPr>
          <a:lstStyle/>
          <a:p>
            <a:pPr>
              <a:lnSpc>
                <a:spcPts val="2025"/>
              </a:lnSpc>
              <a:spcBef>
                <a:spcPts val="0"/>
              </a:spcBef>
              <a:spcAft>
                <a:spcPts val="0"/>
              </a:spcAft>
              <a:defRPr sz="1620" b="0">
                <a:solidFill>
                  <a:srgbClr val="65738C"/>
                </a:solidFill>
                <a:latin typeface="DejaVu Sans"/>
              </a:defRPr>
            </a:pPr>
            <a:r>
              <a:t>Source / Severity</a:t>
            </a:r>
          </a:p>
        </p:txBody>
      </p:sp>
      <p:cxnSp>
        <p:nvCxnSpPr>
          <p:cNvPr id="43" name="Connector 42"/>
          <p:cNvCxnSpPr/>
          <p:nvPr/>
        </p:nvCxnSpPr>
        <p:spPr>
          <a:xfrm>
            <a:off x="8366760" y="3566160"/>
            <a:ext cx="3108960" cy="0"/>
          </a:xfrm>
          <a:prstGeom prst="line">
            <a:avLst/>
          </a:prstGeom>
          <a:ln w="45719">
            <a:solidFill>
              <a:srgbClr val="168575"/>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487680" y="3977639"/>
            <a:ext cx="3566160" cy="1874519"/>
          </a:xfrm>
          <a:prstGeom prst="roundRect">
            <a:avLst>
              <a:gd name="adj" fmla="val 894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77240" y="4206240"/>
            <a:ext cx="487680" cy="487680"/>
          </a:xfrm>
          <a:prstGeom prst="roundRect">
            <a:avLst>
              <a:gd name="adj" fmla="val 21875"/>
            </a:avLst>
          </a:prstGeom>
          <a:solidFill>
            <a:srgbClr val="E9E4FF"/>
          </a:solidFill>
          <a:ln w="22860">
            <a:solidFill>
              <a:srgbClr val="705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868680" y="4130040"/>
            <a:ext cx="0" cy="6858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68680" y="4693920"/>
            <a:ext cx="0" cy="7620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93420" y="4328160"/>
            <a:ext cx="8382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264920" y="4328160"/>
            <a:ext cx="8382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021080" y="4130040"/>
            <a:ext cx="0" cy="6858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21080" y="4693920"/>
            <a:ext cx="0" cy="7620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93420" y="4480560"/>
            <a:ext cx="8382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264920" y="4480560"/>
            <a:ext cx="8382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173480" y="4130040"/>
            <a:ext cx="0" cy="6858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173480" y="4693920"/>
            <a:ext cx="0" cy="7620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93420" y="4632960"/>
            <a:ext cx="8382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264920" y="4632960"/>
            <a:ext cx="8382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922020" y="4343400"/>
            <a:ext cx="99060" cy="16764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21080" y="4343400"/>
            <a:ext cx="99060" cy="16764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52500" y="4457700"/>
            <a:ext cx="137160" cy="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577340" y="4267200"/>
            <a:ext cx="2339340" cy="350520"/>
          </a:xfrm>
          <a:prstGeom prst="rect">
            <a:avLst/>
          </a:prstGeom>
          <a:noFill/>
        </p:spPr>
        <p:txBody>
          <a:bodyPr wrap="none" lIns="0" rIns="0" tIns="0" bIns="0">
            <a:spAutoFit/>
          </a:bodyPr>
          <a:lstStyle/>
          <a:p>
            <a:pPr>
              <a:lnSpc>
                <a:spcPts val="2400"/>
              </a:lnSpc>
              <a:spcBef>
                <a:spcPts val="0"/>
              </a:spcBef>
              <a:spcAft>
                <a:spcPts val="0"/>
              </a:spcAft>
              <a:defRPr sz="1920" b="1">
                <a:solidFill>
                  <a:srgbClr val="14213B"/>
                </a:solidFill>
                <a:latin typeface="DejaVu Sans"/>
              </a:defRPr>
            </a:pPr>
            <a:r>
              <a:t>Gemini adapter</a:t>
            </a:r>
          </a:p>
        </p:txBody>
      </p:sp>
      <p:sp>
        <p:nvSpPr>
          <p:cNvPr id="62" name="TextBox 61"/>
          <p:cNvSpPr txBox="1"/>
          <p:nvPr/>
        </p:nvSpPr>
        <p:spPr>
          <a:xfrm>
            <a:off x="716280" y="5135880"/>
            <a:ext cx="3162300" cy="302895"/>
          </a:xfrm>
          <a:prstGeom prst="rect">
            <a:avLst/>
          </a:prstGeom>
          <a:noFill/>
        </p:spPr>
        <p:txBody>
          <a:bodyPr wrap="none" lIns="0" rIns="0" tIns="0" bIns="0">
            <a:spAutoFit/>
          </a:bodyPr>
          <a:lstStyle/>
          <a:p>
            <a:pPr>
              <a:lnSpc>
                <a:spcPts val="2025"/>
              </a:lnSpc>
              <a:spcBef>
                <a:spcPts val="0"/>
              </a:spcBef>
              <a:spcAft>
                <a:spcPts val="0"/>
              </a:spcAft>
              <a:defRPr sz="1620" b="0">
                <a:solidFill>
                  <a:srgbClr val="65738C"/>
                </a:solidFill>
                <a:latin typeface="DejaVu Sans"/>
              </a:defRPr>
            </a:pPr>
            <a:r>
              <a:t>Structured response</a:t>
            </a:r>
          </a:p>
        </p:txBody>
      </p:sp>
      <p:cxnSp>
        <p:nvCxnSpPr>
          <p:cNvPr id="63" name="Connector 62"/>
          <p:cNvCxnSpPr/>
          <p:nvPr/>
        </p:nvCxnSpPr>
        <p:spPr>
          <a:xfrm>
            <a:off x="716280" y="5638800"/>
            <a:ext cx="3108960" cy="0"/>
          </a:xfrm>
          <a:prstGeom prst="line">
            <a:avLst/>
          </a:prstGeom>
          <a:ln w="45719">
            <a:solidFill>
              <a:srgbClr val="168575"/>
            </a:solidFill>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4312920" y="3977639"/>
            <a:ext cx="3566160" cy="1874519"/>
          </a:xfrm>
          <a:prstGeom prst="roundRect">
            <a:avLst>
              <a:gd name="adj" fmla="val 894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4572000" y="4152900"/>
            <a:ext cx="548640" cy="601980"/>
          </a:xfrm>
          <a:custGeom>
            <a:avLst/>
            <a:gdLst/>
            <a:ahLst/>
            <a:cxnLst/>
            <a:rect l="l" t="t" r="r" b="b"/>
            <a:pathLst>
              <a:path w="72" h="79">
                <a:moveTo>
                  <a:pt x="0" y="8"/>
                </a:moveTo>
                <a:lnTo>
                  <a:pt x="36" y="0"/>
                </a:lnTo>
                <a:lnTo>
                  <a:pt x="72" y="8"/>
                </a:lnTo>
                <a:lnTo>
                  <a:pt x="64" y="56"/>
                </a:lnTo>
                <a:lnTo>
                  <a:pt x="36" y="79"/>
                </a:lnTo>
                <a:lnTo>
                  <a:pt x="8" y="56"/>
                </a:lnTo>
                <a:close/>
              </a:path>
            </a:pathLst>
          </a:custGeom>
          <a:solidFill>
            <a:srgbClr val="E9E4FF"/>
          </a:solidFill>
          <a:ln w="22860">
            <a:solidFill>
              <a:srgbClr val="705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4716780" y="4419600"/>
            <a:ext cx="99060" cy="9906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815840" y="4320540"/>
            <a:ext cx="167640" cy="19812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402580" y="4267200"/>
            <a:ext cx="2339340" cy="350520"/>
          </a:xfrm>
          <a:prstGeom prst="rect">
            <a:avLst/>
          </a:prstGeom>
          <a:noFill/>
        </p:spPr>
        <p:txBody>
          <a:bodyPr wrap="none" lIns="0" rIns="0" tIns="0" bIns="0">
            <a:spAutoFit/>
          </a:bodyPr>
          <a:lstStyle/>
          <a:p>
            <a:pPr>
              <a:lnSpc>
                <a:spcPts val="2400"/>
              </a:lnSpc>
              <a:spcBef>
                <a:spcPts val="0"/>
              </a:spcBef>
              <a:spcAft>
                <a:spcPts val="0"/>
              </a:spcAft>
              <a:defRPr sz="1920" b="1">
                <a:solidFill>
                  <a:srgbClr val="14213B"/>
                </a:solidFill>
                <a:latin typeface="DejaVu Sans"/>
              </a:defRPr>
            </a:pPr>
            <a:r>
              <a:t>Validation</a:t>
            </a:r>
          </a:p>
        </p:txBody>
      </p:sp>
      <p:sp>
        <p:nvSpPr>
          <p:cNvPr id="69" name="TextBox 68"/>
          <p:cNvSpPr txBox="1"/>
          <p:nvPr/>
        </p:nvSpPr>
        <p:spPr>
          <a:xfrm>
            <a:off x="4541520" y="5135880"/>
            <a:ext cx="3162300" cy="302895"/>
          </a:xfrm>
          <a:prstGeom prst="rect">
            <a:avLst/>
          </a:prstGeom>
          <a:noFill/>
        </p:spPr>
        <p:txBody>
          <a:bodyPr wrap="none" lIns="0" rIns="0" tIns="0" bIns="0">
            <a:spAutoFit/>
          </a:bodyPr>
          <a:lstStyle/>
          <a:p>
            <a:pPr>
              <a:lnSpc>
                <a:spcPts val="2025"/>
              </a:lnSpc>
              <a:spcBef>
                <a:spcPts val="0"/>
              </a:spcBef>
              <a:spcAft>
                <a:spcPts val="0"/>
              </a:spcAft>
              <a:defRPr sz="1620" b="0">
                <a:solidFill>
                  <a:srgbClr val="65738C"/>
                </a:solidFill>
                <a:latin typeface="DejaVu Sans"/>
              </a:defRPr>
            </a:pPr>
            <a:r>
              <a:t>Schema + evidence IDs</a:t>
            </a:r>
          </a:p>
        </p:txBody>
      </p:sp>
      <p:cxnSp>
        <p:nvCxnSpPr>
          <p:cNvPr id="70" name="Connector 69"/>
          <p:cNvCxnSpPr/>
          <p:nvPr/>
        </p:nvCxnSpPr>
        <p:spPr>
          <a:xfrm>
            <a:off x="4541520" y="5638800"/>
            <a:ext cx="3108960" cy="0"/>
          </a:xfrm>
          <a:prstGeom prst="line">
            <a:avLst/>
          </a:prstGeom>
          <a:ln w="45719">
            <a:solidFill>
              <a:srgbClr val="168575"/>
            </a:solidFill>
          </a:ln>
        </p:spPr>
        <p:style>
          <a:lnRef idx="2">
            <a:schemeClr val="accent1"/>
          </a:lnRef>
          <a:fillRef idx="0">
            <a:schemeClr val="accent1"/>
          </a:fillRef>
          <a:effectRef idx="1">
            <a:schemeClr val="accent1"/>
          </a:effectRef>
          <a:fontRef idx="minor">
            <a:schemeClr val="tx1"/>
          </a:fontRef>
        </p:style>
      </p:cxnSp>
      <p:sp>
        <p:nvSpPr>
          <p:cNvPr id="71" name="Rounded Rectangle 70"/>
          <p:cNvSpPr/>
          <p:nvPr/>
        </p:nvSpPr>
        <p:spPr>
          <a:xfrm>
            <a:off x="8138160" y="3977639"/>
            <a:ext cx="3566160" cy="1874519"/>
          </a:xfrm>
          <a:prstGeom prst="roundRect">
            <a:avLst>
              <a:gd name="adj" fmla="val 894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8420100" y="4198620"/>
            <a:ext cx="502920" cy="502920"/>
          </a:xfrm>
          <a:prstGeom prst="ellipse">
            <a:avLst/>
          </a:prstGeom>
          <a:solidFill>
            <a:srgbClr val="E9E4FF"/>
          </a:solidFill>
          <a:ln w="22860">
            <a:solidFill>
              <a:srgbClr val="705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flipV="1">
            <a:off x="8671560" y="4267200"/>
            <a:ext cx="0" cy="18288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8671560" y="4450080"/>
            <a:ext cx="144780" cy="60960"/>
          </a:xfrm>
          <a:prstGeom prst="line">
            <a:avLst/>
          </a:prstGeom>
          <a:ln w="30480">
            <a:solidFill>
              <a:srgbClr val="7051E8"/>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227820" y="4267200"/>
            <a:ext cx="2339340" cy="350520"/>
          </a:xfrm>
          <a:prstGeom prst="rect">
            <a:avLst/>
          </a:prstGeom>
          <a:noFill/>
        </p:spPr>
        <p:txBody>
          <a:bodyPr wrap="none" lIns="0" rIns="0" tIns="0" bIns="0">
            <a:spAutoFit/>
          </a:bodyPr>
          <a:lstStyle/>
          <a:p>
            <a:pPr>
              <a:lnSpc>
                <a:spcPts val="2400"/>
              </a:lnSpc>
              <a:spcBef>
                <a:spcPts val="0"/>
              </a:spcBef>
              <a:spcAft>
                <a:spcPts val="0"/>
              </a:spcAft>
              <a:defRPr sz="1920" b="1">
                <a:solidFill>
                  <a:srgbClr val="14213B"/>
                </a:solidFill>
                <a:latin typeface="DejaVu Sans"/>
              </a:defRPr>
            </a:pPr>
            <a:r>
              <a:t>Quota</a:t>
            </a:r>
          </a:p>
        </p:txBody>
      </p:sp>
      <p:sp>
        <p:nvSpPr>
          <p:cNvPr id="76" name="TextBox 75"/>
          <p:cNvSpPr txBox="1"/>
          <p:nvPr/>
        </p:nvSpPr>
        <p:spPr>
          <a:xfrm>
            <a:off x="8366760" y="5135880"/>
            <a:ext cx="3162300" cy="302895"/>
          </a:xfrm>
          <a:prstGeom prst="rect">
            <a:avLst/>
          </a:prstGeom>
          <a:noFill/>
        </p:spPr>
        <p:txBody>
          <a:bodyPr wrap="none" lIns="0" rIns="0" tIns="0" bIns="0">
            <a:spAutoFit/>
          </a:bodyPr>
          <a:lstStyle/>
          <a:p>
            <a:pPr>
              <a:lnSpc>
                <a:spcPts val="2025"/>
              </a:lnSpc>
              <a:spcBef>
                <a:spcPts val="0"/>
              </a:spcBef>
              <a:spcAft>
                <a:spcPts val="0"/>
              </a:spcAft>
              <a:defRPr sz="1620" b="0">
                <a:solidFill>
                  <a:srgbClr val="65738C"/>
                </a:solidFill>
                <a:latin typeface="DejaVu Sans"/>
              </a:defRPr>
            </a:pPr>
            <a:r>
              <a:t>Feature gate + Redis</a:t>
            </a:r>
          </a:p>
        </p:txBody>
      </p:sp>
      <p:cxnSp>
        <p:nvCxnSpPr>
          <p:cNvPr id="77" name="Connector 76"/>
          <p:cNvCxnSpPr/>
          <p:nvPr/>
        </p:nvCxnSpPr>
        <p:spPr>
          <a:xfrm>
            <a:off x="8366760" y="5638800"/>
            <a:ext cx="3108960" cy="0"/>
          </a:xfrm>
          <a:prstGeom prst="line">
            <a:avLst/>
          </a:prstGeom>
          <a:ln w="45719">
            <a:solidFill>
              <a:srgbClr val="16857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67640"/>
          </a:xfrm>
          <a:prstGeom prst="rect">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80" y="373380"/>
            <a:ext cx="69113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65738C"/>
                </a:solidFill>
                <a:latin typeface="DejaVu Sans"/>
              </a:defRPr>
            </a:pPr>
            <a:r>
              <a:t>OPSREPLAY / HACKATHON PROTOTYPE</a:t>
            </a:r>
          </a:p>
        </p:txBody>
      </p:sp>
      <p:sp>
        <p:nvSpPr>
          <p:cNvPr id="5" name="Rounded Rectangle 4"/>
          <p:cNvSpPr/>
          <p:nvPr/>
        </p:nvSpPr>
        <p:spPr>
          <a:xfrm>
            <a:off x="9982200" y="327660"/>
            <a:ext cx="1714500" cy="335280"/>
          </a:xfrm>
          <a:prstGeom prst="roundRect">
            <a:avLst>
              <a:gd name="adj" fmla="val 25000"/>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19360" y="388620"/>
            <a:ext cx="15392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FFFFFF"/>
                </a:solidFill>
                <a:latin typeface="DejaVu Sans"/>
              </a:defRPr>
            </a:pPr>
            <a:r>
              <a:t>SOLO PROJECT</a:t>
            </a:r>
          </a:p>
        </p:txBody>
      </p:sp>
      <p:sp>
        <p:nvSpPr>
          <p:cNvPr id="7" name="TextBox 6"/>
          <p:cNvSpPr txBox="1"/>
          <p:nvPr/>
        </p:nvSpPr>
        <p:spPr>
          <a:xfrm>
            <a:off x="487680" y="853440"/>
            <a:ext cx="11254740" cy="541020"/>
          </a:xfrm>
          <a:prstGeom prst="rect">
            <a:avLst/>
          </a:prstGeom>
          <a:noFill/>
        </p:spPr>
        <p:txBody>
          <a:bodyPr wrap="none" lIns="0" rIns="0" tIns="0" bIns="0">
            <a:spAutoFit/>
          </a:bodyPr>
          <a:lstStyle/>
          <a:p>
            <a:pPr>
              <a:lnSpc>
                <a:spcPts val="3900"/>
              </a:lnSpc>
              <a:spcBef>
                <a:spcPts val="0"/>
              </a:spcBef>
              <a:spcAft>
                <a:spcPts val="0"/>
              </a:spcAft>
              <a:defRPr sz="3120" b="1">
                <a:solidFill>
                  <a:srgbClr val="14213B"/>
                </a:solidFill>
                <a:latin typeface="DejaVu Sans"/>
              </a:defRPr>
            </a:pPr>
            <a:r>
              <a:t>Demo: replay one device going offline.</a:t>
            </a:r>
          </a:p>
        </p:txBody>
      </p:sp>
      <p:sp>
        <p:nvSpPr>
          <p:cNvPr id="8" name="TextBox 7"/>
          <p:cNvSpPr txBox="1"/>
          <p:nvPr/>
        </p:nvSpPr>
        <p:spPr>
          <a:xfrm>
            <a:off x="502920" y="1394460"/>
            <a:ext cx="11102340" cy="274320"/>
          </a:xfrm>
          <a:prstGeom prst="rect">
            <a:avLst/>
          </a:prstGeom>
          <a:noFill/>
        </p:spPr>
        <p:txBody>
          <a:bodyPr wrap="none" lIns="0" rIns="0" tIns="0" bIns="0">
            <a:spAutoFit/>
          </a:bodyPr>
          <a:lstStyle/>
          <a:p>
            <a:pPr>
              <a:lnSpc>
                <a:spcPts val="1800"/>
              </a:lnSpc>
              <a:spcBef>
                <a:spcPts val="0"/>
              </a:spcBef>
              <a:spcAft>
                <a:spcPts val="0"/>
              </a:spcAft>
              <a:defRPr sz="1439" b="0">
                <a:solidFill>
                  <a:srgbClr val="65738C"/>
                </a:solidFill>
                <a:latin typeface="DejaVu Sans"/>
              </a:defRPr>
            </a:pPr>
            <a:r>
              <a:t>Recorded successful request · Source: IoT · Severity: Critical</a:t>
            </a:r>
          </a:p>
        </p:txBody>
      </p:sp>
      <p:cxnSp>
        <p:nvCxnSpPr>
          <p:cNvPr id="9" name="Connector 8"/>
          <p:cNvCxnSpPr/>
          <p:nvPr/>
        </p:nvCxnSpPr>
        <p:spPr>
          <a:xfrm>
            <a:off x="487680" y="6217920"/>
            <a:ext cx="11216640" cy="0"/>
          </a:xfrm>
          <a:prstGeom prst="line">
            <a:avLst/>
          </a:prstGeom>
          <a:ln w="15240">
            <a:solidFill>
              <a:srgbClr val="DCE1E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7680" y="6385560"/>
            <a:ext cx="8435340" cy="226695"/>
          </a:xfrm>
          <a:prstGeom prst="rect">
            <a:avLst/>
          </a:prstGeom>
          <a:noFill/>
        </p:spPr>
        <p:txBody>
          <a:bodyPr wrap="none" lIns="0" rIns="0" tIns="0" bIns="0">
            <a:spAutoFit/>
          </a:bodyPr>
          <a:lstStyle/>
          <a:p>
            <a:pPr>
              <a:lnSpc>
                <a:spcPts val="1425"/>
              </a:lnSpc>
              <a:spcBef>
                <a:spcPts val="0"/>
              </a:spcBef>
              <a:spcAft>
                <a:spcPts val="0"/>
              </a:spcAft>
              <a:defRPr sz="1140" b="0">
                <a:solidFill>
                  <a:srgbClr val="65738C"/>
                </a:solidFill>
                <a:latin typeface="DejaVu Sans"/>
              </a:defRPr>
            </a:pPr>
            <a:r>
              <a:t>SIMULATED IoT · Public GitHub API · Gemini</a:t>
            </a:r>
          </a:p>
        </p:txBody>
      </p:sp>
      <p:sp>
        <p:nvSpPr>
          <p:cNvPr id="11" name="TextBox 10"/>
          <p:cNvSpPr txBox="1"/>
          <p:nvPr/>
        </p:nvSpPr>
        <p:spPr>
          <a:xfrm>
            <a:off x="10515600" y="6370320"/>
            <a:ext cx="1272540" cy="255270"/>
          </a:xfrm>
          <a:prstGeom prst="rect">
            <a:avLst/>
          </a:prstGeom>
          <a:noFill/>
        </p:spPr>
        <p:txBody>
          <a:bodyPr wrap="none" lIns="0" rIns="0" tIns="0" bIns="0">
            <a:spAutoFit/>
          </a:bodyPr>
          <a:lstStyle/>
          <a:p>
            <a:pPr>
              <a:lnSpc>
                <a:spcPts val="1650"/>
              </a:lnSpc>
              <a:spcBef>
                <a:spcPts val="0"/>
              </a:spcBef>
              <a:spcAft>
                <a:spcPts val="0"/>
              </a:spcAft>
              <a:defRPr sz="1320" b="1">
                <a:solidFill>
                  <a:srgbClr val="7051E8"/>
                </a:solidFill>
                <a:latin typeface="DejaVu Sans"/>
              </a:defRPr>
            </a:pPr>
            <a:r>
              <a:t>06 / 09</a:t>
            </a:r>
          </a:p>
        </p:txBody>
      </p:sp>
      <p:sp>
        <p:nvSpPr>
          <p:cNvPr id="12" name="Rounded Rectangle 11"/>
          <p:cNvSpPr/>
          <p:nvPr/>
        </p:nvSpPr>
        <p:spPr>
          <a:xfrm>
            <a:off x="487680" y="1905000"/>
            <a:ext cx="11216640" cy="3375660"/>
          </a:xfrm>
          <a:prstGeom prst="roundRect">
            <a:avLst>
              <a:gd name="adj" fmla="val 4966"/>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62000" y="2118360"/>
            <a:ext cx="1920240" cy="335280"/>
          </a:xfrm>
          <a:prstGeom prst="roundRect">
            <a:avLst>
              <a:gd name="adj" fmla="val 25000"/>
            </a:avLst>
          </a:prstGeom>
          <a:solidFill>
            <a:srgbClr val="E9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9160" y="2179320"/>
            <a:ext cx="174498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7051E8"/>
                </a:solidFill>
                <a:latin typeface="DejaVu Sans"/>
              </a:defRPr>
            </a:pPr>
            <a:r>
              <a:t>SIMULATED</a:t>
            </a:r>
          </a:p>
        </p:txBody>
      </p:sp>
      <p:sp>
        <p:nvSpPr>
          <p:cNvPr id="15" name="TextBox 14"/>
          <p:cNvSpPr txBox="1"/>
          <p:nvPr/>
        </p:nvSpPr>
        <p:spPr>
          <a:xfrm>
            <a:off x="7315200" y="2194560"/>
            <a:ext cx="4168140" cy="321945"/>
          </a:xfrm>
          <a:prstGeom prst="rect">
            <a:avLst/>
          </a:prstGeom>
          <a:noFill/>
        </p:spPr>
        <p:txBody>
          <a:bodyPr wrap="none" lIns="0" rIns="0" tIns="0" bIns="0">
            <a:spAutoFit/>
          </a:bodyPr>
          <a:lstStyle/>
          <a:p>
            <a:pPr>
              <a:lnSpc>
                <a:spcPts val="2175"/>
              </a:lnSpc>
              <a:spcBef>
                <a:spcPts val="0"/>
              </a:spcBef>
              <a:spcAft>
                <a:spcPts val="0"/>
              </a:spcAft>
              <a:defRPr sz="1739" b="1">
                <a:solidFill>
                  <a:srgbClr val="FFFFFF"/>
                </a:solidFill>
                <a:latin typeface="DejaVu Sans"/>
              </a:defRPr>
            </a:pPr>
            <a:r>
              <a:t>sim-plug-01 / 230 V</a:t>
            </a:r>
          </a:p>
        </p:txBody>
      </p:sp>
      <p:cxnSp>
        <p:nvCxnSpPr>
          <p:cNvPr id="16" name="Connector 15"/>
          <p:cNvCxnSpPr/>
          <p:nvPr/>
        </p:nvCxnSpPr>
        <p:spPr>
          <a:xfrm>
            <a:off x="1752600" y="3992879"/>
            <a:ext cx="8572500" cy="0"/>
          </a:xfrm>
          <a:prstGeom prst="line">
            <a:avLst/>
          </a:prstGeom>
          <a:ln w="60960">
            <a:solidFill>
              <a:srgbClr val="6F7B97"/>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1874519" y="3848099"/>
            <a:ext cx="289560" cy="289560"/>
          </a:xfrm>
          <a:prstGeom prst="ellipse">
            <a:avLst/>
          </a:prstGeom>
          <a:solidFill>
            <a:srgbClr val="168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200" y="3048000"/>
            <a:ext cx="2644140" cy="560070"/>
          </a:xfrm>
          <a:prstGeom prst="rect">
            <a:avLst/>
          </a:prstGeom>
          <a:noFill/>
        </p:spPr>
        <p:txBody>
          <a:bodyPr wrap="none" lIns="0" rIns="0" tIns="0" bIns="0">
            <a:spAutoFit/>
          </a:bodyPr>
          <a:lstStyle/>
          <a:p>
            <a:pPr>
              <a:lnSpc>
                <a:spcPts val="4050"/>
              </a:lnSpc>
              <a:spcBef>
                <a:spcPts val="0"/>
              </a:spcBef>
              <a:spcAft>
                <a:spcPts val="0"/>
              </a:spcAft>
              <a:defRPr sz="3240" b="1">
                <a:solidFill>
                  <a:srgbClr val="FFFFFF"/>
                </a:solidFill>
                <a:latin typeface="DejaVu Sans"/>
              </a:defRPr>
            </a:pPr>
            <a:r>
              <a:t>1850 W</a:t>
            </a:r>
          </a:p>
        </p:txBody>
      </p:sp>
      <p:sp>
        <p:nvSpPr>
          <p:cNvPr id="19" name="TextBox 18"/>
          <p:cNvSpPr txBox="1"/>
          <p:nvPr/>
        </p:nvSpPr>
        <p:spPr>
          <a:xfrm>
            <a:off x="777240" y="4396740"/>
            <a:ext cx="2758440" cy="293370"/>
          </a:xfrm>
          <a:prstGeom prst="rect">
            <a:avLst/>
          </a:prstGeom>
          <a:noFill/>
        </p:spPr>
        <p:txBody>
          <a:bodyPr wrap="none" lIns="0" rIns="0" tIns="0" bIns="0">
            <a:spAutoFit/>
          </a:bodyPr>
          <a:lstStyle/>
          <a:p>
            <a:pPr>
              <a:lnSpc>
                <a:spcPts val="1950"/>
              </a:lnSpc>
              <a:spcBef>
                <a:spcPts val="0"/>
              </a:spcBef>
              <a:spcAft>
                <a:spcPts val="0"/>
              </a:spcAft>
              <a:defRPr sz="1560" b="0">
                <a:solidFill>
                  <a:srgbClr val="D7DDED"/>
                </a:solidFill>
                <a:latin typeface="DejaVu Sans"/>
              </a:defRPr>
            </a:pPr>
            <a:r>
              <a:t>09:01:45 UTC</a:t>
            </a:r>
          </a:p>
        </p:txBody>
      </p:sp>
      <p:sp>
        <p:nvSpPr>
          <p:cNvPr id="20" name="Oval 19"/>
          <p:cNvSpPr/>
          <p:nvPr/>
        </p:nvSpPr>
        <p:spPr>
          <a:xfrm>
            <a:off x="5951220" y="3848099"/>
            <a:ext cx="289560" cy="289560"/>
          </a:xfrm>
          <a:prstGeom prst="ellipse">
            <a:avLst/>
          </a:prstGeom>
          <a:solidFill>
            <a:srgbClr val="168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14900" y="3048000"/>
            <a:ext cx="2644140" cy="560070"/>
          </a:xfrm>
          <a:prstGeom prst="rect">
            <a:avLst/>
          </a:prstGeom>
          <a:noFill/>
        </p:spPr>
        <p:txBody>
          <a:bodyPr wrap="none" lIns="0" rIns="0" tIns="0" bIns="0">
            <a:spAutoFit/>
          </a:bodyPr>
          <a:lstStyle/>
          <a:p>
            <a:pPr>
              <a:lnSpc>
                <a:spcPts val="4050"/>
              </a:lnSpc>
              <a:spcBef>
                <a:spcPts val="0"/>
              </a:spcBef>
              <a:spcAft>
                <a:spcPts val="0"/>
              </a:spcAft>
              <a:defRPr sz="3240" b="1">
                <a:solidFill>
                  <a:srgbClr val="FFFFFF"/>
                </a:solidFill>
                <a:latin typeface="DejaVu Sans"/>
              </a:defRPr>
            </a:pPr>
            <a:r>
              <a:t>1720 W</a:t>
            </a:r>
          </a:p>
        </p:txBody>
      </p:sp>
      <p:sp>
        <p:nvSpPr>
          <p:cNvPr id="22" name="TextBox 21"/>
          <p:cNvSpPr txBox="1"/>
          <p:nvPr/>
        </p:nvSpPr>
        <p:spPr>
          <a:xfrm>
            <a:off x="4853940" y="4396740"/>
            <a:ext cx="2758440" cy="293370"/>
          </a:xfrm>
          <a:prstGeom prst="rect">
            <a:avLst/>
          </a:prstGeom>
          <a:noFill/>
        </p:spPr>
        <p:txBody>
          <a:bodyPr wrap="none" lIns="0" rIns="0" tIns="0" bIns="0">
            <a:spAutoFit/>
          </a:bodyPr>
          <a:lstStyle/>
          <a:p>
            <a:pPr>
              <a:lnSpc>
                <a:spcPts val="1950"/>
              </a:lnSpc>
              <a:spcBef>
                <a:spcPts val="0"/>
              </a:spcBef>
              <a:spcAft>
                <a:spcPts val="0"/>
              </a:spcAft>
              <a:defRPr sz="1560" b="0">
                <a:solidFill>
                  <a:srgbClr val="D7DDED"/>
                </a:solidFill>
                <a:latin typeface="DejaVu Sans"/>
              </a:defRPr>
            </a:pPr>
            <a:r>
              <a:t>09:01:50 UTC</a:t>
            </a:r>
          </a:p>
        </p:txBody>
      </p:sp>
      <p:sp>
        <p:nvSpPr>
          <p:cNvPr id="23" name="Oval 22"/>
          <p:cNvSpPr/>
          <p:nvPr/>
        </p:nvSpPr>
        <p:spPr>
          <a:xfrm>
            <a:off x="10027920" y="3848099"/>
            <a:ext cx="289560" cy="289560"/>
          </a:xfrm>
          <a:prstGeom prst="ellipse">
            <a:avLst/>
          </a:prstGeom>
          <a:solidFill>
            <a:srgbClr val="AE6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91600" y="3048000"/>
            <a:ext cx="2644140" cy="560070"/>
          </a:xfrm>
          <a:prstGeom prst="rect">
            <a:avLst/>
          </a:prstGeom>
          <a:noFill/>
        </p:spPr>
        <p:txBody>
          <a:bodyPr wrap="none" lIns="0" rIns="0" tIns="0" bIns="0">
            <a:spAutoFit/>
          </a:bodyPr>
          <a:lstStyle/>
          <a:p>
            <a:pPr>
              <a:lnSpc>
                <a:spcPts val="4050"/>
              </a:lnSpc>
              <a:spcBef>
                <a:spcPts val="0"/>
              </a:spcBef>
              <a:spcAft>
                <a:spcPts val="0"/>
              </a:spcAft>
              <a:defRPr sz="3240" b="1">
                <a:solidFill>
                  <a:srgbClr val="FFFFFF"/>
                </a:solidFill>
                <a:latin typeface="DejaVu Sans"/>
              </a:defRPr>
            </a:pPr>
            <a:r>
              <a:t>offline</a:t>
            </a:r>
          </a:p>
        </p:txBody>
      </p:sp>
      <p:sp>
        <p:nvSpPr>
          <p:cNvPr id="25" name="TextBox 24"/>
          <p:cNvSpPr txBox="1"/>
          <p:nvPr/>
        </p:nvSpPr>
        <p:spPr>
          <a:xfrm>
            <a:off x="8930640" y="4396740"/>
            <a:ext cx="2758440" cy="293370"/>
          </a:xfrm>
          <a:prstGeom prst="rect">
            <a:avLst/>
          </a:prstGeom>
          <a:noFill/>
        </p:spPr>
        <p:txBody>
          <a:bodyPr wrap="none" lIns="0" rIns="0" tIns="0" bIns="0">
            <a:spAutoFit/>
          </a:bodyPr>
          <a:lstStyle/>
          <a:p>
            <a:pPr>
              <a:lnSpc>
                <a:spcPts val="1950"/>
              </a:lnSpc>
              <a:spcBef>
                <a:spcPts val="0"/>
              </a:spcBef>
              <a:spcAft>
                <a:spcPts val="0"/>
              </a:spcAft>
              <a:defRPr sz="1560" b="0">
                <a:solidFill>
                  <a:srgbClr val="D7DDED"/>
                </a:solidFill>
                <a:latin typeface="DejaVu Sans"/>
              </a:defRPr>
            </a:pPr>
            <a:r>
              <a:t>09:03:00 UTC</a:t>
            </a:r>
          </a:p>
        </p:txBody>
      </p:sp>
      <p:sp>
        <p:nvSpPr>
          <p:cNvPr id="26" name="Rounded Rectangle 25"/>
          <p:cNvSpPr/>
          <p:nvPr/>
        </p:nvSpPr>
        <p:spPr>
          <a:xfrm>
            <a:off x="487680" y="5516880"/>
            <a:ext cx="3162300" cy="335280"/>
          </a:xfrm>
          <a:prstGeom prst="roundRect">
            <a:avLst>
              <a:gd name="adj" fmla="val 25000"/>
            </a:avLst>
          </a:prstGeom>
          <a:solidFill>
            <a:srgbClr val="DD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4840" y="5577840"/>
            <a:ext cx="29870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168575"/>
                </a:solidFill>
                <a:latin typeface="DejaVu Sans"/>
              </a:defRPr>
            </a:pPr>
            <a:r>
              <a:t>3 SIMULATED EVENTS</a:t>
            </a:r>
          </a:p>
        </p:txBody>
      </p:sp>
      <p:sp>
        <p:nvSpPr>
          <p:cNvPr id="28" name="Rounded Rectangle 27"/>
          <p:cNvSpPr/>
          <p:nvPr/>
        </p:nvSpPr>
        <p:spPr>
          <a:xfrm>
            <a:off x="3870960" y="5516880"/>
            <a:ext cx="2743200" cy="335280"/>
          </a:xfrm>
          <a:prstGeom prst="roundRect">
            <a:avLst>
              <a:gd name="adj" fmla="val 25000"/>
            </a:avLst>
          </a:prstGeom>
          <a:solidFill>
            <a:srgbClr val="E9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08120" y="5577840"/>
            <a:ext cx="25679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7051E8"/>
                </a:solidFill>
                <a:latin typeface="DejaVu Sans"/>
              </a:defRPr>
            </a:pPr>
            <a:r>
              <a:t>0 GITHUB EVENTS</a:t>
            </a:r>
          </a:p>
        </p:txBody>
      </p:sp>
      <p:sp>
        <p:nvSpPr>
          <p:cNvPr id="30" name="Rounded Rectangle 29"/>
          <p:cNvSpPr/>
          <p:nvPr/>
        </p:nvSpPr>
        <p:spPr>
          <a:xfrm>
            <a:off x="6835140" y="5516880"/>
            <a:ext cx="4869180" cy="335280"/>
          </a:xfrm>
          <a:prstGeom prst="roundRect">
            <a:avLst>
              <a:gd name="adj" fmla="val 2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72300" y="5577840"/>
            <a:ext cx="469392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65738C"/>
                </a:solidFill>
                <a:latin typeface="DejaVu Sans"/>
              </a:defRPr>
            </a:pPr>
            <a:r>
              <a:t>Demo Time Alignment: OFF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67640"/>
          </a:xfrm>
          <a:prstGeom prst="rect">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80" y="373380"/>
            <a:ext cx="69113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65738C"/>
                </a:solidFill>
                <a:latin typeface="DejaVu Sans"/>
              </a:defRPr>
            </a:pPr>
            <a:r>
              <a:t>OPSREPLAY / HACKATHON PROTOTYPE</a:t>
            </a:r>
          </a:p>
        </p:txBody>
      </p:sp>
      <p:sp>
        <p:nvSpPr>
          <p:cNvPr id="5" name="Rounded Rectangle 4"/>
          <p:cNvSpPr/>
          <p:nvPr/>
        </p:nvSpPr>
        <p:spPr>
          <a:xfrm>
            <a:off x="9982200" y="327660"/>
            <a:ext cx="1714500" cy="335280"/>
          </a:xfrm>
          <a:prstGeom prst="roundRect">
            <a:avLst>
              <a:gd name="adj" fmla="val 25000"/>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19360" y="388620"/>
            <a:ext cx="15392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FFFFFF"/>
                </a:solidFill>
                <a:latin typeface="DejaVu Sans"/>
              </a:defRPr>
            </a:pPr>
            <a:r>
              <a:t>SOLO PROJECT</a:t>
            </a:r>
          </a:p>
        </p:txBody>
      </p:sp>
      <p:sp>
        <p:nvSpPr>
          <p:cNvPr id="7" name="TextBox 6"/>
          <p:cNvSpPr txBox="1"/>
          <p:nvPr/>
        </p:nvSpPr>
        <p:spPr>
          <a:xfrm>
            <a:off x="487680" y="853440"/>
            <a:ext cx="11254740" cy="541020"/>
          </a:xfrm>
          <a:prstGeom prst="rect">
            <a:avLst/>
          </a:prstGeom>
          <a:noFill/>
        </p:spPr>
        <p:txBody>
          <a:bodyPr wrap="none" lIns="0" rIns="0" tIns="0" bIns="0">
            <a:spAutoFit/>
          </a:bodyPr>
          <a:lstStyle/>
          <a:p>
            <a:pPr>
              <a:lnSpc>
                <a:spcPts val="3900"/>
              </a:lnSpc>
              <a:spcBef>
                <a:spcPts val="0"/>
              </a:spcBef>
              <a:spcAft>
                <a:spcPts val="0"/>
              </a:spcAft>
              <a:defRPr sz="3120" b="1">
                <a:solidFill>
                  <a:srgbClr val="14213B"/>
                </a:solidFill>
                <a:latin typeface="DejaVu Sans"/>
              </a:defRPr>
            </a:pPr>
            <a:r>
              <a:t>The saved AI result is inspectable.</a:t>
            </a:r>
          </a:p>
        </p:txBody>
      </p:sp>
      <p:sp>
        <p:nvSpPr>
          <p:cNvPr id="8" name="TextBox 7"/>
          <p:cNvSpPr txBox="1"/>
          <p:nvPr/>
        </p:nvSpPr>
        <p:spPr>
          <a:xfrm>
            <a:off x="502920" y="1394460"/>
            <a:ext cx="11102340" cy="274320"/>
          </a:xfrm>
          <a:prstGeom prst="rect">
            <a:avLst/>
          </a:prstGeom>
          <a:noFill/>
        </p:spPr>
        <p:txBody>
          <a:bodyPr wrap="none" lIns="0" rIns="0" tIns="0" bIns="0">
            <a:spAutoFit/>
          </a:bodyPr>
          <a:lstStyle/>
          <a:p>
            <a:pPr>
              <a:lnSpc>
                <a:spcPts val="1800"/>
              </a:lnSpc>
              <a:spcBef>
                <a:spcPts val="0"/>
              </a:spcBef>
              <a:spcAft>
                <a:spcPts val="0"/>
              </a:spcAft>
              <a:defRPr sz="1439" b="0">
                <a:solidFill>
                  <a:srgbClr val="65738C"/>
                </a:solidFill>
                <a:latin typeface="DejaVu Sans"/>
              </a:defRPr>
            </a:pPr>
            <a:r>
              <a:t>Protected Preview · recorded result · no new live request</a:t>
            </a:r>
          </a:p>
        </p:txBody>
      </p:sp>
      <p:cxnSp>
        <p:nvCxnSpPr>
          <p:cNvPr id="9" name="Connector 8"/>
          <p:cNvCxnSpPr/>
          <p:nvPr/>
        </p:nvCxnSpPr>
        <p:spPr>
          <a:xfrm>
            <a:off x="487680" y="6217920"/>
            <a:ext cx="11216640" cy="0"/>
          </a:xfrm>
          <a:prstGeom prst="line">
            <a:avLst/>
          </a:prstGeom>
          <a:ln w="15240">
            <a:solidFill>
              <a:srgbClr val="DCE1E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7680" y="6385560"/>
            <a:ext cx="8435340" cy="226695"/>
          </a:xfrm>
          <a:prstGeom prst="rect">
            <a:avLst/>
          </a:prstGeom>
          <a:noFill/>
        </p:spPr>
        <p:txBody>
          <a:bodyPr wrap="none" lIns="0" rIns="0" tIns="0" bIns="0">
            <a:spAutoFit/>
          </a:bodyPr>
          <a:lstStyle/>
          <a:p>
            <a:pPr>
              <a:lnSpc>
                <a:spcPts val="1425"/>
              </a:lnSpc>
              <a:spcBef>
                <a:spcPts val="0"/>
              </a:spcBef>
              <a:spcAft>
                <a:spcPts val="0"/>
              </a:spcAft>
              <a:defRPr sz="1140" b="0">
                <a:solidFill>
                  <a:srgbClr val="65738C"/>
                </a:solidFill>
                <a:latin typeface="DejaVu Sans"/>
              </a:defRPr>
            </a:pPr>
            <a:r>
              <a:t>SIMULATED IoT · Public GitHub API · Gemini</a:t>
            </a:r>
          </a:p>
        </p:txBody>
      </p:sp>
      <p:sp>
        <p:nvSpPr>
          <p:cNvPr id="11" name="TextBox 10"/>
          <p:cNvSpPr txBox="1"/>
          <p:nvPr/>
        </p:nvSpPr>
        <p:spPr>
          <a:xfrm>
            <a:off x="10515600" y="6370320"/>
            <a:ext cx="1272540" cy="255270"/>
          </a:xfrm>
          <a:prstGeom prst="rect">
            <a:avLst/>
          </a:prstGeom>
          <a:noFill/>
        </p:spPr>
        <p:txBody>
          <a:bodyPr wrap="none" lIns="0" rIns="0" tIns="0" bIns="0">
            <a:spAutoFit/>
          </a:bodyPr>
          <a:lstStyle/>
          <a:p>
            <a:pPr>
              <a:lnSpc>
                <a:spcPts val="1650"/>
              </a:lnSpc>
              <a:spcBef>
                <a:spcPts val="0"/>
              </a:spcBef>
              <a:spcAft>
                <a:spcPts val="0"/>
              </a:spcAft>
              <a:defRPr sz="1320" b="1">
                <a:solidFill>
                  <a:srgbClr val="7051E8"/>
                </a:solidFill>
                <a:latin typeface="DejaVu Sans"/>
              </a:defRPr>
            </a:pPr>
            <a:r>
              <a:t>07 / 09</a:t>
            </a:r>
          </a:p>
        </p:txBody>
      </p:sp>
      <p:sp>
        <p:nvSpPr>
          <p:cNvPr id="12" name="Rounded Rectangle 11"/>
          <p:cNvSpPr/>
          <p:nvPr/>
        </p:nvSpPr>
        <p:spPr>
          <a:xfrm>
            <a:off x="487680" y="1882139"/>
            <a:ext cx="2819400" cy="4114800"/>
          </a:xfrm>
          <a:prstGeom prst="roundRect">
            <a:avLst>
              <a:gd name="adj" fmla="val 594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66160" y="1882139"/>
            <a:ext cx="8138160" cy="1127760"/>
          </a:xfrm>
          <a:prstGeom prst="roundRect">
            <a:avLst>
              <a:gd name="adj" fmla="val 14864"/>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10000" y="2034540"/>
            <a:ext cx="2415540" cy="588645"/>
          </a:xfrm>
          <a:prstGeom prst="rect">
            <a:avLst/>
          </a:prstGeom>
          <a:noFill/>
        </p:spPr>
        <p:txBody>
          <a:bodyPr wrap="none" lIns="0" rIns="0" tIns="0" bIns="0">
            <a:spAutoFit/>
          </a:bodyPr>
          <a:lstStyle/>
          <a:p>
            <a:pPr>
              <a:lnSpc>
                <a:spcPts val="4275"/>
              </a:lnSpc>
              <a:spcBef>
                <a:spcPts val="0"/>
              </a:spcBef>
              <a:spcAft>
                <a:spcPts val="0"/>
              </a:spcAft>
              <a:defRPr sz="3419" b="1">
                <a:solidFill>
                  <a:srgbClr val="FFFFFF"/>
                </a:solidFill>
                <a:latin typeface="DejaVu Sans"/>
              </a:defRPr>
            </a:pPr>
            <a:r>
              <a:t>3</a:t>
            </a:r>
          </a:p>
        </p:txBody>
      </p:sp>
      <p:sp>
        <p:nvSpPr>
          <p:cNvPr id="15" name="TextBox 14"/>
          <p:cNvSpPr txBox="1"/>
          <p:nvPr/>
        </p:nvSpPr>
        <p:spPr>
          <a:xfrm>
            <a:off x="3810000" y="2606040"/>
            <a:ext cx="2415540" cy="264795"/>
          </a:xfrm>
          <a:prstGeom prst="rect">
            <a:avLst/>
          </a:prstGeom>
          <a:noFill/>
        </p:spPr>
        <p:txBody>
          <a:bodyPr wrap="none" lIns="0" rIns="0" tIns="0" bIns="0">
            <a:spAutoFit/>
          </a:bodyPr>
          <a:lstStyle/>
          <a:p>
            <a:pPr>
              <a:lnSpc>
                <a:spcPts val="1725"/>
              </a:lnSpc>
              <a:spcBef>
                <a:spcPts val="0"/>
              </a:spcBef>
              <a:spcAft>
                <a:spcPts val="0"/>
              </a:spcAft>
              <a:defRPr sz="1380" b="0">
                <a:solidFill>
                  <a:srgbClr val="C4CDE2"/>
                </a:solidFill>
                <a:latin typeface="DejaVu Sans"/>
              </a:defRPr>
            </a:pPr>
            <a:r>
              <a:t>events</a:t>
            </a:r>
          </a:p>
        </p:txBody>
      </p:sp>
      <p:sp>
        <p:nvSpPr>
          <p:cNvPr id="16" name="TextBox 15"/>
          <p:cNvSpPr txBox="1"/>
          <p:nvPr/>
        </p:nvSpPr>
        <p:spPr>
          <a:xfrm>
            <a:off x="6537960" y="2034540"/>
            <a:ext cx="2415540" cy="588645"/>
          </a:xfrm>
          <a:prstGeom prst="rect">
            <a:avLst/>
          </a:prstGeom>
          <a:noFill/>
        </p:spPr>
        <p:txBody>
          <a:bodyPr wrap="none" lIns="0" rIns="0" tIns="0" bIns="0">
            <a:spAutoFit/>
          </a:bodyPr>
          <a:lstStyle/>
          <a:p>
            <a:pPr>
              <a:lnSpc>
                <a:spcPts val="4275"/>
              </a:lnSpc>
              <a:spcBef>
                <a:spcPts val="0"/>
              </a:spcBef>
              <a:spcAft>
                <a:spcPts val="0"/>
              </a:spcAft>
              <a:defRPr sz="3419" b="1">
                <a:solidFill>
                  <a:srgbClr val="FFFFFF"/>
                </a:solidFill>
                <a:latin typeface="DejaVu Sans"/>
              </a:defRPr>
            </a:pPr>
            <a:r>
              <a:t>1</a:t>
            </a:r>
          </a:p>
        </p:txBody>
      </p:sp>
      <p:sp>
        <p:nvSpPr>
          <p:cNvPr id="17" name="TextBox 16"/>
          <p:cNvSpPr txBox="1"/>
          <p:nvPr/>
        </p:nvSpPr>
        <p:spPr>
          <a:xfrm>
            <a:off x="6537960" y="2606040"/>
            <a:ext cx="2415540" cy="264795"/>
          </a:xfrm>
          <a:prstGeom prst="rect">
            <a:avLst/>
          </a:prstGeom>
          <a:noFill/>
        </p:spPr>
        <p:txBody>
          <a:bodyPr wrap="none" lIns="0" rIns="0" tIns="0" bIns="0">
            <a:spAutoFit/>
          </a:bodyPr>
          <a:lstStyle/>
          <a:p>
            <a:pPr>
              <a:lnSpc>
                <a:spcPts val="1725"/>
              </a:lnSpc>
              <a:spcBef>
                <a:spcPts val="0"/>
              </a:spcBef>
              <a:spcAft>
                <a:spcPts val="0"/>
              </a:spcAft>
              <a:defRPr sz="1380" b="0">
                <a:solidFill>
                  <a:srgbClr val="C4CDE2"/>
                </a:solidFill>
                <a:latin typeface="DejaVu Sans"/>
              </a:defRPr>
            </a:pPr>
            <a:r>
              <a:t>attempt</a:t>
            </a:r>
          </a:p>
        </p:txBody>
      </p:sp>
      <p:sp>
        <p:nvSpPr>
          <p:cNvPr id="18" name="TextBox 17"/>
          <p:cNvSpPr txBox="1"/>
          <p:nvPr/>
        </p:nvSpPr>
        <p:spPr>
          <a:xfrm>
            <a:off x="9029700" y="2034540"/>
            <a:ext cx="2415540" cy="588645"/>
          </a:xfrm>
          <a:prstGeom prst="rect">
            <a:avLst/>
          </a:prstGeom>
          <a:noFill/>
        </p:spPr>
        <p:txBody>
          <a:bodyPr wrap="none" lIns="0" rIns="0" tIns="0" bIns="0">
            <a:spAutoFit/>
          </a:bodyPr>
          <a:lstStyle/>
          <a:p>
            <a:pPr>
              <a:lnSpc>
                <a:spcPts val="4275"/>
              </a:lnSpc>
              <a:spcBef>
                <a:spcPts val="0"/>
              </a:spcBef>
              <a:spcAft>
                <a:spcPts val="0"/>
              </a:spcAft>
              <a:defRPr sz="3419" b="1">
                <a:solidFill>
                  <a:srgbClr val="FFFFFF"/>
                </a:solidFill>
                <a:latin typeface="DejaVu Sans"/>
              </a:defRPr>
            </a:pPr>
            <a:r>
              <a:t>1.623 s</a:t>
            </a:r>
          </a:p>
        </p:txBody>
      </p:sp>
      <p:sp>
        <p:nvSpPr>
          <p:cNvPr id="19" name="TextBox 18"/>
          <p:cNvSpPr txBox="1"/>
          <p:nvPr/>
        </p:nvSpPr>
        <p:spPr>
          <a:xfrm>
            <a:off x="9029700" y="2606040"/>
            <a:ext cx="2415540" cy="264795"/>
          </a:xfrm>
          <a:prstGeom prst="rect">
            <a:avLst/>
          </a:prstGeom>
          <a:noFill/>
        </p:spPr>
        <p:txBody>
          <a:bodyPr wrap="none" lIns="0" rIns="0" tIns="0" bIns="0">
            <a:spAutoFit/>
          </a:bodyPr>
          <a:lstStyle/>
          <a:p>
            <a:pPr>
              <a:lnSpc>
                <a:spcPts val="1725"/>
              </a:lnSpc>
              <a:spcBef>
                <a:spcPts val="0"/>
              </a:spcBef>
              <a:spcAft>
                <a:spcPts val="0"/>
              </a:spcAft>
              <a:defRPr sz="1380" b="0">
                <a:solidFill>
                  <a:srgbClr val="C4CDE2"/>
                </a:solidFill>
                <a:latin typeface="DejaVu Sans"/>
              </a:defRPr>
            </a:pPr>
            <a:r>
              <a:t>provider stage</a:t>
            </a:r>
          </a:p>
        </p:txBody>
      </p:sp>
      <p:sp>
        <p:nvSpPr>
          <p:cNvPr id="20" name="Rounded Rectangle 19"/>
          <p:cNvSpPr/>
          <p:nvPr/>
        </p:nvSpPr>
        <p:spPr>
          <a:xfrm>
            <a:off x="3566160" y="3208020"/>
            <a:ext cx="8138160" cy="1653540"/>
          </a:xfrm>
          <a:prstGeom prst="roundRect">
            <a:avLst>
              <a:gd name="adj" fmla="val 1013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810000" y="3406140"/>
            <a:ext cx="3413760" cy="335280"/>
          </a:xfrm>
          <a:prstGeom prst="roundRect">
            <a:avLst>
              <a:gd name="adj" fmla="val 25000"/>
            </a:avLst>
          </a:prstGeom>
          <a:solidFill>
            <a:srgbClr val="E9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47160" y="3467100"/>
            <a:ext cx="323850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7051E8"/>
                </a:solidFill>
                <a:latin typeface="DejaVu Sans"/>
              </a:defRPr>
            </a:pPr>
            <a:r>
              <a:t>Hypotheses (unconfirmed)</a:t>
            </a:r>
          </a:p>
        </p:txBody>
      </p:sp>
      <p:sp>
        <p:nvSpPr>
          <p:cNvPr id="23" name="TextBox 22"/>
          <p:cNvSpPr txBox="1"/>
          <p:nvPr/>
        </p:nvSpPr>
        <p:spPr>
          <a:xfrm>
            <a:off x="3810000" y="3931920"/>
            <a:ext cx="7597140" cy="388620"/>
          </a:xfrm>
          <a:prstGeom prst="rect">
            <a:avLst/>
          </a:prstGeom>
          <a:noFill/>
        </p:spPr>
        <p:txBody>
          <a:bodyPr wrap="none" lIns="0" rIns="0" tIns="0" bIns="0">
            <a:spAutoFit/>
          </a:bodyPr>
          <a:lstStyle/>
          <a:p>
            <a:pPr>
              <a:lnSpc>
                <a:spcPts val="2700"/>
              </a:lnSpc>
              <a:spcBef>
                <a:spcPts val="0"/>
              </a:spcBef>
              <a:spcAft>
                <a:spcPts val="0"/>
              </a:spcAft>
              <a:defRPr sz="2160" b="1">
                <a:solidFill>
                  <a:srgbClr val="14213B"/>
                </a:solidFill>
                <a:latin typeface="DejaVu Sans"/>
              </a:defRPr>
            </a:pPr>
            <a:r>
              <a:t>Device failure or loss of connectivity</a:t>
            </a:r>
          </a:p>
        </p:txBody>
      </p:sp>
      <p:sp>
        <p:nvSpPr>
          <p:cNvPr id="24" name="Rounded Rectangle 23"/>
          <p:cNvSpPr/>
          <p:nvPr/>
        </p:nvSpPr>
        <p:spPr>
          <a:xfrm>
            <a:off x="3810000" y="4389120"/>
            <a:ext cx="2133600" cy="335280"/>
          </a:xfrm>
          <a:prstGeom prst="roundRect">
            <a:avLst>
              <a:gd name="adj" fmla="val 25000"/>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47160" y="4450080"/>
            <a:ext cx="19583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AE6515"/>
                </a:solidFill>
                <a:latin typeface="DejaVu Sans"/>
              </a:defRPr>
            </a:pPr>
            <a:r>
              <a:t>low confidence</a:t>
            </a:r>
          </a:p>
        </p:txBody>
      </p:sp>
      <p:sp>
        <p:nvSpPr>
          <p:cNvPr id="26" name="Rounded Rectangle 25"/>
          <p:cNvSpPr/>
          <p:nvPr/>
        </p:nvSpPr>
        <p:spPr>
          <a:xfrm>
            <a:off x="6111240" y="4389120"/>
            <a:ext cx="5242560" cy="335280"/>
          </a:xfrm>
          <a:prstGeom prst="roundRect">
            <a:avLst>
              <a:gd name="adj" fmla="val 2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48400" y="4450080"/>
            <a:ext cx="506730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65738C"/>
                </a:solidFill>
                <a:latin typeface="DejaVu Sans"/>
              </a:defRPr>
            </a:pPr>
            <a:r>
              <a:t>not a confirmed root cause</a:t>
            </a:r>
          </a:p>
        </p:txBody>
      </p:sp>
      <p:sp>
        <p:nvSpPr>
          <p:cNvPr id="28" name="Rounded Rectangle 27"/>
          <p:cNvSpPr/>
          <p:nvPr/>
        </p:nvSpPr>
        <p:spPr>
          <a:xfrm>
            <a:off x="3566160" y="5059680"/>
            <a:ext cx="8138160" cy="937259"/>
          </a:xfrm>
          <a:prstGeom prst="roundRect">
            <a:avLst>
              <a:gd name="adj" fmla="val 17886"/>
            </a:avLst>
          </a:prstGeom>
          <a:solidFill>
            <a:srgbClr val="DD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10000" y="5234940"/>
            <a:ext cx="7597140" cy="321945"/>
          </a:xfrm>
          <a:prstGeom prst="rect">
            <a:avLst/>
          </a:prstGeom>
          <a:noFill/>
        </p:spPr>
        <p:txBody>
          <a:bodyPr wrap="none" lIns="0" rIns="0" tIns="0" bIns="0">
            <a:spAutoFit/>
          </a:bodyPr>
          <a:lstStyle/>
          <a:p>
            <a:pPr>
              <a:lnSpc>
                <a:spcPts val="2175"/>
              </a:lnSpc>
              <a:spcBef>
                <a:spcPts val="0"/>
              </a:spcBef>
              <a:spcAft>
                <a:spcPts val="0"/>
              </a:spcAft>
              <a:defRPr sz="1739" b="1">
                <a:solidFill>
                  <a:srgbClr val="168575"/>
                </a:solidFill>
                <a:latin typeface="DejaVu Sans"/>
              </a:defRPr>
            </a:pPr>
            <a:r>
              <a:t>Evidence IDs checked against the submitted events.</a:t>
            </a:r>
          </a:p>
        </p:txBody>
      </p:sp>
      <p:sp>
        <p:nvSpPr>
          <p:cNvPr id="30" name="TextBox 29"/>
          <p:cNvSpPr txBox="1"/>
          <p:nvPr/>
        </p:nvSpPr>
        <p:spPr>
          <a:xfrm>
            <a:off x="3810000" y="5646420"/>
            <a:ext cx="7597140" cy="264795"/>
          </a:xfrm>
          <a:prstGeom prst="rect">
            <a:avLst/>
          </a:prstGeom>
          <a:noFill/>
        </p:spPr>
        <p:txBody>
          <a:bodyPr wrap="none" lIns="0" rIns="0" tIns="0" bIns="0">
            <a:spAutoFit/>
          </a:bodyPr>
          <a:lstStyle/>
          <a:p>
            <a:pPr>
              <a:lnSpc>
                <a:spcPts val="1725"/>
              </a:lnSpc>
              <a:spcBef>
                <a:spcPts val="0"/>
              </a:spcBef>
              <a:spcAft>
                <a:spcPts val="0"/>
              </a:spcAft>
              <a:defRPr sz="1380" b="0">
                <a:solidFill>
                  <a:srgbClr val="168575"/>
                </a:solidFill>
                <a:latin typeface="DejaVu Sans"/>
              </a:defRPr>
            </a:pPr>
            <a:r>
              <a:t>One observed result; not a latency benchmark.</a:t>
            </a:r>
          </a:p>
        </p:txBody>
      </p:sp>
      <p:sp>
        <p:nvSpPr>
          <p:cNvPr id="31" name="Freeform 30"/>
          <p:cNvSpPr/>
          <p:nvPr/>
        </p:nvSpPr>
        <p:spPr>
          <a:xfrm>
            <a:off x="1417320" y="2286000"/>
            <a:ext cx="624840" cy="685800"/>
          </a:xfrm>
          <a:custGeom>
            <a:avLst/>
            <a:gdLst/>
            <a:ahLst/>
            <a:cxnLst/>
            <a:rect l="l" t="t" r="r" b="b"/>
            <a:pathLst>
              <a:path w="82" h="90">
                <a:moveTo>
                  <a:pt x="0" y="9"/>
                </a:moveTo>
                <a:lnTo>
                  <a:pt x="41" y="0"/>
                </a:lnTo>
                <a:lnTo>
                  <a:pt x="82" y="9"/>
                </a:lnTo>
                <a:lnTo>
                  <a:pt x="73" y="64"/>
                </a:lnTo>
                <a:lnTo>
                  <a:pt x="41" y="90"/>
                </a:lnTo>
                <a:lnTo>
                  <a:pt x="9" y="64"/>
                </a:lnTo>
                <a:close/>
              </a:path>
            </a:pathLst>
          </a:custGeom>
          <a:solidFill>
            <a:srgbClr val="E9E4FF"/>
          </a:solidFill>
          <a:ln w="22860">
            <a:solidFill>
              <a:srgbClr val="705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1580769" y="2589276"/>
            <a:ext cx="113919" cy="113919"/>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694688" y="2475357"/>
            <a:ext cx="192785" cy="227838"/>
          </a:xfrm>
          <a:prstGeom prst="line">
            <a:avLst/>
          </a:prstGeom>
          <a:ln w="35052">
            <a:solidFill>
              <a:srgbClr val="7051E8"/>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39140" y="3276600"/>
            <a:ext cx="2263140" cy="340995"/>
          </a:xfrm>
          <a:prstGeom prst="rect">
            <a:avLst/>
          </a:prstGeom>
          <a:noFill/>
        </p:spPr>
        <p:txBody>
          <a:bodyPr wrap="none" lIns="0" rIns="0" tIns="0" bIns="0">
            <a:spAutoFit/>
          </a:bodyPr>
          <a:lstStyle/>
          <a:p>
            <a:pPr>
              <a:lnSpc>
                <a:spcPts val="2325"/>
              </a:lnSpc>
              <a:spcBef>
                <a:spcPts val="0"/>
              </a:spcBef>
              <a:spcAft>
                <a:spcPts val="0"/>
              </a:spcAft>
              <a:defRPr sz="1859" b="1">
                <a:solidFill>
                  <a:srgbClr val="14213B"/>
                </a:solidFill>
                <a:latin typeface="DejaVu Sans"/>
              </a:defRPr>
            </a:pPr>
            <a:r>
              <a:t>Recorded result</a:t>
            </a:r>
          </a:p>
        </p:txBody>
      </p:sp>
      <p:sp>
        <p:nvSpPr>
          <p:cNvPr id="35" name="TextBox 34"/>
          <p:cNvSpPr txBox="1"/>
          <p:nvPr/>
        </p:nvSpPr>
        <p:spPr>
          <a:xfrm>
            <a:off x="739140" y="3810000"/>
            <a:ext cx="2263140" cy="321945"/>
          </a:xfrm>
          <a:prstGeom prst="rect">
            <a:avLst/>
          </a:prstGeom>
          <a:noFill/>
        </p:spPr>
        <p:txBody>
          <a:bodyPr wrap="none" lIns="0" rIns="0" tIns="0" bIns="0">
            <a:spAutoFit/>
          </a:bodyPr>
          <a:lstStyle/>
          <a:p>
            <a:pPr>
              <a:lnSpc>
                <a:spcPts val="2175"/>
              </a:lnSpc>
              <a:spcBef>
                <a:spcPts val="0"/>
              </a:spcBef>
              <a:spcAft>
                <a:spcPts val="0"/>
              </a:spcAft>
              <a:defRPr sz="1739" b="1">
                <a:solidFill>
                  <a:srgbClr val="168575"/>
                </a:solidFill>
                <a:latin typeface="DejaVu Sans"/>
              </a:defRPr>
            </a:pPr>
            <a:r>
              <a:t>HTTP 200</a:t>
            </a:r>
          </a:p>
        </p:txBody>
      </p:sp>
      <p:sp>
        <p:nvSpPr>
          <p:cNvPr id="36" name="TextBox 35"/>
          <p:cNvSpPr txBox="1"/>
          <p:nvPr/>
        </p:nvSpPr>
        <p:spPr>
          <a:xfrm>
            <a:off x="739140" y="4282440"/>
            <a:ext cx="2263140" cy="579120"/>
          </a:xfrm>
          <a:prstGeom prst="rect">
            <a:avLst/>
          </a:prstGeom>
          <a:noFill/>
        </p:spPr>
        <p:txBody>
          <a:bodyPr wrap="none" lIns="0" rIns="0" tIns="0" bIns="0">
            <a:spAutoFit/>
          </a:bodyPr>
          <a:lstStyle/>
          <a:p>
            <a:pPr>
              <a:lnSpc>
                <a:spcPts val="2100"/>
              </a:lnSpc>
              <a:spcBef>
                <a:spcPts val="0"/>
              </a:spcBef>
              <a:spcAft>
                <a:spcPts val="0"/>
              </a:spcAft>
              <a:defRPr sz="1680" b="0">
                <a:solidFill>
                  <a:srgbClr val="65738C"/>
                </a:solidFill>
                <a:latin typeface="DejaVu Sans"/>
              </a:defRPr>
            </a:pPr>
            <a:r>
              <a:t>Evidence IDs</a:t>
            </a:r>
          </a:p>
          <a:p>
            <a:pPr>
              <a:lnSpc>
                <a:spcPts val="2100"/>
              </a:lnSpc>
              <a:spcBef>
                <a:spcPts val="0"/>
              </a:spcBef>
              <a:spcAft>
                <a:spcPts val="0"/>
              </a:spcAft>
              <a:defRPr sz="1680" b="0">
                <a:solidFill>
                  <a:srgbClr val="65738C"/>
                </a:solidFill>
                <a:latin typeface="DejaVu Sans"/>
              </a:defRPr>
            </a:pPr>
            <a:r>
              <a:t>checked</a:t>
            </a:r>
          </a:p>
        </p:txBody>
      </p:sp>
      <p:sp>
        <p:nvSpPr>
          <p:cNvPr id="37" name="TextBox 36"/>
          <p:cNvSpPr txBox="1"/>
          <p:nvPr/>
        </p:nvSpPr>
        <p:spPr>
          <a:xfrm>
            <a:off x="739140" y="5135880"/>
            <a:ext cx="2263140" cy="483870"/>
          </a:xfrm>
          <a:prstGeom prst="rect">
            <a:avLst/>
          </a:prstGeom>
          <a:noFill/>
        </p:spPr>
        <p:txBody>
          <a:bodyPr wrap="none" lIns="0" rIns="0" tIns="0" bIns="0">
            <a:spAutoFit/>
          </a:bodyPr>
          <a:lstStyle/>
          <a:p>
            <a:pPr>
              <a:lnSpc>
                <a:spcPts val="1725"/>
              </a:lnSpc>
              <a:spcBef>
                <a:spcPts val="0"/>
              </a:spcBef>
              <a:spcAft>
                <a:spcPts val="0"/>
              </a:spcAft>
              <a:defRPr sz="1380" b="0">
                <a:solidFill>
                  <a:srgbClr val="65738C"/>
                </a:solidFill>
                <a:latin typeface="DejaVu Sans"/>
              </a:defRPr>
            </a:pPr>
            <a:r>
              <a:t>Original screenshot in</a:t>
            </a:r>
          </a:p>
          <a:p>
            <a:pPr>
              <a:lnSpc>
                <a:spcPts val="1725"/>
              </a:lnSpc>
              <a:spcBef>
                <a:spcPts val="0"/>
              </a:spcBef>
              <a:spcAft>
                <a:spcPts val="0"/>
              </a:spcAft>
              <a:defRPr sz="1380" b="0">
                <a:solidFill>
                  <a:srgbClr val="65738C"/>
                </a:solidFill>
                <a:latin typeface="DejaVu Sans"/>
              </a:defRPr>
            </a:pPr>
            <a:r>
              <a:t>local demo bundle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67640"/>
          </a:xfrm>
          <a:prstGeom prst="rect">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80" y="373380"/>
            <a:ext cx="69113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65738C"/>
                </a:solidFill>
                <a:latin typeface="DejaVu Sans"/>
              </a:defRPr>
            </a:pPr>
            <a:r>
              <a:t>OPSREPLAY / HACKATHON PROTOTYPE</a:t>
            </a:r>
          </a:p>
        </p:txBody>
      </p:sp>
      <p:sp>
        <p:nvSpPr>
          <p:cNvPr id="5" name="Rounded Rectangle 4"/>
          <p:cNvSpPr/>
          <p:nvPr/>
        </p:nvSpPr>
        <p:spPr>
          <a:xfrm>
            <a:off x="9982200" y="327660"/>
            <a:ext cx="1714500" cy="335280"/>
          </a:xfrm>
          <a:prstGeom prst="roundRect">
            <a:avLst>
              <a:gd name="adj" fmla="val 25000"/>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19360" y="388620"/>
            <a:ext cx="15392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FFFFFF"/>
                </a:solidFill>
                <a:latin typeface="DejaVu Sans"/>
              </a:defRPr>
            </a:pPr>
            <a:r>
              <a:t>SOLO PROJECT</a:t>
            </a:r>
          </a:p>
        </p:txBody>
      </p:sp>
      <p:sp>
        <p:nvSpPr>
          <p:cNvPr id="7" name="TextBox 6"/>
          <p:cNvSpPr txBox="1"/>
          <p:nvPr/>
        </p:nvSpPr>
        <p:spPr>
          <a:xfrm>
            <a:off x="487680" y="853440"/>
            <a:ext cx="11254740" cy="541020"/>
          </a:xfrm>
          <a:prstGeom prst="rect">
            <a:avLst/>
          </a:prstGeom>
          <a:noFill/>
        </p:spPr>
        <p:txBody>
          <a:bodyPr wrap="none" lIns="0" rIns="0" tIns="0" bIns="0">
            <a:spAutoFit/>
          </a:bodyPr>
          <a:lstStyle/>
          <a:p>
            <a:pPr>
              <a:lnSpc>
                <a:spcPts val="3900"/>
              </a:lnSpc>
              <a:spcBef>
                <a:spcPts val="0"/>
              </a:spcBef>
              <a:spcAft>
                <a:spcPts val="0"/>
              </a:spcAft>
              <a:defRPr sz="3120" b="1">
                <a:solidFill>
                  <a:srgbClr val="14213B"/>
                </a:solidFill>
                <a:latin typeface="DejaVu Sans"/>
              </a:defRPr>
            </a:pPr>
            <a:r>
              <a:t>A prototype with visible boundaries.</a:t>
            </a:r>
          </a:p>
        </p:txBody>
      </p:sp>
      <p:sp>
        <p:nvSpPr>
          <p:cNvPr id="8" name="TextBox 7"/>
          <p:cNvSpPr txBox="1"/>
          <p:nvPr/>
        </p:nvSpPr>
        <p:spPr>
          <a:xfrm>
            <a:off x="502920" y="1394460"/>
            <a:ext cx="11102340" cy="274320"/>
          </a:xfrm>
          <a:prstGeom prst="rect">
            <a:avLst/>
          </a:prstGeom>
          <a:noFill/>
        </p:spPr>
        <p:txBody>
          <a:bodyPr wrap="none" lIns="0" rIns="0" tIns="0" bIns="0">
            <a:spAutoFit/>
          </a:bodyPr>
          <a:lstStyle/>
          <a:p>
            <a:pPr>
              <a:lnSpc>
                <a:spcPts val="1800"/>
              </a:lnSpc>
              <a:spcBef>
                <a:spcPts val="0"/>
              </a:spcBef>
              <a:spcAft>
                <a:spcPts val="0"/>
              </a:spcAft>
              <a:defRPr sz="1439" b="0">
                <a:solidFill>
                  <a:srgbClr val="65738C"/>
                </a:solidFill>
                <a:latin typeface="DejaVu Sans"/>
              </a:defRPr>
            </a:pPr>
            <a:r>
              <a:t>Evidence references are useful. They do not prove the root cause.</a:t>
            </a:r>
          </a:p>
        </p:txBody>
      </p:sp>
      <p:cxnSp>
        <p:nvCxnSpPr>
          <p:cNvPr id="9" name="Connector 8"/>
          <p:cNvCxnSpPr/>
          <p:nvPr/>
        </p:nvCxnSpPr>
        <p:spPr>
          <a:xfrm>
            <a:off x="487680" y="6217920"/>
            <a:ext cx="11216640" cy="0"/>
          </a:xfrm>
          <a:prstGeom prst="line">
            <a:avLst/>
          </a:prstGeom>
          <a:ln w="15240">
            <a:solidFill>
              <a:srgbClr val="DCE1E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7680" y="6385560"/>
            <a:ext cx="8435340" cy="226695"/>
          </a:xfrm>
          <a:prstGeom prst="rect">
            <a:avLst/>
          </a:prstGeom>
          <a:noFill/>
        </p:spPr>
        <p:txBody>
          <a:bodyPr wrap="none" lIns="0" rIns="0" tIns="0" bIns="0">
            <a:spAutoFit/>
          </a:bodyPr>
          <a:lstStyle/>
          <a:p>
            <a:pPr>
              <a:lnSpc>
                <a:spcPts val="1425"/>
              </a:lnSpc>
              <a:spcBef>
                <a:spcPts val="0"/>
              </a:spcBef>
              <a:spcAft>
                <a:spcPts val="0"/>
              </a:spcAft>
              <a:defRPr sz="1140" b="0">
                <a:solidFill>
                  <a:srgbClr val="65738C"/>
                </a:solidFill>
                <a:latin typeface="DejaVu Sans"/>
              </a:defRPr>
            </a:pPr>
            <a:r>
              <a:t>SIMULATED IoT · Public GitHub API · Gemini</a:t>
            </a:r>
          </a:p>
        </p:txBody>
      </p:sp>
      <p:sp>
        <p:nvSpPr>
          <p:cNvPr id="11" name="TextBox 10"/>
          <p:cNvSpPr txBox="1"/>
          <p:nvPr/>
        </p:nvSpPr>
        <p:spPr>
          <a:xfrm>
            <a:off x="10515600" y="6370320"/>
            <a:ext cx="1272540" cy="255270"/>
          </a:xfrm>
          <a:prstGeom prst="rect">
            <a:avLst/>
          </a:prstGeom>
          <a:noFill/>
        </p:spPr>
        <p:txBody>
          <a:bodyPr wrap="none" lIns="0" rIns="0" tIns="0" bIns="0">
            <a:spAutoFit/>
          </a:bodyPr>
          <a:lstStyle/>
          <a:p>
            <a:pPr>
              <a:lnSpc>
                <a:spcPts val="1650"/>
              </a:lnSpc>
              <a:spcBef>
                <a:spcPts val="0"/>
              </a:spcBef>
              <a:spcAft>
                <a:spcPts val="0"/>
              </a:spcAft>
              <a:defRPr sz="1320" b="1">
                <a:solidFill>
                  <a:srgbClr val="7051E8"/>
                </a:solidFill>
                <a:latin typeface="DejaVu Sans"/>
              </a:defRPr>
            </a:pPr>
            <a:r>
              <a:t>08 / 09</a:t>
            </a:r>
          </a:p>
        </p:txBody>
      </p:sp>
      <p:sp>
        <p:nvSpPr>
          <p:cNvPr id="12" name="Rounded Rectangle 11"/>
          <p:cNvSpPr/>
          <p:nvPr/>
        </p:nvSpPr>
        <p:spPr>
          <a:xfrm>
            <a:off x="487680" y="1905000"/>
            <a:ext cx="5433060" cy="4030980"/>
          </a:xfrm>
          <a:prstGeom prst="roundRect">
            <a:avLst>
              <a:gd name="adj" fmla="val 415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87680" y="1905000"/>
            <a:ext cx="5433060" cy="594360"/>
          </a:xfrm>
          <a:prstGeom prst="roundRect">
            <a:avLst>
              <a:gd name="adj" fmla="val 20512"/>
            </a:avLst>
          </a:prstGeom>
          <a:solidFill>
            <a:srgbClr val="DD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6280" y="2065020"/>
            <a:ext cx="4968240" cy="331470"/>
          </a:xfrm>
          <a:prstGeom prst="rect">
            <a:avLst/>
          </a:prstGeom>
          <a:noFill/>
        </p:spPr>
        <p:txBody>
          <a:bodyPr wrap="none" lIns="0" rIns="0" tIns="0" bIns="0">
            <a:spAutoFit/>
          </a:bodyPr>
          <a:lstStyle/>
          <a:p>
            <a:pPr>
              <a:lnSpc>
                <a:spcPts val="2250"/>
              </a:lnSpc>
              <a:spcBef>
                <a:spcPts val="0"/>
              </a:spcBef>
              <a:spcAft>
                <a:spcPts val="0"/>
              </a:spcAft>
              <a:defRPr sz="1800" b="1">
                <a:solidFill>
                  <a:srgbClr val="168575"/>
                </a:solidFill>
                <a:latin typeface="DejaVu Sans"/>
              </a:defRPr>
            </a:pPr>
            <a:r>
              <a:t>CURRENT</a:t>
            </a:r>
          </a:p>
        </p:txBody>
      </p:sp>
      <p:sp>
        <p:nvSpPr>
          <p:cNvPr id="15" name="TextBox 14"/>
          <p:cNvSpPr txBox="1"/>
          <p:nvPr/>
        </p:nvSpPr>
        <p:spPr>
          <a:xfrm>
            <a:off x="731520" y="2758440"/>
            <a:ext cx="4968240" cy="350520"/>
          </a:xfrm>
          <a:prstGeom prst="rect">
            <a:avLst/>
          </a:prstGeom>
          <a:noFill/>
        </p:spPr>
        <p:txBody>
          <a:bodyPr wrap="none" lIns="0" rIns="0" tIns="0" bIns="0">
            <a:spAutoFit/>
          </a:bodyPr>
          <a:lstStyle/>
          <a:p>
            <a:pPr>
              <a:lnSpc>
                <a:spcPts val="2400"/>
              </a:lnSpc>
              <a:spcBef>
                <a:spcPts val="0"/>
              </a:spcBef>
              <a:spcAft>
                <a:spcPts val="0"/>
              </a:spcAft>
              <a:defRPr sz="1920" b="1">
                <a:solidFill>
                  <a:srgbClr val="14213B"/>
                </a:solidFill>
                <a:latin typeface="DejaVu Sans"/>
              </a:defRPr>
            </a:pPr>
            <a:r>
              <a:t>IoT</a:t>
            </a:r>
          </a:p>
        </p:txBody>
      </p:sp>
      <p:sp>
        <p:nvSpPr>
          <p:cNvPr id="16" name="TextBox 15"/>
          <p:cNvSpPr txBox="1"/>
          <p:nvPr/>
        </p:nvSpPr>
        <p:spPr>
          <a:xfrm>
            <a:off x="731520" y="3131820"/>
            <a:ext cx="4968240" cy="302895"/>
          </a:xfrm>
          <a:prstGeom prst="rect">
            <a:avLst/>
          </a:prstGeom>
          <a:noFill/>
        </p:spPr>
        <p:txBody>
          <a:bodyPr wrap="none" lIns="0" rIns="0" tIns="0" bIns="0">
            <a:spAutoFit/>
          </a:bodyPr>
          <a:lstStyle/>
          <a:p>
            <a:pPr>
              <a:lnSpc>
                <a:spcPts val="2025"/>
              </a:lnSpc>
              <a:spcBef>
                <a:spcPts val="0"/>
              </a:spcBef>
              <a:spcAft>
                <a:spcPts val="0"/>
              </a:spcAft>
              <a:defRPr sz="1620" b="0">
                <a:solidFill>
                  <a:srgbClr val="65738C"/>
                </a:solidFill>
                <a:latin typeface="DejaVu Sans"/>
              </a:defRPr>
            </a:pPr>
            <a:r>
              <a:t>SIMULATED</a:t>
            </a:r>
          </a:p>
        </p:txBody>
      </p:sp>
      <p:sp>
        <p:nvSpPr>
          <p:cNvPr id="17" name="TextBox 16"/>
          <p:cNvSpPr txBox="1"/>
          <p:nvPr/>
        </p:nvSpPr>
        <p:spPr>
          <a:xfrm>
            <a:off x="731520" y="3749039"/>
            <a:ext cx="4968240" cy="350520"/>
          </a:xfrm>
          <a:prstGeom prst="rect">
            <a:avLst/>
          </a:prstGeom>
          <a:noFill/>
        </p:spPr>
        <p:txBody>
          <a:bodyPr wrap="none" lIns="0" rIns="0" tIns="0" bIns="0">
            <a:spAutoFit/>
          </a:bodyPr>
          <a:lstStyle/>
          <a:p>
            <a:pPr>
              <a:lnSpc>
                <a:spcPts val="2400"/>
              </a:lnSpc>
              <a:spcBef>
                <a:spcPts val="0"/>
              </a:spcBef>
              <a:spcAft>
                <a:spcPts val="0"/>
              </a:spcAft>
              <a:defRPr sz="1920" b="1">
                <a:solidFill>
                  <a:srgbClr val="14213B"/>
                </a:solidFill>
                <a:latin typeface="DejaVu Sans"/>
              </a:defRPr>
            </a:pPr>
            <a:r>
              <a:t>AI verification</a:t>
            </a:r>
          </a:p>
        </p:txBody>
      </p:sp>
      <p:sp>
        <p:nvSpPr>
          <p:cNvPr id="18" name="TextBox 17"/>
          <p:cNvSpPr txBox="1"/>
          <p:nvPr/>
        </p:nvSpPr>
        <p:spPr>
          <a:xfrm>
            <a:off x="731520" y="4122420"/>
            <a:ext cx="4968240" cy="302895"/>
          </a:xfrm>
          <a:prstGeom prst="rect">
            <a:avLst/>
          </a:prstGeom>
          <a:noFill/>
        </p:spPr>
        <p:txBody>
          <a:bodyPr wrap="none" lIns="0" rIns="0" tIns="0" bIns="0">
            <a:spAutoFit/>
          </a:bodyPr>
          <a:lstStyle/>
          <a:p>
            <a:pPr>
              <a:lnSpc>
                <a:spcPts val="2025"/>
              </a:lnSpc>
              <a:spcBef>
                <a:spcPts val="0"/>
              </a:spcBef>
              <a:spcAft>
                <a:spcPts val="0"/>
              </a:spcAft>
              <a:defRPr sz="1620" b="0">
                <a:solidFill>
                  <a:srgbClr val="65738C"/>
                </a:solidFill>
                <a:latin typeface="DejaVu Sans"/>
              </a:defRPr>
            </a:pPr>
            <a:r>
              <a:t>One IoT-only request</a:t>
            </a:r>
          </a:p>
        </p:txBody>
      </p:sp>
      <p:sp>
        <p:nvSpPr>
          <p:cNvPr id="19" name="TextBox 18"/>
          <p:cNvSpPr txBox="1"/>
          <p:nvPr/>
        </p:nvSpPr>
        <p:spPr>
          <a:xfrm>
            <a:off x="731520" y="4739640"/>
            <a:ext cx="4968240" cy="350520"/>
          </a:xfrm>
          <a:prstGeom prst="rect">
            <a:avLst/>
          </a:prstGeom>
          <a:noFill/>
        </p:spPr>
        <p:txBody>
          <a:bodyPr wrap="none" lIns="0" rIns="0" tIns="0" bIns="0">
            <a:spAutoFit/>
          </a:bodyPr>
          <a:lstStyle/>
          <a:p>
            <a:pPr>
              <a:lnSpc>
                <a:spcPts val="2400"/>
              </a:lnSpc>
              <a:spcBef>
                <a:spcPts val="0"/>
              </a:spcBef>
              <a:spcAft>
                <a:spcPts val="0"/>
              </a:spcAft>
              <a:defRPr sz="1920" b="1">
                <a:solidFill>
                  <a:srgbClr val="14213B"/>
                </a:solidFill>
                <a:latin typeface="DejaVu Sans"/>
              </a:defRPr>
            </a:pPr>
            <a:r>
              <a:t>Access</a:t>
            </a:r>
          </a:p>
        </p:txBody>
      </p:sp>
      <p:sp>
        <p:nvSpPr>
          <p:cNvPr id="20" name="TextBox 19"/>
          <p:cNvSpPr txBox="1"/>
          <p:nvPr/>
        </p:nvSpPr>
        <p:spPr>
          <a:xfrm>
            <a:off x="731520" y="5113020"/>
            <a:ext cx="4968240" cy="302895"/>
          </a:xfrm>
          <a:prstGeom prst="rect">
            <a:avLst/>
          </a:prstGeom>
          <a:noFill/>
        </p:spPr>
        <p:txBody>
          <a:bodyPr wrap="none" lIns="0" rIns="0" tIns="0" bIns="0">
            <a:spAutoFit/>
          </a:bodyPr>
          <a:lstStyle/>
          <a:p>
            <a:pPr>
              <a:lnSpc>
                <a:spcPts val="2025"/>
              </a:lnSpc>
              <a:spcBef>
                <a:spcPts val="0"/>
              </a:spcBef>
              <a:spcAft>
                <a:spcPts val="0"/>
              </a:spcAft>
              <a:defRPr sz="1620" b="0">
                <a:solidFill>
                  <a:srgbClr val="65738C"/>
                </a:solidFill>
                <a:latin typeface="DejaVu Sans"/>
              </a:defRPr>
            </a:pPr>
            <a:r>
              <a:t>Protected Preview</a:t>
            </a:r>
          </a:p>
        </p:txBody>
      </p:sp>
      <p:sp>
        <p:nvSpPr>
          <p:cNvPr id="21" name="Rounded Rectangle 20"/>
          <p:cNvSpPr/>
          <p:nvPr/>
        </p:nvSpPr>
        <p:spPr>
          <a:xfrm>
            <a:off x="6271260" y="1905000"/>
            <a:ext cx="5433060" cy="4030980"/>
          </a:xfrm>
          <a:prstGeom prst="roundRect">
            <a:avLst>
              <a:gd name="adj" fmla="val 415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71260" y="1905000"/>
            <a:ext cx="5433060" cy="594360"/>
          </a:xfrm>
          <a:prstGeom prst="roundRect">
            <a:avLst>
              <a:gd name="adj" fmla="val 20512"/>
            </a:avLst>
          </a:prstGeom>
          <a:solidFill>
            <a:srgbClr val="E9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9860" y="2065020"/>
            <a:ext cx="4968240" cy="331470"/>
          </a:xfrm>
          <a:prstGeom prst="rect">
            <a:avLst/>
          </a:prstGeom>
          <a:noFill/>
        </p:spPr>
        <p:txBody>
          <a:bodyPr wrap="none" lIns="0" rIns="0" tIns="0" bIns="0">
            <a:spAutoFit/>
          </a:bodyPr>
          <a:lstStyle/>
          <a:p>
            <a:pPr>
              <a:lnSpc>
                <a:spcPts val="2250"/>
              </a:lnSpc>
              <a:spcBef>
                <a:spcPts val="0"/>
              </a:spcBef>
              <a:spcAft>
                <a:spcPts val="0"/>
              </a:spcAft>
              <a:defRPr sz="1800" b="1">
                <a:solidFill>
                  <a:srgbClr val="7051E8"/>
                </a:solidFill>
                <a:latin typeface="DejaVu Sans"/>
              </a:defRPr>
            </a:pPr>
            <a:r>
              <a:t>NOT YET</a:t>
            </a:r>
          </a:p>
        </p:txBody>
      </p:sp>
      <p:sp>
        <p:nvSpPr>
          <p:cNvPr id="24" name="TextBox 23"/>
          <p:cNvSpPr txBox="1"/>
          <p:nvPr/>
        </p:nvSpPr>
        <p:spPr>
          <a:xfrm>
            <a:off x="6515100" y="2758440"/>
            <a:ext cx="4968240" cy="350520"/>
          </a:xfrm>
          <a:prstGeom prst="rect">
            <a:avLst/>
          </a:prstGeom>
          <a:noFill/>
        </p:spPr>
        <p:txBody>
          <a:bodyPr wrap="none" lIns="0" rIns="0" tIns="0" bIns="0">
            <a:spAutoFit/>
          </a:bodyPr>
          <a:lstStyle/>
          <a:p>
            <a:pPr>
              <a:lnSpc>
                <a:spcPts val="2400"/>
              </a:lnSpc>
              <a:spcBef>
                <a:spcPts val="0"/>
              </a:spcBef>
              <a:spcAft>
                <a:spcPts val="0"/>
              </a:spcAft>
              <a:defRPr sz="1920" b="1">
                <a:solidFill>
                  <a:srgbClr val="14213B"/>
                </a:solidFill>
                <a:latin typeface="DejaVu Sans"/>
              </a:defRPr>
            </a:pPr>
            <a:r>
              <a:t>Physical devices</a:t>
            </a:r>
          </a:p>
        </p:txBody>
      </p:sp>
      <p:sp>
        <p:nvSpPr>
          <p:cNvPr id="25" name="TextBox 24"/>
          <p:cNvSpPr txBox="1"/>
          <p:nvPr/>
        </p:nvSpPr>
        <p:spPr>
          <a:xfrm>
            <a:off x="6515100" y="3131820"/>
            <a:ext cx="4968240" cy="302895"/>
          </a:xfrm>
          <a:prstGeom prst="rect">
            <a:avLst/>
          </a:prstGeom>
          <a:noFill/>
        </p:spPr>
        <p:txBody>
          <a:bodyPr wrap="none" lIns="0" rIns="0" tIns="0" bIns="0">
            <a:spAutoFit/>
          </a:bodyPr>
          <a:lstStyle/>
          <a:p>
            <a:pPr>
              <a:lnSpc>
                <a:spcPts val="2025"/>
              </a:lnSpc>
              <a:spcBef>
                <a:spcPts val="0"/>
              </a:spcBef>
              <a:spcAft>
                <a:spcPts val="0"/>
              </a:spcAft>
              <a:defRPr sz="1620" b="0">
                <a:solidFill>
                  <a:srgbClr val="65738C"/>
                </a:solidFill>
                <a:latin typeface="DejaVu Sans"/>
              </a:defRPr>
            </a:pPr>
            <a:r>
              <a:t>Hardware adapter</a:t>
            </a:r>
          </a:p>
        </p:txBody>
      </p:sp>
      <p:sp>
        <p:nvSpPr>
          <p:cNvPr id="26" name="TextBox 25"/>
          <p:cNvSpPr txBox="1"/>
          <p:nvPr/>
        </p:nvSpPr>
        <p:spPr>
          <a:xfrm>
            <a:off x="6515100" y="3749039"/>
            <a:ext cx="4968240" cy="350520"/>
          </a:xfrm>
          <a:prstGeom prst="rect">
            <a:avLst/>
          </a:prstGeom>
          <a:noFill/>
        </p:spPr>
        <p:txBody>
          <a:bodyPr wrap="none" lIns="0" rIns="0" tIns="0" bIns="0">
            <a:spAutoFit/>
          </a:bodyPr>
          <a:lstStyle/>
          <a:p>
            <a:pPr>
              <a:lnSpc>
                <a:spcPts val="2400"/>
              </a:lnSpc>
              <a:spcBef>
                <a:spcPts val="0"/>
              </a:spcBef>
              <a:spcAft>
                <a:spcPts val="0"/>
              </a:spcAft>
              <a:defRPr sz="1920" b="1">
                <a:solidFill>
                  <a:srgbClr val="14213B"/>
                </a:solidFill>
                <a:latin typeface="DejaVu Sans"/>
              </a:defRPr>
            </a:pPr>
            <a:r>
              <a:t>Broader evaluation</a:t>
            </a:r>
          </a:p>
        </p:txBody>
      </p:sp>
      <p:sp>
        <p:nvSpPr>
          <p:cNvPr id="27" name="TextBox 26"/>
          <p:cNvSpPr txBox="1"/>
          <p:nvPr/>
        </p:nvSpPr>
        <p:spPr>
          <a:xfrm>
            <a:off x="6515100" y="4122420"/>
            <a:ext cx="4968240" cy="302895"/>
          </a:xfrm>
          <a:prstGeom prst="rect">
            <a:avLst/>
          </a:prstGeom>
          <a:noFill/>
        </p:spPr>
        <p:txBody>
          <a:bodyPr wrap="none" lIns="0" rIns="0" tIns="0" bIns="0">
            <a:spAutoFit/>
          </a:bodyPr>
          <a:lstStyle/>
          <a:p>
            <a:pPr>
              <a:lnSpc>
                <a:spcPts val="2025"/>
              </a:lnSpc>
              <a:spcBef>
                <a:spcPts val="0"/>
              </a:spcBef>
              <a:spcAft>
                <a:spcPts val="0"/>
              </a:spcAft>
              <a:defRPr sz="1620" b="0">
                <a:solidFill>
                  <a:srgbClr val="65738C"/>
                </a:solidFill>
                <a:latin typeface="DejaVu Sans"/>
              </a:defRPr>
            </a:pPr>
            <a:r>
              <a:t>Mixed-source cases</a:t>
            </a:r>
          </a:p>
        </p:txBody>
      </p:sp>
      <p:sp>
        <p:nvSpPr>
          <p:cNvPr id="28" name="TextBox 27"/>
          <p:cNvSpPr txBox="1"/>
          <p:nvPr/>
        </p:nvSpPr>
        <p:spPr>
          <a:xfrm>
            <a:off x="6515100" y="4739640"/>
            <a:ext cx="4968240" cy="350520"/>
          </a:xfrm>
          <a:prstGeom prst="rect">
            <a:avLst/>
          </a:prstGeom>
          <a:noFill/>
        </p:spPr>
        <p:txBody>
          <a:bodyPr wrap="none" lIns="0" rIns="0" tIns="0" bIns="0">
            <a:spAutoFit/>
          </a:bodyPr>
          <a:lstStyle/>
          <a:p>
            <a:pPr>
              <a:lnSpc>
                <a:spcPts val="2400"/>
              </a:lnSpc>
              <a:spcBef>
                <a:spcPts val="0"/>
              </a:spcBef>
              <a:spcAft>
                <a:spcPts val="0"/>
              </a:spcAft>
              <a:defRPr sz="1920" b="1">
                <a:solidFill>
                  <a:srgbClr val="14213B"/>
                </a:solidFill>
                <a:latin typeface="DejaVu Sans"/>
              </a:defRPr>
            </a:pPr>
            <a:r>
              <a:t>Public AI</a:t>
            </a:r>
          </a:p>
        </p:txBody>
      </p:sp>
      <p:sp>
        <p:nvSpPr>
          <p:cNvPr id="29" name="TextBox 28"/>
          <p:cNvSpPr txBox="1"/>
          <p:nvPr/>
        </p:nvSpPr>
        <p:spPr>
          <a:xfrm>
            <a:off x="6515100" y="5113020"/>
            <a:ext cx="4968240" cy="302895"/>
          </a:xfrm>
          <a:prstGeom prst="rect">
            <a:avLst/>
          </a:prstGeom>
          <a:noFill/>
        </p:spPr>
        <p:txBody>
          <a:bodyPr wrap="none" lIns="0" rIns="0" tIns="0" bIns="0">
            <a:spAutoFit/>
          </a:bodyPr>
          <a:lstStyle/>
          <a:p>
            <a:pPr>
              <a:lnSpc>
                <a:spcPts val="2025"/>
              </a:lnSpc>
              <a:spcBef>
                <a:spcPts val="0"/>
              </a:spcBef>
              <a:spcAft>
                <a:spcPts val="0"/>
              </a:spcAft>
              <a:defRPr sz="1620" b="0">
                <a:solidFill>
                  <a:srgbClr val="65738C"/>
                </a:solidFill>
                <a:latin typeface="DejaVu Sans"/>
              </a:defRPr>
            </a:pPr>
            <a:r>
              <a:t>Access + cost controls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3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167640"/>
          </a:xfrm>
          <a:prstGeom prst="rect">
            <a:avLst/>
          </a:prstGeom>
          <a:solidFill>
            <a:srgbClr val="705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7680" y="373380"/>
            <a:ext cx="69113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65738C"/>
                </a:solidFill>
                <a:latin typeface="DejaVu Sans"/>
              </a:defRPr>
            </a:pPr>
            <a:r>
              <a:t>OPSREPLAY / HACKATHON PROTOTYPE</a:t>
            </a:r>
          </a:p>
        </p:txBody>
      </p:sp>
      <p:sp>
        <p:nvSpPr>
          <p:cNvPr id="5" name="Rounded Rectangle 4"/>
          <p:cNvSpPr/>
          <p:nvPr/>
        </p:nvSpPr>
        <p:spPr>
          <a:xfrm>
            <a:off x="9982200" y="327660"/>
            <a:ext cx="1714500" cy="335280"/>
          </a:xfrm>
          <a:prstGeom prst="roundRect">
            <a:avLst>
              <a:gd name="adj" fmla="val 25000"/>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19360" y="388620"/>
            <a:ext cx="15392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FFFFFF"/>
                </a:solidFill>
                <a:latin typeface="DejaVu Sans"/>
              </a:defRPr>
            </a:pPr>
            <a:r>
              <a:t>SOLO PROJECT</a:t>
            </a:r>
          </a:p>
        </p:txBody>
      </p:sp>
      <p:sp>
        <p:nvSpPr>
          <p:cNvPr id="7" name="TextBox 6"/>
          <p:cNvSpPr txBox="1"/>
          <p:nvPr/>
        </p:nvSpPr>
        <p:spPr>
          <a:xfrm>
            <a:off x="487680" y="853440"/>
            <a:ext cx="11254740" cy="541020"/>
          </a:xfrm>
          <a:prstGeom prst="rect">
            <a:avLst/>
          </a:prstGeom>
          <a:noFill/>
        </p:spPr>
        <p:txBody>
          <a:bodyPr wrap="none" lIns="0" rIns="0" tIns="0" bIns="0">
            <a:spAutoFit/>
          </a:bodyPr>
          <a:lstStyle/>
          <a:p>
            <a:pPr>
              <a:lnSpc>
                <a:spcPts val="3900"/>
              </a:lnSpc>
              <a:spcBef>
                <a:spcPts val="0"/>
              </a:spcBef>
              <a:spcAft>
                <a:spcPts val="0"/>
              </a:spcAft>
              <a:defRPr sz="3120" b="1">
                <a:solidFill>
                  <a:srgbClr val="14213B"/>
                </a:solidFill>
                <a:latin typeface="DejaVu Sans"/>
              </a:defRPr>
            </a:pPr>
            <a:r>
              <a:t>Next: strengthen the evidence, then the view.</a:t>
            </a:r>
          </a:p>
        </p:txBody>
      </p:sp>
      <p:sp>
        <p:nvSpPr>
          <p:cNvPr id="8" name="TextBox 7"/>
          <p:cNvSpPr txBox="1"/>
          <p:nvPr/>
        </p:nvSpPr>
        <p:spPr>
          <a:xfrm>
            <a:off x="502920" y="1394460"/>
            <a:ext cx="11102340" cy="274320"/>
          </a:xfrm>
          <a:prstGeom prst="rect">
            <a:avLst/>
          </a:prstGeom>
          <a:noFill/>
        </p:spPr>
        <p:txBody>
          <a:bodyPr wrap="none" lIns="0" rIns="0" tIns="0" bIns="0">
            <a:spAutoFit/>
          </a:bodyPr>
          <a:lstStyle/>
          <a:p>
            <a:pPr>
              <a:lnSpc>
                <a:spcPts val="1800"/>
              </a:lnSpc>
              <a:spcBef>
                <a:spcPts val="0"/>
              </a:spcBef>
              <a:spcAft>
                <a:spcPts val="0"/>
              </a:spcAft>
              <a:defRPr sz="1439" b="0">
                <a:solidFill>
                  <a:srgbClr val="65738C"/>
                </a:solidFill>
                <a:latin typeface="DejaVu Sans"/>
              </a:defRPr>
            </a:pPr>
            <a:r>
              <a:t>Small modules make the next experiment easier to change.</a:t>
            </a:r>
          </a:p>
        </p:txBody>
      </p:sp>
      <p:cxnSp>
        <p:nvCxnSpPr>
          <p:cNvPr id="9" name="Connector 8"/>
          <p:cNvCxnSpPr/>
          <p:nvPr/>
        </p:nvCxnSpPr>
        <p:spPr>
          <a:xfrm>
            <a:off x="487680" y="6217920"/>
            <a:ext cx="11216640" cy="0"/>
          </a:xfrm>
          <a:prstGeom prst="line">
            <a:avLst/>
          </a:prstGeom>
          <a:ln w="15240">
            <a:solidFill>
              <a:srgbClr val="DCE1E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7680" y="6385560"/>
            <a:ext cx="8435340" cy="226695"/>
          </a:xfrm>
          <a:prstGeom prst="rect">
            <a:avLst/>
          </a:prstGeom>
          <a:noFill/>
        </p:spPr>
        <p:txBody>
          <a:bodyPr wrap="none" lIns="0" rIns="0" tIns="0" bIns="0">
            <a:spAutoFit/>
          </a:bodyPr>
          <a:lstStyle/>
          <a:p>
            <a:pPr>
              <a:lnSpc>
                <a:spcPts val="1425"/>
              </a:lnSpc>
              <a:spcBef>
                <a:spcPts val="0"/>
              </a:spcBef>
              <a:spcAft>
                <a:spcPts val="0"/>
              </a:spcAft>
              <a:defRPr sz="1140" b="0">
                <a:solidFill>
                  <a:srgbClr val="65738C"/>
                </a:solidFill>
                <a:latin typeface="DejaVu Sans"/>
              </a:defRPr>
            </a:pPr>
            <a:r>
              <a:t>SIMULATED IoT · Public GitHub API · Gemini</a:t>
            </a:r>
          </a:p>
        </p:txBody>
      </p:sp>
      <p:sp>
        <p:nvSpPr>
          <p:cNvPr id="11" name="TextBox 10"/>
          <p:cNvSpPr txBox="1"/>
          <p:nvPr/>
        </p:nvSpPr>
        <p:spPr>
          <a:xfrm>
            <a:off x="10515600" y="6370320"/>
            <a:ext cx="1272540" cy="255270"/>
          </a:xfrm>
          <a:prstGeom prst="rect">
            <a:avLst/>
          </a:prstGeom>
          <a:noFill/>
        </p:spPr>
        <p:txBody>
          <a:bodyPr wrap="none" lIns="0" rIns="0" tIns="0" bIns="0">
            <a:spAutoFit/>
          </a:bodyPr>
          <a:lstStyle/>
          <a:p>
            <a:pPr>
              <a:lnSpc>
                <a:spcPts val="1650"/>
              </a:lnSpc>
              <a:spcBef>
                <a:spcPts val="0"/>
              </a:spcBef>
              <a:spcAft>
                <a:spcPts val="0"/>
              </a:spcAft>
              <a:defRPr sz="1320" b="1">
                <a:solidFill>
                  <a:srgbClr val="7051E8"/>
                </a:solidFill>
                <a:latin typeface="DejaVu Sans"/>
              </a:defRPr>
            </a:pPr>
            <a:r>
              <a:t>09 / 09</a:t>
            </a:r>
          </a:p>
        </p:txBody>
      </p:sp>
      <p:sp>
        <p:nvSpPr>
          <p:cNvPr id="12" name="Rounded Rectangle 11"/>
          <p:cNvSpPr/>
          <p:nvPr/>
        </p:nvSpPr>
        <p:spPr>
          <a:xfrm>
            <a:off x="487680" y="1905000"/>
            <a:ext cx="3566160" cy="2819400"/>
          </a:xfrm>
          <a:prstGeom prst="roundRect">
            <a:avLst>
              <a:gd name="adj" fmla="val 594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6280" y="2110740"/>
            <a:ext cx="762000" cy="335280"/>
          </a:xfrm>
          <a:prstGeom prst="roundRect">
            <a:avLst>
              <a:gd name="adj" fmla="val 25000"/>
            </a:avLst>
          </a:prstGeom>
          <a:solidFill>
            <a:srgbClr val="E9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3440" y="2171700"/>
            <a:ext cx="5867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7051E8"/>
                </a:solidFill>
                <a:latin typeface="DejaVu Sans"/>
              </a:defRPr>
            </a:pPr>
            <a:r>
              <a:t>01</a:t>
            </a:r>
          </a:p>
        </p:txBody>
      </p:sp>
      <p:sp>
        <p:nvSpPr>
          <p:cNvPr id="15" name="Rounded Rectangle 14"/>
          <p:cNvSpPr/>
          <p:nvPr/>
        </p:nvSpPr>
        <p:spPr>
          <a:xfrm>
            <a:off x="716280" y="2750820"/>
            <a:ext cx="704088" cy="469392"/>
          </a:xfrm>
          <a:prstGeom prst="roundRect">
            <a:avLst>
              <a:gd name="adj" fmla="val 12987"/>
            </a:avLst>
          </a:prstGeom>
          <a:solidFill>
            <a:srgbClr val="E9E4FF"/>
          </a:solidFill>
          <a:ln w="22860">
            <a:solidFill>
              <a:srgbClr val="705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1068324" y="3220212"/>
            <a:ext cx="0" cy="134112"/>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67156" y="3354324"/>
            <a:ext cx="402336" cy="0"/>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75538" y="2968752"/>
            <a:ext cx="125730" cy="0"/>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01268" y="2859786"/>
            <a:ext cx="75438" cy="108966"/>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76706" y="2859786"/>
            <a:ext cx="92202" cy="226314"/>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168908" y="2960370"/>
            <a:ext cx="108966" cy="125730"/>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16280" y="3642360"/>
            <a:ext cx="3177540" cy="407670"/>
          </a:xfrm>
          <a:prstGeom prst="rect">
            <a:avLst/>
          </a:prstGeom>
          <a:noFill/>
        </p:spPr>
        <p:txBody>
          <a:bodyPr wrap="none" lIns="0" rIns="0" tIns="0" bIns="0">
            <a:spAutoFit/>
          </a:bodyPr>
          <a:lstStyle/>
          <a:p>
            <a:pPr>
              <a:lnSpc>
                <a:spcPts val="2850"/>
              </a:lnSpc>
              <a:spcBef>
                <a:spcPts val="0"/>
              </a:spcBef>
              <a:spcAft>
                <a:spcPts val="0"/>
              </a:spcAft>
              <a:defRPr sz="2280" b="1">
                <a:solidFill>
                  <a:srgbClr val="14213B"/>
                </a:solidFill>
                <a:latin typeface="DejaVu Sans"/>
              </a:defRPr>
            </a:pPr>
            <a:r>
              <a:t>Real data</a:t>
            </a:r>
          </a:p>
        </p:txBody>
      </p:sp>
      <p:sp>
        <p:nvSpPr>
          <p:cNvPr id="23" name="TextBox 22"/>
          <p:cNvSpPr txBox="1"/>
          <p:nvPr/>
        </p:nvSpPr>
        <p:spPr>
          <a:xfrm>
            <a:off x="716280" y="4168140"/>
            <a:ext cx="3177540" cy="283845"/>
          </a:xfrm>
          <a:prstGeom prst="rect">
            <a:avLst/>
          </a:prstGeom>
          <a:noFill/>
        </p:spPr>
        <p:txBody>
          <a:bodyPr wrap="none" lIns="0" rIns="0" tIns="0" bIns="0">
            <a:spAutoFit/>
          </a:bodyPr>
          <a:lstStyle/>
          <a:p>
            <a:pPr>
              <a:lnSpc>
                <a:spcPts val="1875"/>
              </a:lnSpc>
              <a:spcBef>
                <a:spcPts val="0"/>
              </a:spcBef>
              <a:spcAft>
                <a:spcPts val="0"/>
              </a:spcAft>
              <a:defRPr sz="1500" b="0">
                <a:solidFill>
                  <a:srgbClr val="65738C"/>
                </a:solidFill>
                <a:latin typeface="DejaVu Sans"/>
              </a:defRPr>
            </a:pPr>
            <a:r>
              <a:t>Hardware adapter</a:t>
            </a:r>
          </a:p>
        </p:txBody>
      </p:sp>
      <p:sp>
        <p:nvSpPr>
          <p:cNvPr id="24" name="Rounded Rectangle 23"/>
          <p:cNvSpPr/>
          <p:nvPr/>
        </p:nvSpPr>
        <p:spPr>
          <a:xfrm>
            <a:off x="4312920" y="1905000"/>
            <a:ext cx="3566160" cy="2819400"/>
          </a:xfrm>
          <a:prstGeom prst="roundRect">
            <a:avLst>
              <a:gd name="adj" fmla="val 594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541520" y="2110740"/>
            <a:ext cx="762000" cy="335280"/>
          </a:xfrm>
          <a:prstGeom prst="roundRect">
            <a:avLst>
              <a:gd name="adj" fmla="val 25000"/>
            </a:avLst>
          </a:prstGeom>
          <a:solidFill>
            <a:srgbClr val="E9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78680" y="2171700"/>
            <a:ext cx="5867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7051E8"/>
                </a:solidFill>
                <a:latin typeface="DejaVu Sans"/>
              </a:defRPr>
            </a:pPr>
            <a:r>
              <a:t>02</a:t>
            </a:r>
          </a:p>
        </p:txBody>
      </p:sp>
      <p:sp>
        <p:nvSpPr>
          <p:cNvPr id="27" name="Oval 26"/>
          <p:cNvSpPr/>
          <p:nvPr/>
        </p:nvSpPr>
        <p:spPr>
          <a:xfrm>
            <a:off x="4575048" y="2775966"/>
            <a:ext cx="435864" cy="435864"/>
          </a:xfrm>
          <a:prstGeom prst="ellipse">
            <a:avLst/>
          </a:prstGeom>
          <a:solidFill>
            <a:srgbClr val="E9E4FF"/>
          </a:solidFill>
          <a:ln w="22860">
            <a:solidFill>
              <a:srgbClr val="705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4952238" y="3161538"/>
            <a:ext cx="226314" cy="226314"/>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41520" y="3642360"/>
            <a:ext cx="3177540" cy="407670"/>
          </a:xfrm>
          <a:prstGeom prst="rect">
            <a:avLst/>
          </a:prstGeom>
          <a:noFill/>
        </p:spPr>
        <p:txBody>
          <a:bodyPr wrap="none" lIns="0" rIns="0" tIns="0" bIns="0">
            <a:spAutoFit/>
          </a:bodyPr>
          <a:lstStyle/>
          <a:p>
            <a:pPr>
              <a:lnSpc>
                <a:spcPts val="2850"/>
              </a:lnSpc>
              <a:spcBef>
                <a:spcPts val="0"/>
              </a:spcBef>
              <a:spcAft>
                <a:spcPts val="0"/>
              </a:spcAft>
              <a:defRPr sz="2280" b="1">
                <a:solidFill>
                  <a:srgbClr val="14213B"/>
                </a:solidFill>
                <a:latin typeface="DejaVu Sans"/>
              </a:defRPr>
            </a:pPr>
            <a:r>
              <a:t>Replay cases</a:t>
            </a:r>
          </a:p>
        </p:txBody>
      </p:sp>
      <p:sp>
        <p:nvSpPr>
          <p:cNvPr id="30" name="TextBox 29"/>
          <p:cNvSpPr txBox="1"/>
          <p:nvPr/>
        </p:nvSpPr>
        <p:spPr>
          <a:xfrm>
            <a:off x="4541520" y="4168140"/>
            <a:ext cx="3177540" cy="283845"/>
          </a:xfrm>
          <a:prstGeom prst="rect">
            <a:avLst/>
          </a:prstGeom>
          <a:noFill/>
        </p:spPr>
        <p:txBody>
          <a:bodyPr wrap="none" lIns="0" rIns="0" tIns="0" bIns="0">
            <a:spAutoFit/>
          </a:bodyPr>
          <a:lstStyle/>
          <a:p>
            <a:pPr>
              <a:lnSpc>
                <a:spcPts val="1875"/>
              </a:lnSpc>
              <a:spcBef>
                <a:spcPts val="0"/>
              </a:spcBef>
              <a:spcAft>
                <a:spcPts val="0"/>
              </a:spcAft>
              <a:defRPr sz="1500" b="0">
                <a:solidFill>
                  <a:srgbClr val="65738C"/>
                </a:solidFill>
                <a:latin typeface="DejaVu Sans"/>
              </a:defRPr>
            </a:pPr>
            <a:r>
              <a:t>Expected facts + evidence</a:t>
            </a:r>
          </a:p>
        </p:txBody>
      </p:sp>
      <p:sp>
        <p:nvSpPr>
          <p:cNvPr id="31" name="Rounded Rectangle 30"/>
          <p:cNvSpPr/>
          <p:nvPr/>
        </p:nvSpPr>
        <p:spPr>
          <a:xfrm>
            <a:off x="8138160" y="1905000"/>
            <a:ext cx="3566160" cy="2819400"/>
          </a:xfrm>
          <a:prstGeom prst="roundRect">
            <a:avLst>
              <a:gd name="adj" fmla="val 594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366760" y="2110740"/>
            <a:ext cx="762000" cy="335280"/>
          </a:xfrm>
          <a:prstGeom prst="roundRect">
            <a:avLst>
              <a:gd name="adj" fmla="val 25000"/>
            </a:avLst>
          </a:prstGeom>
          <a:solidFill>
            <a:srgbClr val="E9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03920" y="2171700"/>
            <a:ext cx="586740" cy="245745"/>
          </a:xfrm>
          <a:prstGeom prst="rect">
            <a:avLst/>
          </a:prstGeom>
          <a:noFill/>
        </p:spPr>
        <p:txBody>
          <a:bodyPr wrap="none" lIns="0" rIns="0" tIns="0" bIns="0">
            <a:spAutoFit/>
          </a:bodyPr>
          <a:lstStyle/>
          <a:p>
            <a:pPr>
              <a:lnSpc>
                <a:spcPts val="1575"/>
              </a:lnSpc>
              <a:spcBef>
                <a:spcPts val="0"/>
              </a:spcBef>
              <a:spcAft>
                <a:spcPts val="0"/>
              </a:spcAft>
              <a:defRPr sz="1260" b="1">
                <a:solidFill>
                  <a:srgbClr val="7051E8"/>
                </a:solidFill>
                <a:latin typeface="DejaVu Sans"/>
              </a:defRPr>
            </a:pPr>
            <a:r>
              <a:t>03</a:t>
            </a:r>
          </a:p>
        </p:txBody>
      </p:sp>
      <p:sp>
        <p:nvSpPr>
          <p:cNvPr id="34" name="Rounded Rectangle 33"/>
          <p:cNvSpPr/>
          <p:nvPr/>
        </p:nvSpPr>
        <p:spPr>
          <a:xfrm>
            <a:off x="8366760" y="2750820"/>
            <a:ext cx="704088" cy="469392"/>
          </a:xfrm>
          <a:prstGeom prst="roundRect">
            <a:avLst>
              <a:gd name="adj" fmla="val 12987"/>
            </a:avLst>
          </a:prstGeom>
          <a:solidFill>
            <a:srgbClr val="E9E4FF"/>
          </a:solidFill>
          <a:ln w="22860">
            <a:solidFill>
              <a:srgbClr val="705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8718804" y="3220212"/>
            <a:ext cx="0" cy="134112"/>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517636" y="3354324"/>
            <a:ext cx="402336" cy="0"/>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526018" y="2968752"/>
            <a:ext cx="125730" cy="0"/>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8651748" y="2859786"/>
            <a:ext cx="75437" cy="108966"/>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727185" y="2859786"/>
            <a:ext cx="92203" cy="226314"/>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8819388" y="2960370"/>
            <a:ext cx="108966" cy="125730"/>
          </a:xfrm>
          <a:prstGeom prst="line">
            <a:avLst/>
          </a:prstGeom>
          <a:ln w="33528">
            <a:solidFill>
              <a:srgbClr val="7051E8"/>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366760" y="3642360"/>
            <a:ext cx="3177540" cy="407670"/>
          </a:xfrm>
          <a:prstGeom prst="rect">
            <a:avLst/>
          </a:prstGeom>
          <a:noFill/>
        </p:spPr>
        <p:txBody>
          <a:bodyPr wrap="none" lIns="0" rIns="0" tIns="0" bIns="0">
            <a:spAutoFit/>
          </a:bodyPr>
          <a:lstStyle/>
          <a:p>
            <a:pPr>
              <a:lnSpc>
                <a:spcPts val="2850"/>
              </a:lnSpc>
              <a:spcBef>
                <a:spcPts val="0"/>
              </a:spcBef>
              <a:spcAft>
                <a:spcPts val="0"/>
              </a:spcAft>
              <a:defRPr sz="2280" b="1">
                <a:solidFill>
                  <a:srgbClr val="14213B"/>
                </a:solidFill>
                <a:latin typeface="DejaVu Sans"/>
              </a:defRPr>
            </a:pPr>
            <a:r>
              <a:t>Optional 3D</a:t>
            </a:r>
          </a:p>
        </p:txBody>
      </p:sp>
      <p:sp>
        <p:nvSpPr>
          <p:cNvPr id="42" name="TextBox 41"/>
          <p:cNvSpPr txBox="1"/>
          <p:nvPr/>
        </p:nvSpPr>
        <p:spPr>
          <a:xfrm>
            <a:off x="8366760" y="4168140"/>
            <a:ext cx="3177540" cy="283845"/>
          </a:xfrm>
          <a:prstGeom prst="rect">
            <a:avLst/>
          </a:prstGeom>
          <a:noFill/>
        </p:spPr>
        <p:txBody>
          <a:bodyPr wrap="none" lIns="0" rIns="0" tIns="0" bIns="0">
            <a:spAutoFit/>
          </a:bodyPr>
          <a:lstStyle/>
          <a:p>
            <a:pPr>
              <a:lnSpc>
                <a:spcPts val="1875"/>
              </a:lnSpc>
              <a:spcBef>
                <a:spcPts val="0"/>
              </a:spcBef>
              <a:spcAft>
                <a:spcPts val="0"/>
              </a:spcAft>
              <a:defRPr sz="1500" b="0">
                <a:solidFill>
                  <a:srgbClr val="65738C"/>
                </a:solidFill>
                <a:latin typeface="DejaVu Sans"/>
              </a:defRPr>
            </a:pPr>
            <a:r>
              <a:t>Device location + status</a:t>
            </a:r>
          </a:p>
        </p:txBody>
      </p:sp>
      <p:sp>
        <p:nvSpPr>
          <p:cNvPr id="43" name="Rounded Rectangle 42"/>
          <p:cNvSpPr/>
          <p:nvPr/>
        </p:nvSpPr>
        <p:spPr>
          <a:xfrm>
            <a:off x="487680" y="4953000"/>
            <a:ext cx="11216640" cy="990599"/>
          </a:xfrm>
          <a:prstGeom prst="roundRect">
            <a:avLst>
              <a:gd name="adj" fmla="val 16923"/>
            </a:avLst>
          </a:prstGeom>
          <a:solidFill>
            <a:srgbClr val="142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120640"/>
            <a:ext cx="10645140" cy="398145"/>
          </a:xfrm>
          <a:prstGeom prst="rect">
            <a:avLst/>
          </a:prstGeom>
          <a:noFill/>
        </p:spPr>
        <p:txBody>
          <a:bodyPr wrap="none" lIns="0" rIns="0" tIns="0" bIns="0">
            <a:spAutoFit/>
          </a:bodyPr>
          <a:lstStyle/>
          <a:p>
            <a:pPr>
              <a:lnSpc>
                <a:spcPts val="2775"/>
              </a:lnSpc>
              <a:spcBef>
                <a:spcPts val="0"/>
              </a:spcBef>
              <a:spcAft>
                <a:spcPts val="0"/>
              </a:spcAft>
              <a:defRPr sz="2220" b="1">
                <a:solidFill>
                  <a:srgbClr val="FFFFFF"/>
                </a:solidFill>
                <a:latin typeface="DejaVu Sans"/>
              </a:defRPr>
            </a:pPr>
            <a:r>
              <a:t>OpsReplay: reconstruct the story. Check the evidence.</a:t>
            </a:r>
          </a:p>
        </p:txBody>
      </p:sp>
      <p:sp>
        <p:nvSpPr>
          <p:cNvPr id="45" name="TextBox 44"/>
          <p:cNvSpPr txBox="1"/>
          <p:nvPr/>
        </p:nvSpPr>
        <p:spPr>
          <a:xfrm>
            <a:off x="731520" y="5608320"/>
            <a:ext cx="10645140" cy="264795"/>
          </a:xfrm>
          <a:prstGeom prst="rect">
            <a:avLst/>
          </a:prstGeom>
          <a:noFill/>
        </p:spPr>
        <p:txBody>
          <a:bodyPr wrap="none" lIns="0" rIns="0" tIns="0" bIns="0">
            <a:spAutoFit/>
          </a:bodyPr>
          <a:lstStyle/>
          <a:p>
            <a:pPr>
              <a:lnSpc>
                <a:spcPts val="1725"/>
              </a:lnSpc>
              <a:spcBef>
                <a:spcPts val="0"/>
              </a:spcBef>
              <a:spcAft>
                <a:spcPts val="0"/>
              </a:spcAft>
              <a:defRPr sz="1380" b="0">
                <a:solidFill>
                  <a:srgbClr val="C4CDE2"/>
                </a:solidFill>
                <a:latin typeface="DejaVu Sans"/>
              </a:defRPr>
            </a:pPr>
            <a:r>
              <a:t>Future direction · 3D is not implemented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OpsReplay — Visual Hackathon Demo</dc:title>
  <dc:subject>Solo project; illustrative retail scenario; bounded prototype and recorded evidence</dc:subject>
  <dc:creator>OpsReplay / Solo hackathon project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